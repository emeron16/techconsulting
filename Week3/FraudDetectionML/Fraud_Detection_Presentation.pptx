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D1B3E"/>
                </a:solidFill>
              </a:rPr>
              <a:t>FRAUD TRANSACTION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74D9"/>
                </a:solidFill>
              </a:rPr>
              <a:t>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7"/>
                </a:solidFill>
              </a:rPr>
              <a:t>A Machine Learning Pipeline for Binary Fraud 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4572000" cy="36576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Presenter:  Emeron Marcelle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7"/>
                </a:solidFill>
              </a:rPr>
              <a:t>Date:  June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Business Problem &amp; 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Data Cleaning &amp; Missing Value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Feature Engineering &amp;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Exploratory Data Analysis — Key Findings (with charts)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Class Imbalance &amp; 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Model Selection &amp; Bayesian Hyperparameter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Results: Classification Reports, PR Curve &amp; Feature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085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Honest Assessment: Perfect Scores &amp; Synthetic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926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Deployed Inference App — Threshold Tuning &amp; SHAP Explanations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766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Limitations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Financial fraud costs institutions billions annually — detection must be fast and accurate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Challenge: Fraudulent transactions are rare (~8% of all transactions)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Goal: Build a binary classifier to flag fraudulent transactions at inference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Constraint: Model must be explainable to both technical and business audiences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Dataset: 15,000 transactions · 18 features · domains: device, location, auth, behavioural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Target: is_fraudulent_transaction (1 = fraud, 0 = legitimate)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Class split: 13,800 legitimate vs 1,200 fraud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Dataset Feature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39496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928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Numeric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74519"/>
            <a:ext cx="539496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928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Categorical &amp; Binary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transaction_amount — USD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transaction_hour — time of day (0–23)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540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velocity_last_1hr — txns in last hour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failed_auth_attempts — prior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previous_fraud_flags — account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distance_from_home_km — geo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amount_deviation_ratio — vs. avg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74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account_age_days — account maturity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device_type — desktop / mobile / tablet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70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card_type — credit / debit / prepaid / virtual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540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merchant_category — 8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381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transaction_channel — online / POS / ATM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22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location_mismatch — binary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ip_country_match — binary 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cvv_match — binary 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974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is_weekend — binary flag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Missing Data — Scale &amp;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Heavy missingness (~24–25%): transaction_amount, velocity_last_1hr, account_age_days,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failed_auth_attempts, amount_deviation_ratio, distance_from_home_km, cvv_match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Moderate missingness (~9–10%): transaction_hour, device_type, location_mismatch,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985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previous_fraud_flags, merchant_category, card_type, ip_country_match, is_weekend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673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513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Strategy chosen based on 3 factors: data type · distribution shape · fraud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MICE — continuous interrelated fraud signals (preserves correlation structure)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8289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Median — skewed numerics &amp; binary flags (robust to outliers)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303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Mode — low-variance binary &amp; categorical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Why MICE for Continuous Features?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MICE = Multiple Imputation by Chained Equations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Models each missing column as a function of all other columns — iterates until stable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Key insight: fraud-signal features are interrelated: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High velocity_last_1hr often co-occurs with high failed_auth_attempts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0390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High previous_fraud_flags correlates with distance_from_home_km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513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Simple median imputation would break these correlations — MICE preserves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194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Applied to: velocity_last_1hr · account_age_days · failed_auth_attempts 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amount_deviation_ratio · previous_fraud_flags · distance_from_home_km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Missingness as a Fraud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Key insight: the absence of certain values may itself indicate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cvv_match missing → CVV was never provided — suspicious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transaction_amount missing → incomplete transaction record — unusual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ip_country_match missing → IP was masked or unavailable — red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Solution: created binary indicator columns BEFORE imputation: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085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cvv_match_missing · transaction_amount_missing · ip_country_match_missing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5604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009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These indicators are kept as features — the model can learn from the 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2414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that a value was missing, even after the missing value is filled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035040"/>
            <a:ext cx="11274552" cy="59436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1B3E"/>
                </a:solidFill>
              </a:rPr>
              <a:t>⚠  Indicator columns must always be created before imputation — doing it after results in all zeros.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Class Imbalance &amp; Transaction Amount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4206240" cy="3474720"/>
          </a:xfrm>
          <a:prstGeom prst="rect">
            <a:avLst/>
          </a:prstGeom>
        </p:spPr>
      </p:pic>
      <p:pic>
        <p:nvPicPr>
          <p:cNvPr id="7" name="Picture 6" descr="chart_amoun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54480"/>
            <a:ext cx="7132320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120640"/>
            <a:ext cx="11274552" cy="146304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• 92% legitimate vs 8% fraud — accuracy alone would be misleading (predicting all-legit = 92%)
• transaction_amount is heavily right-skewed: mean $20,898 vs median $126, max $995K
• Log-transform normalises the distribution — recommended before production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Feature Correlation with Fraud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737360"/>
            <a:ext cx="3474720" cy="420624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Top Fraud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• velocity_last_1hr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2286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B2B"/>
                </a:solidFill>
              </a:rPr>
              <a:t>r = 0.82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33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• failed_auth_attempts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26334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B2B"/>
                </a:solidFill>
              </a:rPr>
              <a:t>r = 0.81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809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• previous_fraud_flags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29809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B2B"/>
                </a:solidFill>
              </a:rPr>
              <a:t>r = 0.78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284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• distance_from_home_km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33284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B2B"/>
                </a:solidFill>
              </a:rPr>
              <a:t>r = 0.73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758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• ip_country_match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3675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B2B"/>
                </a:solidFill>
              </a:rPr>
              <a:t>r = 0.64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23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• location_mismatch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4023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B2B"/>
                </a:solidFill>
              </a:rPr>
              <a:t>r = 0.59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572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7"/>
                </a:solidFill>
              </a:rPr>
              <a:t>Behavioural signals dominate.
No multicollinearity detected
(all inter-feature r &lt; 0.8)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Top Fraud Signals — Distribution by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74552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4552" cy="82296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• Fraud transactions cluster at HIGH values for all four signals — clean separation in synthetic data
• Legitimate transactions stay near zero — confirms these are the most discriminative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Class Imbalance —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Dataset: 13,800 legitimate (92%) vs 1,200 fraud (8%)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A naive model predicting "not fraud" every time achieves 92%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— but catches zero fraud cases. Accuracy is the wrong metric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985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0390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Solution: SMOTE (Synthetic Minority Oversampling Technique)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Generates synthetic fraud samples by interpolating between real fraud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After SMOTE: 11,040 legitimate vs 11,040 fraud in training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8289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6694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Critical rule: SMOTE applied to training set ONLY — never before splitting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509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SMOTE placed inside the pipeline so it runs fresh per CV 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9846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Prevents synthetic samples from leaking into validation or test 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035040"/>
            <a:ext cx="11274552" cy="59436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1B3E"/>
                </a:solidFill>
              </a:rPr>
              <a:t>⚠  Metrics used: Precision · Recall · F1 · PR-AUC — not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Model Selection — Simple to Complex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39496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928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Algorithms Tested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74519"/>
            <a:ext cx="539496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928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Optimisation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Logistic Regression —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Linear decision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540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Fully interpretable coefficients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StandardScaler for feature normalisation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Fast — establishes performance floor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Random Forest — robust middle 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74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Ensemble of decision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583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Handles outliers &amp; mixed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XGBoost — high-performance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70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Sequential error correction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540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scale_pos_weight for imbalance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381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Best performer on tabular fraud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22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Bayesian Hyperparameter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Smarter than Grid / Random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974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Learns from each trial — 30 iterations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3583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SMOTE baked into each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Model Performance — All Three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9260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95681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6704" y="192024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19568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CV 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192024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7528" y="19568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6912" y="192024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2" y="19568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192024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19568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 (Fraud)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04288"/>
            <a:ext cx="292608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408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Logistic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6704" y="2304288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2424" y="23408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21808" y="2304288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3408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304288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2" y="23408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2016" y="2304288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7736" y="23408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8833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72491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46704" y="268833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2424" y="27249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21808" y="268833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7528" y="27249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6912" y="268833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632" y="27249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72016" y="268833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27249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72384"/>
            <a:ext cx="292608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1089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XGBoost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46704" y="3072384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2424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21808" y="3072384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67528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96912" y="3072384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2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72016" y="3072384"/>
            <a:ext cx="19202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17736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3E"/>
                </a:solidFill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657600"/>
            <a:ext cx="11274552" cy="1097280"/>
          </a:xfrm>
          <a:prstGeom prst="rect">
            <a:avLst/>
          </a:prstGeom>
          <a:solidFill>
            <a:srgbClr val="FFF3CD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703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1B3E"/>
                </a:solidFill>
              </a:rPr>
              <a:t>⚠  Perfect scores (1.0000) across all models warrant scrutiny. This dataset is synthetic — fraud patterns are too clean and consistent compared to real-world data. The model architecture and pipeline are sound; results should be validated on a real-world dataset before production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Precision-Recall Curve &amp; Threshold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1737360"/>
            <a:ext cx="4389120" cy="420624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874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Why Tune the Threshold?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331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Default threshold = 0.5 is arbitrary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651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Optimal threshold maximises F1: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971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   balances precision vs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291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2B2B"/>
                </a:solidFill>
              </a:rPr>
              <a:t>Tuned threshold = 0.41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611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  → catches more fraud (higher recall)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931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  → accepts slightly more false positives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251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572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In fraud detection, missing a fraud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892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is more costly than a false alarm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212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→ tuning toward recall is deliberate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Honest Assessment — Perfect 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All three models achieved 1.0 AUC, F1, Precision and Recall on the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This is NOT data leakage — confirmed by single-feature AUC analysis: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Leakage would mean a feature encodes the answer (e.g. fraud confirmed after the fact)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985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Our top features (velocity, failed_auth, previous_flags) are available at inference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673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513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Root cause: the dataset is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Synthetic fraud datasets are designed with clean, consistent fraud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8289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Real fraudsters adapt — legitimate users sometimes behave suspiciously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303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Real datasets produce AUC in the 0.85–0.95 range, not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Conclusion: pipeline and methodology are correct — on realistic data,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459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the performance will reflect true model capability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11274552" cy="59436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1B3E"/>
                </a:solidFill>
              </a:rPr>
              <a:t>⚠  Recommendation: test on a real financial fraud dataset (e.g. IEEE-CIS or PaySim) before production.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Feature Importance — Key Fraud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Top predictors consistent across all three models: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1.  velocity_last_1hr         r = 0.82 — rapid transactions = fraud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2.  failed_auth_attempts      r = 0.81 — repeated authentication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3.  previous_fraud_flags      r = 0.78 — account history is highly predictive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0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4.  distance_from_home_km     r = 0.73 — geographic 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782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5.  ip_country_match          r = 0.64 — IP origin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6.  location_mismatch         r = 0.59 — registered address vs transaction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731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7.  cvv_match                 r = 0.57 — failed CVV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046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Business insight: behavioural signals (velocity, auth failures) outperform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887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static account signals (account age, card type) for fraud detection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Why Logistic Regression for Deployment?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All three models performed identically on this synthetic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Logistic Regression chosen for deployment for three reasons: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Interpretability: coefficients directly map features to fraud probability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985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Business stakeholders can understand and audit the decision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673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513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Speed: inference in microseconds — critical for real-time transaction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9884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XGBoost and Random Forest are 10–100x slower at inference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303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Regulatory compliance: explainable models preferred in financial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Easier to justify decisions to regulators (e.g. GDPR, SR 11-7)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253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On a real-world dataset with more noise, XGBoost would likely outperform LR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934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and should be re-evaluated before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Deployed Inference App — Streamlit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Real-time inference web app — user enters 16 raw transaction fields via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Loads saved LR pipeline (fraud_lr_model.pkl) + tuned threshold (model_threshold.pkl)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App applies the same preprocessing pipeline as the notebook: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Creates indicator columns → one-hot encodes → aligns to 31-column model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0390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StandardScaler applied before prediction (same scaler used in training)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513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Output 1 — Risk Assessment: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194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Fraud probability % · Decision threshold (0.41) · LEGITIMATE / FRAUD DETECTED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6694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509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</a:rPr>
              <a:t>• Output 2 — SHAP-style Explanation: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Top 10 feature contributions (coef × scaled value) shown as colour-coded bar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Red bars pushed toward fraud · Green bars pushed toward legitimate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299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</a:rPr>
              <a:t>   – Key Drivers section lists top 3 features in each direction with input values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011680"/>
            <a:ext cx="1417320" cy="29260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15K rows · 18 features · 8% fraud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3200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4D9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2011680"/>
            <a:ext cx="1417320" cy="2926080"/>
          </a:xfrm>
          <a:prstGeom prst="rect">
            <a:avLst/>
          </a:prstGeom>
          <a:solidFill>
            <a:srgbClr val="E8F4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2103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4D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7672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3108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7"/>
                </a:solidFill>
              </a:rPr>
              <a:t>Drop ID · MICE · Median · Mode imputation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00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4D9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3864" y="2011680"/>
            <a:ext cx="1417320" cy="2926080"/>
          </a:xfrm>
          <a:prstGeom prst="rect">
            <a:avLst/>
          </a:prstGeom>
          <a:solidFill>
            <a:srgbClr val="E8F4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103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4D9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Feature Eng.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108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7"/>
                </a:solidFill>
              </a:rPr>
              <a:t>Missingness indicators · One-hot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200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4D9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2011680"/>
            <a:ext cx="1417320" cy="2926080"/>
          </a:xfrm>
          <a:prstGeom prst="rect">
            <a:avLst/>
          </a:prstGeom>
          <a:solidFill>
            <a:srgbClr val="E8F4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1496" y="2103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4D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3108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7"/>
                </a:solidFill>
              </a:rPr>
              <a:t>Skewness · Correlation · Class imbalance 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3200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4D9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7688" y="2011680"/>
            <a:ext cx="1417320" cy="2926080"/>
          </a:xfrm>
          <a:prstGeom prst="rect">
            <a:avLst/>
          </a:prstGeom>
          <a:solidFill>
            <a:srgbClr val="E8F4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2103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4D9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Modelling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108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7"/>
                </a:solidFill>
              </a:rPr>
              <a:t>SMOTE in pipeline · Bayesian search · 3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200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4D9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011680"/>
            <a:ext cx="1417320" cy="2926080"/>
          </a:xfrm>
          <a:prstGeom prst="rect">
            <a:avLst/>
          </a:prstGeom>
          <a:solidFill>
            <a:srgbClr val="E8F4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103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4D9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08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7"/>
                </a:solidFill>
              </a:rPr>
              <a:t>Classification report · PR curve · Threshold tuning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3200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4D9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11512" y="2011680"/>
            <a:ext cx="1417320" cy="2926080"/>
          </a:xfrm>
          <a:prstGeom prst="rect">
            <a:avLst/>
          </a:prstGeom>
          <a:solidFill>
            <a:srgbClr val="E8F4FF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7232" y="2103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4D9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232" y="25603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232" y="3108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7"/>
                </a:solidFill>
              </a:rPr>
              <a:t>LR + Scaler · Streamlit app · SHAP explanations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Limitations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39496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928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Remaining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Synthetic dataset — fraud patterns are too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88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Perfect scores not representative of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906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Single model saved — no A/B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93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No model drift monitoring in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5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SHAP approximated via coef × value (not full SHAP)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5394960" cy="1645920"/>
          </a:xfrm>
          <a:prstGeom prst="rect">
            <a:avLst/>
          </a:prstGeom>
          <a:solidFill>
            <a:srgbClr val="E6F4EA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736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✓  Already Resolved in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74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A"/>
                </a:solidFill>
              </a:rPr>
              <a:t>✓  StandardScaler added to LR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041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A"/>
                </a:solidFill>
              </a:rPr>
              <a:t>✓  Classification threshold tuned via PR curve (0.41)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32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7A4A"/>
                </a:solidFill>
              </a:rPr>
              <a:t>✓  Feature contributions (SHAP-style) shown in Streamlit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74519"/>
            <a:ext cx="539496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928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Validate on real dataset (IEEE-CIS / PaySim)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88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Add LightGBM to model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906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Set up model monitoring for drift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493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Build proper A/B model testing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895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Add full SHAP background data for global explanations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Containerise app with Docker for cloud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000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• Add authentication layer to Streamlit 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4D9"/>
                </a:solidFill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645920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8366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Full end-to-end ML pipeline built: cleaning → imputation → encoding → modelling →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0592"/>
            <a:ext cx="1645920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505456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SMOTE inside the pipeline correctly handles 8% fraud rate without data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1645920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272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27248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velocity_last_1hr, failed_auth_attempts, and previous_fraud_flags are the strongest fraud predictors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94176"/>
            <a:ext cx="1645920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74904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StandardScaler, threshold tuning (0.41) and SHAP-style explanations all implemented and deployed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15968"/>
            <a:ext cx="1645920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708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370832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LR pipeline deployed as a real-time Streamlit app with probability, threshold, and feature 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1645920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9262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Honesty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99262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Perfect 1.0 scores reflect a synthetic dataset — methodology is sound, not the scores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