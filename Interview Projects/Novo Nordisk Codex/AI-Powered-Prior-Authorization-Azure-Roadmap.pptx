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media/image7.svg" ContentType="image/svg"/>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embedTrueTypeFonts="1">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Lst>
  <p:sldSz cx="12192000" cy="6858000"/>
  <p:notesSz cx="6858000" cy="12192000"/>
  <p:embeddedFontLst>
    <p:embeddedFont>
      <p:font typeface="Crimson Pro Bold"/>
    </p:embeddedFont>
    <p:embeddedFont>
      <p:font typeface="Open Sans Bold"/>
    </p:embeddedFont>
    <p:embeddedFont>
      <p:font typeface="Open Sans"/>
      <p:regular r:id="rId14"/>
      <p:bold r:id="rId15"/>
    </p:embeddedFont>
    <p:embeddedFont>
      <p:font typeface="+mn-lt"/>
    </p:embeddedFont>
    <p:embeddedFont>
      <p:font typeface="Arial Unicode MS"/>
      <p:regular r:id="rId16"/>
    </p:embeddedFont>
    <p:embeddedFont>
      <p:font typeface="+mn-ea"/>
    </p:embeddedFont>
    <p:embeddedFont>
      <p:font typeface="+mn-cs"/>
    </p:embeddedFont>
  </p:embeddedFontLst>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font" Target="fonts/Font_1_Open_Sans_Regular.fntdata"/><Relationship Id="rId15" Type="http://schemas.openxmlformats.org/officeDocument/2006/relationships/font" Target="fonts/Font_2_Open_Sans_Bold.fntdata"/><Relationship Id="rId16" Type="http://schemas.openxmlformats.org/officeDocument/2006/relationships/font" Target="fonts/Font_3_Arial_Unicode_MS_Regular.fntdata"/><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0"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2"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5D4FAF0-C1C8-4424-9593-4D60EA25F52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sldImg"/>
          </p:nvPr>
        </p:nvSpPr>
        <p:spPr>
          <a:xfrm>
            <a:off x="685800" y="1143000"/>
            <a:ext cx="5486040" cy="3085920"/>
          </a:xfrm>
          <a:prstGeom prst="rect">
            <a:avLst/>
          </a:prstGeom>
          <a:ln w="0">
            <a:noFill/>
          </a:ln>
        </p:spPr>
      </p:sp>
      <p:sp>
        <p:nvSpPr>
          <p:cNvPr id="1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6"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DED1AE-B68D-4281-9325-F8EE9E65B256}"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Img"/>
          </p:nvPr>
        </p:nvSpPr>
        <p:spPr>
          <a:xfrm>
            <a:off x="685800" y="1143000"/>
            <a:ext cx="5486040" cy="3085920"/>
          </a:xfrm>
          <a:prstGeom prst="rect">
            <a:avLst/>
          </a:prstGeom>
          <a:ln w="0">
            <a:noFill/>
          </a:ln>
        </p:spPr>
      </p:sp>
      <p:sp>
        <p:nvSpPr>
          <p:cNvPr id="1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39"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A41FA24-3A08-4EC2-B113-56C7E2EE9532}"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chart reproduced from page 2 of Prior_Auth_AI_Solution.pdf. Day ranges describe the hypothetical workflow; they overlap and do not provide an additive calculation proving the 4.2-day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6040" cy="3085920"/>
          </a:xfrm>
          <a:prstGeom prst="rect">
            <a:avLst/>
          </a:prstGeom>
          <a:ln w="0">
            <a:noFill/>
          </a:ln>
        </p:spPr>
      </p:sp>
      <p:sp>
        <p:nvSpPr>
          <p:cNvPr id="1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45"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B7AD8F6-FE38-4000-B282-AD3A4FD0703E}"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before-and-after illustration based on the synthetic physical therapy sample, not a captured model response. The current demo accepts text-based PDFs and PNG/JPG images, plus pasted text and samples. Images use Tesseract; scanned PDFs have no automatic OCR fallback. All inputs then feed the shared pipeline. Azure document processing and live fax integration are not implemented. Sources: core/ocr.py, core/extraction.py, pages/1_New_Request.py, data/sample_requests/A_pt_eval_auto_approve.txt.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ns0:notes xmlns:ns0="http://schemas.openxmlformats.org/presentationml/2006/main" xmlns:ns1="http://schemas.openxmlformats.org/drawingml/2006/main">
  <ns0:cSld>
    <ns0:spTree>
      <ns0:nvGrpSpPr>
        <ns0:cNvPr id="1" name=""/>
        <ns0:cNvGrpSpPr/>
        <ns0:nvPr/>
      </ns0:nvGrpSpPr>
      <ns0:grpSpPr>
        <ns1:xfrm/>
      </ns0:grpSpPr>
      <ns0:sp>
        <ns0:nvSpPr>
          <ns0:cNvPr id="2" name="Slide Image Placeholder 1"/>
          <ns0:cNvSpPr>
            <ns1:spLocks noGrp="1"/>
          </ns0:cNvSpPr>
          <ns0:nvPr>
            <ns0:ph type="sldImg" idx="0"/>
          </ns0:nvPr>
        </ns0:nvSpPr>
        <ns0:spPr/>
      </ns0:sp>
      <ns0:sp>
        <ns0:nvSpPr>
          <ns0:cNvPr id="3" name="Notes Placeholder 2"/>
          <ns0:cNvSpPr>
            <ns1:spLocks noGrp="1"/>
          </ns0:cNvSpPr>
          <ns0:nvPr>
            <ns0:ph type="body" idx="1"/>
          </ns0:nvPr>
        </ns0:nvSpPr>
        <ns0:spPr/>
        <ns0:txBody>
          <ns1:bodyPr/>
          <ns1:lstStyle/>
          <ns1:p>
            <ns1:r>
              <ns1:t>Basic completeness is rule based. Policy documentation uses keyword-presence checks; it does not prove the requirement was clinically satisfied. For example, a note saying a program was not completed can pass the keyword check, leaving policy analysis to identify the unmet criterion. The policy knowledge base contains six fictional policies. Retrieval is exact CPT/HCPCS matching with BM25 fallback, not semantic retrieval or reranking. No automatic denial occurs here. Sources: core/completeness.py, core/policy_rag.py, core/pipeline.py, data/policy_kb/.</ns1:t>
            </ns1:r>
          </ns1:p>
          <ns1:p>
            <ns1:r>
              <ns1:t>Why policy matching matters: Policy matching ensures that a request is evaluated against the right rules. Physical therapy and MRI requests have different documentation requirements and approval criteria. The selected policy determines what documentation the completeness validator checks, which criteria the AI analyzes, and whether automatic approval is allowed. Selecting the wrong policy could produce irrelevant documentation requests or misleading recommendations, even if all patient details were extracted correctly. Policy matching establishes the standard for everything that follows.</ns1:t>
            </ns1:r>
          </ns1:p>
        </ns0:txBody>
      </ns0:sp>
      <ns0:sp>
        <ns0:nvSpPr>
          <ns0:cNvPr id="4" name="Slide Number Placeholder 3"/>
          <ns0:cNvSpPr>
            <ns1:spLocks noGrp="1"/>
          </ns0:cNvSpPr>
          <ns0:nvPr>
            <ns0:ph type="sldNum" idx="5"/>
          </ns0:nvPr>
        </ns0:nvSpPr>
        <ns0:spPr/>
        <ns0:txBody>
          <ns1:bodyPr/>
          <ns1:lstStyle/>
          <ns1:p/>
        </ns0:txBody>
      </ns0:sp>
    </ns0:spTree>
  </ns0:cSld>
  <ns0:clrMapOvr>
    <ns1:masterClrMapping/>
  </ns0:clrMapOvr>
</ns0: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auto-approval gates must pass together. Completeness runs before routing. Urgent/STAT routing takes priority over auto-approval. The selected policy must explicitly allow auto-approval and be low-cost. Model confidence is self-reported, not calibrated evidence of accuracy. There is no automatic denial. Incomplete requests return for information. Other complete requests route for nurse review. The 35% auto-approval figure on the outcomes slide is an illustrative share-of-requests target, not model accuracy. SLA values are configured targets, not measured turnaround times. Sources: core/routing.py and core/pipeline.py.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demo portal accepts additional documentation as pasted text, not a file upload. It displays status and letters but does not actually send external notifications. Estimated decision time does not account for queue position. Appeals, production access controls, bias monitoring, and regulatory compliance validation are outside the implemented demo. The audit log records processing events, selected AI outputs, and decisions, but not every prompt or complete letter output. All data and policies are synthetic. Sources: pages/3_Provider_Portal.py, core/pipeline.py, core/store.py.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PRODUCTION DESIGN — not implemented Azure infrastructure. The local demo uses pdfplumber/Tesseract, an OpenAI API model, SQLite, and exact procedure matching with BM25 fallback over six synthetic policies. It does not use vector search or semantic reranking.</a:t>
            </a:r>
          </a:p>
          <a:p xmlns:a="http://schemas.openxmlformats.org/drawingml/2006/main">
            <a:r>
              <a:t/>
            </a:r>
          </a:p>
          <a:p xmlns:a="http://schemas.openxmlformats.org/drawingml/2006/main">
            <a:r>
              <a:t>Phase 1: establish a small provider pilot and reference cases. Store source documents in Azure Blob Storage and perform OCR/layout extraction with Azure Document Intelligence. Use Azure OpenAI structured outputs plus deterministic schema validation. Host provider and reviewer views in Azure App Service, with Azure SQL for request state and audit events. Implement role separation via Entra ID; use managed identities and Key Vault. Measure extraction correctness, missing-information detection and end-to-end baseline turnaround. Start operational monitoring immediately, not only at phase three.</a:t>
            </a:r>
          </a:p>
          <a:p xmlns:a="http://schemas.openxmlformats.org/drawingml/2006/main">
            <a:r>
              <a:t/>
            </a:r>
          </a:p>
          <a:p xmlns:a="http://schemas.openxmlformats.org/drawingml/2006/main">
            <a:r>
              <a:t>Phase 2: build classic, controlled hybrid RAG rather than an agentic retrieval system. Split approved policies by section and preserve policy ID, plan, procedure applicability, effective dates, version and citation offsets. Generate Azure OpenAI embeddings; index text, vectors and metadata in Azure AI Search. Apply applicability filters, run BM25 plus vector retrieval, combine results and use semantic reranking. Supply selected policy passages to Azure OpenAI for criterion-level analysis with citations. Support all applicable policies and explicit conflict handling; missing or conflicting evidence routes to human review. Evaluate retrieval recall on a labeled set, citation correctness, groundedness and clinical reviewer agreement. Model choice and retrieval settings are selected through evaluation.</a:t>
            </a:r>
          </a:p>
          <a:p xmlns:a="http://schemas.openxmlformats.org/drawingml/2006/main">
            <a:r>
              <a:t/>
            </a:r>
          </a:p>
          <a:p xmlns:a="http://schemas.openxmlformats.org/drawingml/2006/main">
            <a:r>
              <a:t>Phase 3: validate auto-approval in shadow mode against expert decisions before enabling a limited cohort. Eligibility rules, calibrated evaluation, monitoring and rollback are required; model-reported 95% confidence alone is not proof of accuracy. Use Azure Functions and Service Bus for asynchronous processing, retries and idempotency; integrate notifications through Logic Apps. Expand based on observed outcomes. The proposed duration is a planning assumption, not a guaranteed delivery schedule or a formula for the target improvements.</a:t>
            </a:r>
          </a:p>
          <a:p xmlns:a="http://schemas.openxmlformats.org/drawingml/2006/main">
            <a:r>
              <a:t/>
            </a:r>
          </a:p>
          <a:p xmlns:a="http://schemas.openxmlformats.org/drawingml/2006/main">
            <a:r>
              <a:t>Monitoring: Azure Monitor/Application Insights track request failures, latency and operational alerts. Microsoft Foundry supports evaluations and tracing; telemetry connects to Application Insights using OpenTelemetry. Track model/retrieval versions and evaluation results. Avoid raw patient data in routine telemetry. Clinical audit records remain separately governed application data. Nurse-handled rework means requests a nurse returns for information; distinguish it from automated returns and provider rework.</a:t>
            </a:r>
          </a:p>
          <a:p xmlns:a="http://schemas.openxmlformats.org/drawingml/2006/main">
            <a:r>
              <a:t/>
            </a:r>
          </a:p>
          <a:p xmlns:a="http://schemas.openxmlformats.org/drawingml/2006/main">
            <a:r>
              <a:t>Microsoft documentation:</a:t>
            </a:r>
          </a:p>
          <a:p xmlns:a="http://schemas.openxmlformats.org/drawingml/2006/main">
            <a:r>
              <a:t>https://learn.microsoft.com/en-us/azure/search/retrieval-augmented-generation-overview</a:t>
            </a:r>
          </a:p>
          <a:p xmlns:a="http://schemas.openxmlformats.org/drawingml/2006/main">
            <a:r>
              <a:t>https://learn.microsoft.com/en-us/azure/search/semantic-search-overview</a:t>
            </a:r>
          </a:p>
          <a:p xmlns:a="http://schemas.openxmlformats.org/drawingml/2006/main">
            <a:r>
              <a:t>https://learn.microsoft.com/en-us/azure/foundry/openai/how-to/embeddings</a:t>
            </a:r>
          </a:p>
          <a:p xmlns:a="http://schemas.openxmlformats.org/drawingml/2006/main">
            <a:r>
              <a:t>https://learn.microsoft.com/en-us/azure/ai-services/document-intelligence/overview</a:t>
            </a:r>
          </a:p>
          <a:p xmlns:a="http://schemas.openxmlformats.org/drawingml/2006/main">
            <a:r>
              <a:t>https://learn.microsoft.com/en-us/azure/foundry/observability/concepts/trace-data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sldImg"/>
          </p:nvPr>
        </p:nvSpPr>
        <p:spPr>
          <a:xfrm>
            <a:off x="685800" y="1143000"/>
            <a:ext cx="5486040" cy="3085920"/>
          </a:xfrm>
          <a:prstGeom prst="rect">
            <a:avLst/>
          </a:prstGeom>
          <a:ln w="0">
            <a:noFill/>
          </a:ln>
        </p:spPr>
      </p:sp>
      <p:sp>
        <p:nvSpPr>
          <p:cNvPr id="1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63"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86C31F-45EF-43B8-B536-C75A7BF6EBC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lide master 1">
    <p:spTree>
      <p:nvGrpSpPr>
        <p:cNvPr id="1" name=""/>
        <p:cNvGrpSpPr/>
        <p:nvPr/>
      </p:nvGrpSpPr>
      <p:grpSpPr>
        <a:xfrm>
          <a:off x="0" y="0"/>
          <a:ext cx="0" cy="0"/>
          <a:chOff x="0" y="0"/>
          <a:chExt cx="0" cy="0"/>
        </a:xfrm>
      </p:grpSpPr>
      <p:sp>
        <p:nvSpPr>
          <p:cNvPr id="2" name="Shape 0"/>
          <p:cNvSpPr/>
          <p:nvPr/>
        </p:nvSpPr>
        <p:spPr>
          <a:xfrm>
            <a:off x="0" y="0"/>
            <a:ext cx="12191400" cy="6857640"/>
          </a:xfrm>
          <a:prstGeom prst="rect">
            <a:avLst/>
          </a:prstGeom>
          <a:solidFill>
            <a:srgbClr val="F7EDE9"/>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 name="Shape 1"/>
          <p:cNvSpPr/>
          <p:nvPr/>
        </p:nvSpPr>
        <p:spPr>
          <a:xfrm>
            <a:off x="0" y="0"/>
            <a:ext cx="12191400" cy="6857640"/>
          </a:xfrm>
          <a:prstGeom prst="rect">
            <a:avLst/>
          </a:prstGeom>
          <a:solidFill>
            <a:srgbClr val="FFFCFA"/>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4" name="Image 0" descr="preencoded.png">
            <a:hlinkClick r:id="rId2"/>
          </p:cNvPr>
          <p:cNvPicPr/>
          <p:nvPr/>
        </p:nvPicPr>
        <p:blipFill>
          <a:blip r:embed="rId3"/>
          <a:stretch/>
        </p:blipFill>
        <p:spPr>
          <a:xfrm>
            <a:off x="11076840" y="6558840"/>
            <a:ext cx="1071360" cy="255600"/>
          </a:xfrm>
          <a:prstGeom prst="rect">
            <a:avLst/>
          </a:prstGeom>
          <a:noFill/>
          <a:ln w="0">
            <a:noFill/>
          </a:ln>
        </p:spPr>
      </p:pic>
      <p:sp>
        <p:nvSpPr>
          <p:cNvPr id="5" name="PlaceHolder 1"/>
          <p:cNvSpPr>
            <a:spLocks noGrp="1"/>
          </p:cNvSpPr>
          <p:nvPr>
            <p:ph type="title"/>
          </p:nvPr>
        </p:nvSpPr>
        <p:spPr>
          <a:xfrm>
            <a:off x="609480" y="273600"/>
            <a:ext cx="1097208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6" name="PlaceHolder 2"/>
          <p:cNvSpPr>
            <a:spLocks noGrp="1"/>
          </p:cNvSpPr>
          <p:nvPr>
            <p:ph type="body"/>
          </p:nvPr>
        </p:nvSpPr>
        <p:spPr>
          <a:xfrm>
            <a:off x="609480" y="1604520"/>
            <a:ext cx="1097208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Type="http://schemas.openxmlformats.org/officeDocument/2006/relationships/slideLayout" Target="../slideLayouts/slideLayout2.xml" Id="R691844ccc3c54919" /><Relationship Type="http://schemas.openxmlformats.org/officeDocument/2006/relationships/image" Target="../media/original-timeline-chart.png" Id="R6a6f2b7c5a404b2d" /><Relationship Type="http://schemas.openxmlformats.org/officeDocument/2006/relationships/notesSlide" Target="../notesSlides/notesSlide3.xml" Id="R2524be4387f1461d" /></Relationships>
</file>

<file path=ppt/slides/_rels/slide4.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Type="http://schemas.openxmlformats.org/officeDocument/2006/relationships/slideLayout" Target="../slideLayouts/slideLayout2.xml" Id="R805ef4d29cc34972" /><Relationship Type="http://schemas.openxmlformats.org/officeDocument/2006/relationships/image" Target="../media/layer-intake-sample.png" Id="Rb5140b59c07148fd" /><Relationship Type="http://schemas.openxmlformats.org/officeDocument/2006/relationships/notesSlide" Target="../notesSlides/notesSlide5.xml" Id="R42713bc95b7e4bc5" /></Relationships>
</file>

<file path=ppt/slides/_rels/slide6.xml.rels><?xml version='1.0' encoding='utf-8'?>
<Relationships xmlns="http://schemas.openxmlformats.org/package/2006/relationships"><Relationship Type="http://schemas.openxmlformats.org/officeDocument/2006/relationships/slideLayout" Target="../slideLayouts/slideLayout2.xml" Id="Re363bbb8b3bb4123" /><Relationship Type="http://schemas.openxmlformats.org/officeDocument/2006/relationships/notesSlide" Target="../notesSlides/notesSlide6.xml" Id="R0f291c1c09fe40d0" /></Relationships>
</file>

<file path=ppt/slides/_rels/slide7.xml.rels><?xml version='1.0' encoding='utf-8'?>
<Relationships xmlns="http://schemas.openxmlformats.org/package/2006/relationships"><Relationship Type="http://schemas.openxmlformats.org/officeDocument/2006/relationships/slideLayout" Target="../slideLayouts/slideLayout2.xml" Id="R008e09ff599d4f59" /><Relationship Type="http://schemas.openxmlformats.org/officeDocument/2006/relationships/notesSlide" Target="../notesSlides/notesSlide7.xml" Id="Rd64901f72d9c4cff" /></Relationships>
</file>

<file path=ppt/slides/_rels/slide8.xml.rels><?xml version='1.0' encoding='utf-8'?>
<Relationships xmlns="http://schemas.openxmlformats.org/package/2006/relationships"><Relationship Type="http://schemas.openxmlformats.org/officeDocument/2006/relationships/slideLayout" Target="../slideLayouts/slideLayout2.xml" Id="Rfbc3ff5e6ae74175" /><Relationship Type="http://schemas.openxmlformats.org/officeDocument/2006/relationships/notesSlide" Target="../notesSlides/notesSlide8.xml" Id="Rbfc32cfcb2c74c5a" /></Relationships>
</file>

<file path=ppt/slides/_rels/slide9.xml.rels><?xml version='1.0' encoding='utf-8'?>
<Relationships xmlns="http://schemas.openxmlformats.org/package/2006/relationships"><Relationship Type="http://schemas.openxmlformats.org/officeDocument/2006/relationships/slideLayout" Target="../slideLayouts/slideLayout2.xml" Id="R79a4287042cf4836" /><Relationship Type="http://schemas.openxmlformats.org/officeDocument/2006/relationships/notesSlide" Target="../notesSlides/notesSlide9.xml" Id="Ra933df174b114234" /></Relationships>
</file>

<file path=ppt/slides/_rels/slide10.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 name="Image 0" descr="preencoded.png"/>
          <p:cNvPicPr/>
          <p:nvPr/>
        </p:nvPicPr>
        <p:blipFill>
          <a:blip r:embed="rId1"/>
          <a:stretch/>
        </p:blipFill>
        <p:spPr>
          <a:xfrm>
            <a:off x="7619760" y="0"/>
            <a:ext cx="4571640" cy="6857640"/>
          </a:xfrm>
          <a:prstGeom prst="rect">
            <a:avLst/>
          </a:prstGeom>
          <a:noFill/>
          <a:ln w="0">
            <a:noFill/>
          </a:ln>
        </p:spPr>
      </p:pic>
      <p:sp>
        <p:nvSpPr>
          <p:cNvPr id="14" name="Text 0"/>
          <p:cNvSpPr/>
          <p:nvPr/>
        </p:nvSpPr>
        <p:spPr>
          <a:xfrm>
            <a:off x="661320" y="2208600"/>
            <a:ext cx="6296400" cy="1180800"/>
          </a:xfrm>
          <a:prstGeom prst="rect">
            <a:avLst/>
          </a:prstGeom>
          <a:noFill/>
          <a:ln w="0">
            <a:noFill/>
          </a:ln>
        </p:spPr>
        <p:style>
          <a:lnRef idx="0"/>
          <a:fillRef idx="0"/>
          <a:effectRef idx="0"/>
          <a:fontRef idx="minor"/>
        </p:style>
        <p:txBody>
          <a:bodyPr lIns="0" tIns="0" rIns="0" bIns="0" anchor="t">
            <a:normAutofit/>
          </a:bodyPr>
          <a:p>
            <a:pPr defTabSz="914400">
              <a:lnSpc>
                <a:spcPct val="104000"/>
              </a:lnSpc>
              <a:tabLst>
                <a:tab pos="0" algn="l"/>
              </a:tabLst>
            </a:pPr>
            <a:r>
              <a:rPr lang="en-US" sz="3700" b="1" u="none" strike="noStrike">
                <a:solidFill>
                  <a:srgbClr val="443728"/>
                </a:solidFill>
                <a:effectLst/>
                <a:uFillTx/>
                <a:latin typeface="Crimson Pro Bold"/>
                <a:ea typeface="Crimson Pro Bold"/>
              </a:rPr>
              <a:t>AI-Powered Prior Authorization</a:t>
            </a:r>
            <a:endParaRPr lang="en-US" sz="3700" b="0" u="none" strike="noStrike">
              <a:solidFill>
                <a:srgbClr val="000000"/>
              </a:solidFill>
              <a:effectLst/>
              <a:uFillTx/>
              <a:latin typeface="Arial"/>
            </a:endParaRPr>
          </a:p>
        </p:txBody>
      </p:sp>
      <p:sp>
        <p:nvSpPr>
          <p:cNvPr id="15" name="Text 1"/>
          <p:cNvSpPr/>
          <p:nvPr/>
        </p:nvSpPr>
        <p:spPr>
          <a:xfrm>
            <a:off x="661320" y="3673440"/>
            <a:ext cx="6906240" cy="302040"/>
          </a:xfrm>
          <a:prstGeom prst="rect">
            <a:avLst/>
          </a:prstGeom>
          <a:noFill/>
          <a:ln w="0">
            <a:noFill/>
          </a:ln>
        </p:spPr>
        <p:style>
          <a:lnRef idx="0"/>
          <a:fillRef idx="0"/>
          <a:effectRef idx="0"/>
          <a:fontRef idx="minor"/>
        </p:style>
        <p:txBody>
          <a:bodyPr wrap="none" lIns="0" tIns="0" rIns="0" bIns="0" anchor="t">
            <a:noAutofit/>
          </a:bodyPr>
          <a:p>
            <a:pPr defTabSz="914400">
              <a:lnSpc>
                <a:spcPct val="133000"/>
              </a:lnSpc>
              <a:tabLst>
                <a:tab pos="0" algn="l"/>
              </a:tabLst>
            </a:pPr>
            <a:r>
              <a:rPr lang="en-US" sz="1450" b="0" u="none" strike="noStrike">
                <a:solidFill>
                  <a:srgbClr val="443728"/>
                </a:solidFill>
                <a:effectLst/>
                <a:uFillTx/>
                <a:latin typeface="Open Sans"/>
                <a:ea typeface="Open Sans"/>
              </a:rPr>
              <a:t>A Regional Health Plan Transformation Blueprint</a:t>
            </a:r>
            <a:endParaRPr lang="en-US" sz="1450" b="0" u="none" strike="noStrike">
              <a:solidFill>
                <a:srgbClr val="000000"/>
              </a:solidFill>
              <a:effectLst/>
              <a:uFillTx/>
              <a:latin typeface="Arial"/>
            </a:endParaRPr>
          </a:p>
        </p:txBody>
      </p:sp>
      <p:sp>
        <p:nvSpPr>
          <p:cNvPr id="16" name="Shape 2"/>
          <p:cNvSpPr/>
          <p:nvPr/>
        </p:nvSpPr>
        <p:spPr>
          <a:xfrm>
            <a:off x="661320" y="4188600"/>
            <a:ext cx="6296400" cy="460440"/>
          </a:xfrm>
          <a:prstGeom prst="roundRect">
            <a:avLst>
              <a:gd name="adj" fmla="val 13778"/>
            </a:avLst>
          </a:prstGeom>
          <a:solidFill>
            <a:srgbClr val="EBE2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 name="Text 3"/>
          <p:cNvSpPr/>
          <p:nvPr/>
        </p:nvSpPr>
        <p:spPr>
          <a:xfrm>
            <a:off x="774720" y="4245120"/>
            <a:ext cx="6069600" cy="347400"/>
          </a:xfrm>
          <a:prstGeom prst="rect">
            <a:avLst/>
          </a:prstGeom>
          <a:noFill/>
          <a:ln w="0">
            <a:noFill/>
          </a:ln>
        </p:spPr>
        <p:style>
          <a:lnRef idx="0"/>
          <a:fillRef idx="0"/>
          <a:effectRef idx="0"/>
          <a:fontRef idx="minor"/>
        </p:style>
        <p:txBody>
          <a:bodyPr lIns="0" tIns="0" rIns="0" bIns="0" anchor="t">
            <a:normAutofit/>
          </a:bodyPr>
          <a:p>
            <a:pPr defTabSz="914400">
              <a:lnSpc>
                <a:spcPct val="96000"/>
              </a:lnSpc>
              <a:tabLst>
                <a:tab pos="0" algn="l"/>
              </a:tabLst>
            </a:pPr>
            <a:r>
              <a:rPr lang="en-US" sz="1150" b="0" u="none" strike="noStrike">
                <a:solidFill>
                  <a:srgbClr val="443728"/>
                </a:solidFill>
                <a:effectLst/>
                <a:uFillTx/>
                <a:latin typeface="Open Sans"/>
                <a:ea typeface="Open Sans"/>
              </a:rPr>
              <a:t>REDUCING TURNAROUND TIME BY 40% · REDUCING REWORK · MAINTAINING CLINICAL QUALITY</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Text 0"/>
          <p:cNvSpPr/>
          <p:nvPr/>
        </p:nvSpPr>
        <p:spPr>
          <a:xfrm>
            <a:off x="661320" y="832680"/>
            <a:ext cx="10868400" cy="59040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3700" b="1" u="none" strike="noStrike">
                <a:solidFill>
                  <a:srgbClr val="443728"/>
                </a:solidFill>
                <a:effectLst/>
                <a:uFillTx/>
                <a:latin typeface="Crimson Pro Bold"/>
                <a:ea typeface="Crimson Pro Bold"/>
              </a:rPr>
              <a:t>The Scale of the Challenge</a:t>
            </a:r>
            <a:endParaRPr lang="en-US" sz="3700" b="0" u="none" strike="noStrike">
              <a:solidFill>
                <a:srgbClr val="000000"/>
              </a:solidFill>
              <a:effectLst/>
              <a:uFillTx/>
              <a:latin typeface="Arial"/>
            </a:endParaRPr>
          </a:p>
        </p:txBody>
      </p:sp>
      <p:sp>
        <p:nvSpPr>
          <p:cNvPr id="19" name="Text 1"/>
          <p:cNvSpPr/>
          <p:nvPr/>
        </p:nvSpPr>
        <p:spPr>
          <a:xfrm>
            <a:off x="661320" y="1801440"/>
            <a:ext cx="11477880" cy="302040"/>
          </a:xfrm>
          <a:prstGeom prst="rect">
            <a:avLst/>
          </a:prstGeom>
          <a:noFill/>
          <a:ln w="0">
            <a:noFill/>
          </a:ln>
        </p:spPr>
        <p:style>
          <a:lnRef idx="0"/>
          <a:fillRef idx="0"/>
          <a:effectRef idx="0"/>
          <a:fontRef idx="minor"/>
        </p:style>
        <p:txBody>
          <a:bodyPr wrap="none" lIns="0" tIns="0" rIns="0" bIns="0" anchor="t">
            <a:noAutofit/>
          </a:bodyPr>
          <a:p>
            <a:pPr defTabSz="914400">
              <a:lnSpc>
                <a:spcPct val="133000"/>
              </a:lnSpc>
              <a:tabLst>
                <a:tab pos="0" algn="l"/>
              </a:tabLst>
            </a:pPr>
            <a:r>
              <a:rPr lang="en-US" sz="1450" b="0" u="none" strike="noStrike">
                <a:solidFill>
                  <a:srgbClr val="443728"/>
                </a:solidFill>
                <a:effectLst/>
                <a:uFillTx/>
                <a:latin typeface="Open Sans"/>
                <a:ea typeface="Open Sans"/>
              </a:rPr>
              <a:t>The CMO asks: </a:t>
            </a:r>
            <a:r>
              <a:rPr lang="en-US" sz="1450" b="0" i="1" u="none" strike="noStrike">
                <a:solidFill>
                  <a:srgbClr val="443728"/>
                </a:solidFill>
                <a:effectLst/>
                <a:uFillTx/>
                <a:latin typeface="Open Sans"/>
                <a:ea typeface="Open Sans"/>
              </a:rPr>
              <a:t>"How can AI improve this process while maintaining clinical quality and regulatory compliance?"</a:t>
            </a:r>
            <a:endParaRPr lang="en-US" sz="1450" b="0" u="none" strike="noStrike">
              <a:solidFill>
                <a:srgbClr val="000000"/>
              </a:solidFill>
              <a:effectLst/>
              <a:uFillTx/>
              <a:latin typeface="Arial"/>
            </a:endParaRPr>
          </a:p>
        </p:txBody>
      </p:sp>
      <p:sp>
        <p:nvSpPr>
          <p:cNvPr id="20" name="Text 2"/>
          <p:cNvSpPr/>
          <p:nvPr/>
        </p:nvSpPr>
        <p:spPr>
          <a:xfrm>
            <a:off x="661320" y="2410920"/>
            <a:ext cx="531576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15,000</a:t>
            </a:r>
            <a:endParaRPr lang="en-US" sz="4900" b="0" u="none" strike="noStrike">
              <a:solidFill>
                <a:srgbClr val="000000"/>
              </a:solidFill>
              <a:effectLst/>
              <a:uFillTx/>
              <a:latin typeface="Arial"/>
            </a:endParaRPr>
          </a:p>
        </p:txBody>
      </p:sp>
      <p:sp>
        <p:nvSpPr>
          <p:cNvPr id="21" name="Text 3"/>
          <p:cNvSpPr/>
          <p:nvPr/>
        </p:nvSpPr>
        <p:spPr>
          <a:xfrm>
            <a:off x="661320" y="3270600"/>
            <a:ext cx="531576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Monthly Requests</a:t>
            </a:r>
            <a:endParaRPr lang="en-US" sz="1850" b="0" u="none" strike="noStrike">
              <a:solidFill>
                <a:srgbClr val="000000"/>
              </a:solidFill>
              <a:effectLst/>
              <a:uFillTx/>
              <a:latin typeface="Arial"/>
            </a:endParaRPr>
          </a:p>
        </p:txBody>
      </p:sp>
      <p:sp>
        <p:nvSpPr>
          <p:cNvPr id="22" name="Text 4"/>
          <p:cNvSpPr/>
          <p:nvPr/>
        </p:nvSpPr>
        <p:spPr>
          <a:xfrm>
            <a:off x="661320" y="3679560"/>
            <a:ext cx="531576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Prior auth requests processed each month</a:t>
            </a:r>
            <a:endParaRPr lang="en-US" sz="1450" b="0" u="none" strike="noStrike">
              <a:solidFill>
                <a:srgbClr val="000000"/>
              </a:solidFill>
              <a:effectLst/>
              <a:uFillTx/>
              <a:latin typeface="Arial"/>
            </a:endParaRPr>
          </a:p>
        </p:txBody>
      </p:sp>
      <p:sp>
        <p:nvSpPr>
          <p:cNvPr id="23" name="Text 5"/>
          <p:cNvSpPr/>
          <p:nvPr/>
        </p:nvSpPr>
        <p:spPr>
          <a:xfrm>
            <a:off x="6213960" y="2410920"/>
            <a:ext cx="531612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4.2</a:t>
            </a:r>
            <a:endParaRPr lang="en-US" sz="4900" b="0" u="none" strike="noStrike">
              <a:solidFill>
                <a:srgbClr val="000000"/>
              </a:solidFill>
              <a:effectLst/>
              <a:uFillTx/>
              <a:latin typeface="Arial"/>
            </a:endParaRPr>
          </a:p>
        </p:txBody>
      </p:sp>
      <p:sp>
        <p:nvSpPr>
          <p:cNvPr id="24" name="Text 6"/>
          <p:cNvSpPr/>
          <p:nvPr/>
        </p:nvSpPr>
        <p:spPr>
          <a:xfrm>
            <a:off x="6213960" y="3270600"/>
            <a:ext cx="531612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Days Turnaround</a:t>
            </a:r>
            <a:endParaRPr lang="en-US" sz="1850" b="0" u="none" strike="noStrike">
              <a:solidFill>
                <a:srgbClr val="000000"/>
              </a:solidFill>
              <a:effectLst/>
              <a:uFillTx/>
              <a:latin typeface="Arial"/>
            </a:endParaRPr>
          </a:p>
        </p:txBody>
      </p:sp>
      <p:sp>
        <p:nvSpPr>
          <p:cNvPr id="25" name="Text 7"/>
          <p:cNvSpPr/>
          <p:nvPr/>
        </p:nvSpPr>
        <p:spPr>
          <a:xfrm>
            <a:off x="6213960" y="3679560"/>
            <a:ext cx="531612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Current average turnaround time</a:t>
            </a:r>
            <a:endParaRPr lang="en-US" sz="1450" b="0" u="none" strike="noStrike">
              <a:solidFill>
                <a:srgbClr val="000000"/>
              </a:solidFill>
              <a:effectLst/>
              <a:uFillTx/>
              <a:latin typeface="Arial"/>
            </a:endParaRPr>
          </a:p>
        </p:txBody>
      </p:sp>
      <p:sp>
        <p:nvSpPr>
          <p:cNvPr id="26" name="Text 8"/>
          <p:cNvSpPr/>
          <p:nvPr/>
        </p:nvSpPr>
        <p:spPr>
          <a:xfrm>
            <a:off x="661320" y="4454280"/>
            <a:ext cx="531576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22%</a:t>
            </a:r>
            <a:endParaRPr lang="en-US" sz="4900" b="0" u="none" strike="noStrike">
              <a:solidFill>
                <a:srgbClr val="000000"/>
              </a:solidFill>
              <a:effectLst/>
              <a:uFillTx/>
              <a:latin typeface="Arial"/>
            </a:endParaRPr>
          </a:p>
        </p:txBody>
      </p:sp>
      <p:sp>
        <p:nvSpPr>
          <p:cNvPr id="27" name="Text 9"/>
          <p:cNvSpPr/>
          <p:nvPr/>
        </p:nvSpPr>
        <p:spPr>
          <a:xfrm>
            <a:off x="661320" y="5314320"/>
            <a:ext cx="531576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Rework Rate</a:t>
            </a:r>
            <a:endParaRPr lang="en-US" sz="1850" b="0" u="none" strike="noStrike">
              <a:solidFill>
                <a:srgbClr val="000000"/>
              </a:solidFill>
              <a:effectLst/>
              <a:uFillTx/>
              <a:latin typeface="Arial"/>
            </a:endParaRPr>
          </a:p>
        </p:txBody>
      </p:sp>
      <p:sp>
        <p:nvSpPr>
          <p:cNvPr id="28" name="Text 10"/>
          <p:cNvSpPr/>
          <p:nvPr/>
        </p:nvSpPr>
        <p:spPr>
          <a:xfrm>
            <a:off x="661320" y="5722920"/>
            <a:ext cx="531576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Requests sent back for missing information</a:t>
            </a:r>
            <a:endParaRPr lang="en-US" sz="1450" b="0" u="none" strike="noStrike">
              <a:solidFill>
                <a:srgbClr val="000000"/>
              </a:solidFill>
              <a:effectLst/>
              <a:uFillTx/>
              <a:latin typeface="Arial"/>
            </a:endParaRPr>
          </a:p>
        </p:txBody>
      </p:sp>
      <p:sp>
        <p:nvSpPr>
          <p:cNvPr id="29" name="Text 11"/>
          <p:cNvSpPr/>
          <p:nvPr/>
        </p:nvSpPr>
        <p:spPr>
          <a:xfrm>
            <a:off x="6213960" y="4454280"/>
            <a:ext cx="5316120" cy="62352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4900" b="1" u="none" strike="noStrike">
                <a:solidFill>
                  <a:srgbClr val="443728"/>
                </a:solidFill>
                <a:effectLst/>
                <a:uFillTx/>
                <a:latin typeface="Crimson Pro Bold"/>
                <a:ea typeface="Crimson Pro Bold"/>
              </a:rPr>
              <a:t>2.5</a:t>
            </a:r>
            <a:endParaRPr lang="en-US" sz="4900" b="0" u="none" strike="noStrike">
              <a:solidFill>
                <a:srgbClr val="000000"/>
              </a:solidFill>
              <a:effectLst/>
              <a:uFillTx/>
              <a:latin typeface="Arial"/>
            </a:endParaRPr>
          </a:p>
        </p:txBody>
      </p:sp>
      <p:sp>
        <p:nvSpPr>
          <p:cNvPr id="30" name="Text 12"/>
          <p:cNvSpPr/>
          <p:nvPr/>
        </p:nvSpPr>
        <p:spPr>
          <a:xfrm>
            <a:off x="6213960" y="5314320"/>
            <a:ext cx="5316120" cy="29484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850" b="1" u="none" strike="noStrike">
                <a:solidFill>
                  <a:srgbClr val="443728"/>
                </a:solidFill>
                <a:effectLst/>
                <a:uFillTx/>
                <a:latin typeface="Crimson Pro Bold"/>
                <a:ea typeface="Crimson Pro Bold"/>
              </a:rPr>
              <a:t>Days Target</a:t>
            </a:r>
            <a:endParaRPr lang="en-US" sz="1850" b="0" u="none" strike="noStrike">
              <a:solidFill>
                <a:srgbClr val="000000"/>
              </a:solidFill>
              <a:effectLst/>
              <a:uFillTx/>
              <a:latin typeface="Arial"/>
            </a:endParaRPr>
          </a:p>
        </p:txBody>
      </p:sp>
      <p:sp>
        <p:nvSpPr>
          <p:cNvPr id="31" name="Text 13"/>
          <p:cNvSpPr/>
          <p:nvPr/>
        </p:nvSpPr>
        <p:spPr>
          <a:xfrm>
            <a:off x="6213960" y="5722920"/>
            <a:ext cx="5316120" cy="302040"/>
          </a:xfrm>
          <a:prstGeom prst="rect">
            <a:avLst/>
          </a:prstGeom>
          <a:noFill/>
          <a:ln w="0">
            <a:noFill/>
          </a:ln>
        </p:spPr>
        <p:style>
          <a:lnRef idx="0"/>
          <a:fillRef idx="0"/>
          <a:effectRef idx="0"/>
          <a:fontRef idx="minor"/>
        </p:style>
        <p:txBody>
          <a:bodyPr wrap="none" lIns="0" tIns="0" rIns="0" bIns="0" anchor="t">
            <a:noAutofit/>
          </a:bodyPr>
          <a:p>
            <a:pPr algn="ctr" defTabSz="914400">
              <a:lnSpc>
                <a:spcPct val="133000"/>
              </a:lnSpc>
              <a:tabLst>
                <a:tab pos="0" algn="l"/>
              </a:tabLst>
            </a:pPr>
            <a:r>
              <a:rPr lang="en-US" sz="1450" b="0" u="none" strike="noStrike">
                <a:solidFill>
                  <a:srgbClr val="443728"/>
                </a:solidFill>
                <a:effectLst/>
                <a:uFillTx/>
                <a:latin typeface="Open Sans"/>
                <a:ea typeface="Open Sans"/>
              </a:rPr>
              <a:t>AI-augmented turnaround goal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DC2BA7-9FC1-46EE-A5B7-AADE28CF6F84}"/>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Where the 4.2 Days Actually Go</a:t>
            </a:r>
          </a:p>
        </p:txBody>
      </p:sp>
      <p:sp>
        <p:nvSpPr>
          <p:cNvPr id="2" name="Purpose">
            <a:extLst xmlns:a="http://schemas.openxmlformats.org/drawingml/2006/main">
              <a:ext uri="{FF2B5EF4-FFF2-40B4-BE49-F238E27FC236}">
                <a16:creationId xmlns:a16="http://schemas.microsoft.com/office/drawing/2014/main" id="{0CB41E00-C9FA-43A7-B7CC-666CD808C653}"/>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Original workflow breakdown from the solution PDF, page 2</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a6f2b7c5a404b2d"/>
          <a:stretch xmlns:a="http://schemas.openxmlformats.org/drawingml/2006/main"/>
        </p:blipFill>
        <p:spPr>
          <a:xfrm xmlns:a="http://schemas.openxmlformats.org/drawingml/2006/main">
            <a:off x="571500" y="2055759"/>
            <a:ext cx="11049000" cy="3508482"/>
          </a:xfrm>
          <a:prstGeom xmlns:a="http://schemas.openxmlformats.org/drawingml/2006/main" prst="rect">
            <a:avLst/>
          </a:prstGeom>
        </p:spPr>
      </p:pic>
      <p:sp>
        <p:nvSpPr>
          <p:cNvPr id="4" name="Source">
            <a:extLst xmlns:a="http://schemas.openxmlformats.org/drawingml/2006/main">
              <a:ext uri="{FF2B5EF4-FFF2-40B4-BE49-F238E27FC236}">
                <a16:creationId xmlns:a16="http://schemas.microsoft.com/office/drawing/2014/main" id="{907655F7-8FD8-4B3A-B0DF-97EE20D176FC}"/>
              </a:ext>
            </a:extLst>
          </p:cNvPr>
          <p:cNvSpPr>
            <a:spLocks xmlns:a="http://schemas.openxmlformats.org/drawingml/2006/main" noGrp="1"/>
          </p:cNvSpPr>
          <p:nvPr/>
        </p:nvSpPr>
        <p:spPr>
          <a:xfrm xmlns:a="http://schemas.openxmlformats.org/drawingml/2006/main">
            <a:off x="666750" y="6000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C6054"/>
                </a:solidFill>
                <a:latin typeface="Open Sans"/>
                <a:ea typeface="Open Sans"/>
                <a:cs typeface="Open Sans"/>
              </a:defRPr>
            </a:pPr>
            <a:r>
              <a:rPr sz="1575" b="0">
                <a:solidFill>
                  <a:srgbClr val="6C6054"/>
                </a:solidFill>
                <a:latin typeface="Open Sans"/>
                <a:ea typeface="Open Sans"/>
                <a:cs typeface="Open Sans"/>
              </a:rPr>
              <a:t>Source: Prior Auth AI Solution, page 2. Illustrative scenario; not measured demo results.</a:t>
            </a:r>
          </a:p>
        </p:txBody>
      </p:sp>
    </p:spTree>
    <p:extLst>
      <p:ext uri="{BB962C8B-B14F-4D97-AF65-F5344CB8AC3E}">
        <p14:creationId xmlns:p14="http://schemas.microsoft.com/office/powerpoint/2010/main" val="26747075"/>
      </p:ext>
    </p:extLst>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 name="Image 0" descr="preencoded.png"/>
          <p:cNvPicPr/>
          <p:nvPr/>
        </p:nvPicPr>
        <p:blipFill>
          <a:blip r:embed="rId1"/>
          <a:stretch/>
        </p:blipFill>
        <p:spPr>
          <a:xfrm>
            <a:off x="0" y="0"/>
            <a:ext cx="4571640" cy="6857640"/>
          </a:xfrm>
          <a:prstGeom prst="rect">
            <a:avLst/>
          </a:prstGeom>
          <a:noFill/>
          <a:ln w="0">
            <a:noFill/>
          </a:ln>
        </p:spPr>
      </p:pic>
      <p:sp>
        <p:nvSpPr>
          <p:cNvPr id="38" name="Text 0"/>
          <p:cNvSpPr/>
          <p:nvPr/>
        </p:nvSpPr>
        <p:spPr>
          <a:xfrm>
            <a:off x="5233320" y="599760"/>
            <a:ext cx="6296400" cy="51624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3250" b="1" u="none" strike="noStrike">
                <a:solidFill>
                  <a:srgbClr val="443728"/>
                </a:solidFill>
                <a:effectLst/>
                <a:uFillTx/>
                <a:latin typeface="Crimson Pro Bold"/>
                <a:ea typeface="Crimson Pro Bold"/>
              </a:rPr>
              <a:t>Four-Layer AI Architecture</a:t>
            </a:r>
            <a:endParaRPr lang="en-US" sz="3250" b="0" u="none" strike="noStrike">
              <a:solidFill>
                <a:srgbClr val="000000"/>
              </a:solidFill>
              <a:effectLst/>
              <a:uFillTx/>
              <a:latin typeface="Arial"/>
            </a:endParaRPr>
          </a:p>
        </p:txBody>
      </p:sp>
      <p:sp>
        <p:nvSpPr>
          <p:cNvPr id="39" name="Shape 1"/>
          <p:cNvSpPr/>
          <p:nvPr/>
        </p:nvSpPr>
        <p:spPr>
          <a:xfrm>
            <a:off x="5233320" y="1333440"/>
            <a:ext cx="6296400" cy="936360"/>
          </a:xfrm>
          <a:prstGeom prst="roundRect">
            <a:avLst>
              <a:gd name="adj" fmla="val 7416"/>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0" name="Text 2"/>
          <p:cNvSpPr/>
          <p:nvPr/>
        </p:nvSpPr>
        <p:spPr>
          <a:xfrm>
            <a:off x="5405040" y="150516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Intake Layer</a:t>
            </a:r>
            <a:endParaRPr lang="en-US" sz="1600" b="0" u="none" strike="noStrike">
              <a:solidFill>
                <a:srgbClr val="000000"/>
              </a:solidFill>
              <a:effectLst/>
              <a:uFillTx/>
              <a:latin typeface="Arial"/>
            </a:endParaRPr>
          </a:p>
        </p:txBody>
      </p:sp>
      <p:sp>
        <p:nvSpPr>
          <p:cNvPr id="41" name="Text 3"/>
          <p:cNvSpPr/>
          <p:nvPr/>
        </p:nvSpPr>
        <p:spPr>
          <a:xfrm>
            <a:off x="5405040" y="1850400"/>
            <a:ext cx="5953320" cy="247680"/>
          </a:xfrm>
          <a:prstGeom prst="rect">
            <a:avLst/>
          </a:prstGeom>
          <a:noFill/>
          <a:ln w="0">
            <a:noFill/>
          </a:ln>
        </p:spPr>
        <p:style>
          <a:lnRef idx="0"/>
          <a:fillRef idx="0"/>
          <a:effectRef idx="0"/>
          <a:fontRef idx="minor"/>
        </p:style>
        <p:txBody>
          <a:bodyPr wrap="none" lIns="0" tIns="0" rIns="0" bIns="0" anchor="t">
            <a:noAutofit/>
          </a:bodyPr>
          <a:p>
            <a:pPr defTabSz="914400">
              <a:lnSpc>
                <a:spcPct val="125000"/>
              </a:lnSpc>
              <a:tabLst>
                <a:tab pos="0" algn="l"/>
              </a:tabLst>
            </a:pPr>
            <a:r>
              <a:rPr lang="en-US" sz="1300" b="0" u="none" strike="noStrike">
                <a:solidFill>
                  <a:srgbClr val="443728"/>
                </a:solidFill>
                <a:effectLst/>
                <a:uFillTx/>
                <a:latin typeface="Open Sans"/>
                <a:ea typeface="Open Sans"/>
              </a:rPr>
              <a:t>OCR + Document AI — Fax, PDF, portal, upload converted to structured data</a:t>
            </a:r>
            <a:endParaRPr lang="en-US" sz="1300" b="0" u="none" strike="noStrike">
              <a:solidFill>
                <a:srgbClr val="000000"/>
              </a:solidFill>
              <a:effectLst/>
              <a:uFillTx/>
              <a:latin typeface="Arial"/>
            </a:endParaRPr>
          </a:p>
        </p:txBody>
      </p:sp>
      <p:sp>
        <p:nvSpPr>
          <p:cNvPr id="42" name="Shape 4"/>
          <p:cNvSpPr/>
          <p:nvPr/>
        </p:nvSpPr>
        <p:spPr>
          <a:xfrm>
            <a:off x="5233320" y="2414880"/>
            <a:ext cx="6296400" cy="1184400"/>
          </a:xfrm>
          <a:prstGeom prst="roundRect">
            <a:avLst>
              <a:gd name="adj" fmla="val 5864"/>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 name="Text 5"/>
          <p:cNvSpPr/>
          <p:nvPr/>
        </p:nvSpPr>
        <p:spPr>
          <a:xfrm>
            <a:off x="5405040" y="258660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Intelligence Layer</a:t>
            </a:r>
            <a:endParaRPr lang="en-US" sz="1600" b="0" u="none" strike="noStrike">
              <a:solidFill>
                <a:srgbClr val="000000"/>
              </a:solidFill>
              <a:effectLst/>
              <a:uFillTx/>
              <a:latin typeface="Arial"/>
            </a:endParaRPr>
          </a:p>
        </p:txBody>
      </p:sp>
      <p:sp>
        <p:nvSpPr>
          <p:cNvPr id="44" name="Text 6"/>
          <p:cNvSpPr/>
          <p:nvPr/>
        </p:nvSpPr>
        <p:spPr>
          <a:xfrm>
            <a:off x="5405040" y="2931840"/>
            <a:ext cx="5953320" cy="495720"/>
          </a:xfrm>
          <a:prstGeom prst="rect">
            <a:avLst/>
          </a:prstGeom>
          <a:noFill/>
          <a:ln w="0">
            <a:noFill/>
          </a:ln>
        </p:spPr>
        <p:style>
          <a:lnRef idx="0"/>
          <a:fillRef idx="0"/>
          <a:effectRef idx="0"/>
          <a:fontRef idx="minor"/>
        </p:style>
        <p:txBody>
          <a:bodyPr lIns="0" tIns="0" rIns="0" bIns="0" anchor="t">
            <a:normAutofit/>
          </a:bodyPr>
          <a:p>
            <a:pPr defTabSz="914400">
              <a:lnSpc>
                <a:spcPct val="125000"/>
              </a:lnSpc>
              <a:tabLst>
                <a:tab pos="0" algn="l"/>
              </a:tabLst>
            </a:pPr>
            <a:r>
              <a:rPr lang="en-US" sz="1300" b="0" u="none" strike="noStrike">
                <a:solidFill>
                  <a:srgbClr val="443728"/>
                </a:solidFill>
                <a:effectLst/>
                <a:uFillTx/>
                <a:latin typeface="Open Sans"/>
                <a:ea typeface="Open Sans"/>
              </a:rPr>
              <a:t>Multi-Modal RAG + Clinical NLP — Completeness check, policy lookup, medical necessity analysis</a:t>
            </a:r>
            <a:endParaRPr lang="en-US" sz="1300" b="0" u="none" strike="noStrike">
              <a:solidFill>
                <a:srgbClr val="000000"/>
              </a:solidFill>
              <a:effectLst/>
              <a:uFillTx/>
              <a:latin typeface="Arial"/>
            </a:endParaRPr>
          </a:p>
        </p:txBody>
      </p:sp>
      <p:sp>
        <p:nvSpPr>
          <p:cNvPr id="45" name="Shape 7"/>
          <p:cNvSpPr/>
          <p:nvPr/>
        </p:nvSpPr>
        <p:spPr>
          <a:xfrm>
            <a:off x="5233320" y="3744000"/>
            <a:ext cx="6296400" cy="1184400"/>
          </a:xfrm>
          <a:prstGeom prst="roundRect">
            <a:avLst>
              <a:gd name="adj" fmla="val 5864"/>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6" name="Text 8"/>
          <p:cNvSpPr/>
          <p:nvPr/>
        </p:nvSpPr>
        <p:spPr>
          <a:xfrm>
            <a:off x="5405040" y="391572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Decision Support</a:t>
            </a:r>
            <a:endParaRPr lang="en-US" sz="1600" b="0" u="none" strike="noStrike">
              <a:solidFill>
                <a:srgbClr val="000000"/>
              </a:solidFill>
              <a:effectLst/>
              <a:uFillTx/>
              <a:latin typeface="Arial"/>
            </a:endParaRPr>
          </a:p>
        </p:txBody>
      </p:sp>
      <p:sp>
        <p:nvSpPr>
          <p:cNvPr id="47" name="Text 9"/>
          <p:cNvSpPr/>
          <p:nvPr/>
        </p:nvSpPr>
        <p:spPr>
          <a:xfrm>
            <a:off x="5405040" y="4260960"/>
            <a:ext cx="5953320" cy="495720"/>
          </a:xfrm>
          <a:prstGeom prst="rect">
            <a:avLst/>
          </a:prstGeom>
          <a:noFill/>
          <a:ln w="0">
            <a:noFill/>
          </a:ln>
        </p:spPr>
        <p:style>
          <a:lnRef idx="0"/>
          <a:fillRef idx="0"/>
          <a:effectRef idx="0"/>
          <a:fontRef idx="minor"/>
        </p:style>
        <p:txBody>
          <a:bodyPr lIns="0" tIns="0" rIns="0" bIns="0" anchor="t">
            <a:normAutofit/>
          </a:bodyPr>
          <a:p>
            <a:pPr defTabSz="914400">
              <a:lnSpc>
                <a:spcPct val="125000"/>
              </a:lnSpc>
              <a:tabLst>
                <a:tab pos="0" algn="l"/>
              </a:tabLst>
            </a:pPr>
            <a:r>
              <a:rPr lang="en-US" sz="1300" b="0" u="none" strike="noStrike">
                <a:solidFill>
                  <a:srgbClr val="443728"/>
                </a:solidFill>
                <a:effectLst/>
                <a:uFillTx/>
                <a:latin typeface="Open Sans"/>
                <a:ea typeface="Open Sans"/>
              </a:rPr>
              <a:t>Auto-Approval + Nurse Queue — Risk stratification routes cases to auto-approve or human review</a:t>
            </a:r>
            <a:endParaRPr lang="en-US" sz="1300" b="0" u="none" strike="noStrike">
              <a:solidFill>
                <a:srgbClr val="000000"/>
              </a:solidFill>
              <a:effectLst/>
              <a:uFillTx/>
              <a:latin typeface="Arial"/>
            </a:endParaRPr>
          </a:p>
        </p:txBody>
      </p:sp>
      <p:sp>
        <p:nvSpPr>
          <p:cNvPr id="48" name="Shape 10"/>
          <p:cNvSpPr/>
          <p:nvPr/>
        </p:nvSpPr>
        <p:spPr>
          <a:xfrm>
            <a:off x="5233320" y="5073480"/>
            <a:ext cx="6296400" cy="1184400"/>
          </a:xfrm>
          <a:prstGeom prst="roundRect">
            <a:avLst>
              <a:gd name="adj" fmla="val 5864"/>
            </a:avLst>
          </a:prstGeom>
          <a:solidFill>
            <a:srgbClr val="EBE2E0"/>
          </a:solidFill>
          <a:ln w="6350">
            <a:solidFill>
              <a:srgbClr val="D1C8C6"/>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9" name="Text 11"/>
          <p:cNvSpPr/>
          <p:nvPr/>
        </p:nvSpPr>
        <p:spPr>
          <a:xfrm>
            <a:off x="5405040" y="5245200"/>
            <a:ext cx="5953320" cy="25812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1600" b="1" u="none" strike="noStrike">
                <a:solidFill>
                  <a:srgbClr val="443728"/>
                </a:solidFill>
                <a:effectLst/>
                <a:uFillTx/>
                <a:latin typeface="Crimson Pro Bold"/>
                <a:ea typeface="Crimson Pro Bold"/>
              </a:rPr>
              <a:t>Communication Layer</a:t>
            </a:r>
            <a:endParaRPr lang="en-US" sz="1600" b="0" u="none" strike="noStrike">
              <a:solidFill>
                <a:srgbClr val="000000"/>
              </a:solidFill>
              <a:effectLst/>
              <a:uFillTx/>
              <a:latin typeface="Arial"/>
            </a:endParaRPr>
          </a:p>
        </p:txBody>
      </p:sp>
      <p:sp>
        <p:nvSpPr>
          <p:cNvPr id="50" name="Text 12"/>
          <p:cNvSpPr/>
          <p:nvPr/>
        </p:nvSpPr>
        <p:spPr>
          <a:xfrm>
            <a:off x="5405040" y="5590440"/>
            <a:ext cx="5953320" cy="495720"/>
          </a:xfrm>
          <a:prstGeom prst="rect">
            <a:avLst/>
          </a:prstGeom>
          <a:noFill/>
          <a:ln w="0">
            <a:noFill/>
          </a:ln>
        </p:spPr>
        <p:style>
          <a:lnRef idx="0"/>
          <a:fillRef idx="0"/>
          <a:effectRef idx="0"/>
          <a:fontRef idx="minor"/>
        </p:style>
        <p:txBody>
          <a:bodyPr lIns="0" tIns="0" rIns="0" bIns="0" anchor="t">
            <a:normAutofit/>
          </a:bodyPr>
          <a:p>
            <a:pPr defTabSz="914400">
              <a:lnSpc>
                <a:spcPct val="125000"/>
              </a:lnSpc>
              <a:tabLst>
                <a:tab pos="0" algn="l"/>
              </a:tabLst>
            </a:pPr>
            <a:r>
              <a:rPr lang="en-US" sz="1300" b="0" u="none" strike="noStrike">
                <a:solidFill>
                  <a:srgbClr val="443728"/>
                </a:solidFill>
                <a:effectLst/>
                <a:uFillTx/>
                <a:latin typeface="Open Sans"/>
                <a:ea typeface="Open Sans"/>
              </a:rPr>
              <a:t>Provider Portal + Notifications — Real-time status, automated letters, missing info requests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6983063-9955-477D-B824-64E50A2E4F56}"/>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Intake Layer</a:t>
            </a:r>
          </a:p>
        </p:txBody>
      </p:sp>
      <p:sp>
        <p:nvSpPr>
          <p:cNvPr id="2" name="Purpose">
            <a:extLst xmlns:a="http://schemas.openxmlformats.org/drawingml/2006/main">
              <a:ext uri="{FF2B5EF4-FFF2-40B4-BE49-F238E27FC236}">
                <a16:creationId xmlns:a16="http://schemas.microsoft.com/office/drawing/2014/main" id="{B1D26430-E166-4B39-A9C1-01F74BA3D62E}"/>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Converts uploaded documents into structured request information</a:t>
            </a:r>
          </a:p>
        </p:txBody>
      </p:sp>
      <p:sp>
        <p:nvSpPr>
          <p:cNvPr id="3" name="Input label">
            <a:extLst xmlns:a="http://schemas.openxmlformats.org/drawingml/2006/main">
              <a:ext uri="{FF2B5EF4-FFF2-40B4-BE49-F238E27FC236}">
                <a16:creationId xmlns:a16="http://schemas.microsoft.com/office/drawing/2014/main" id="{D9E21D7C-3FF4-4F60-AC02-1D1EA63FC0C6}"/>
              </a:ext>
            </a:extLst>
          </p:cNvPr>
          <p:cNvSpPr>
            <a:spLocks xmlns:a="http://schemas.openxmlformats.org/drawingml/2006/main" noGrp="1"/>
          </p:cNvSpPr>
          <p:nvPr/>
        </p:nvSpPr>
        <p:spPr>
          <a:xfrm xmlns:a="http://schemas.openxmlformats.org/drawingml/2006/main">
            <a:off x="666750" y="1762125"/>
            <a:ext cx="4524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65F54"/>
                </a:solidFill>
                <a:latin typeface="Open Sans"/>
                <a:ea typeface="Open Sans"/>
                <a:cs typeface="Open Sans"/>
              </a:defRPr>
            </a:pPr>
            <a:r>
              <a:rPr sz="1425" b="1">
                <a:solidFill>
                  <a:srgbClr val="865F54"/>
                </a:solidFill>
                <a:latin typeface="Open Sans"/>
                <a:ea typeface="Open Sans"/>
                <a:cs typeface="Open Sans"/>
              </a:rPr>
              <a:t>INPUT: SYNTHETIC REQUEST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5140b59c07148fd"/>
          <a:stretch xmlns:a="http://schemas.openxmlformats.org/drawingml/2006/main"/>
        </p:blipFill>
        <p:spPr>
          <a:xfrm xmlns:a="http://schemas.openxmlformats.org/drawingml/2006/main">
            <a:off x="764381" y="2181225"/>
            <a:ext cx="2995613" cy="3876675"/>
          </a:xfrm>
          <a:prstGeom xmlns:a="http://schemas.openxmlformats.org/drawingml/2006/main" prst="rect">
            <a:avLst/>
          </a:prstGeom>
        </p:spPr>
      </p:pic>
      <p:sp>
        <p:nvSpPr>
          <p:cNvPr id="5" name="Output label">
            <a:extLst xmlns:a="http://schemas.openxmlformats.org/drawingml/2006/main">
              <a:ext uri="{FF2B5EF4-FFF2-40B4-BE49-F238E27FC236}">
                <a16:creationId xmlns:a16="http://schemas.microsoft.com/office/drawing/2014/main" id="{2983EE0D-FF84-4C43-BA01-3FAC01FA51C7}"/>
              </a:ext>
            </a:extLst>
          </p:cNvPr>
          <p:cNvSpPr>
            <a:spLocks xmlns:a="http://schemas.openxmlformats.org/drawingml/2006/main" noGrp="1"/>
          </p:cNvSpPr>
          <p:nvPr/>
        </p:nvSpPr>
        <p:spPr>
          <a:xfrm xmlns:a="http://schemas.openxmlformats.org/drawingml/2006/main">
            <a:off x="5143500" y="1762125"/>
            <a:ext cx="628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865F54"/>
                </a:solidFill>
                <a:latin typeface="Open Sans"/>
                <a:ea typeface="Open Sans"/>
                <a:cs typeface="Open Sans"/>
              </a:defRPr>
            </a:pPr>
            <a:r>
              <a:rPr sz="1425" b="1">
                <a:solidFill>
                  <a:srgbClr val="865F54"/>
                </a:solidFill>
                <a:latin typeface="Open Sans"/>
                <a:ea typeface="Open Sans"/>
                <a:cs typeface="Open Sans"/>
              </a:rPr>
              <a:t>OUTPUT: STRUCTURED FIELDS</a:t>
            </a:r>
          </a:p>
        </p:txBody>
      </p:sp>
      <p:sp>
        <p:nvSpPr>
          <p:cNvPr id="6" name="Example fields">
            <a:extLst xmlns:a="http://schemas.openxmlformats.org/drawingml/2006/main">
              <a:ext uri="{FF2B5EF4-FFF2-40B4-BE49-F238E27FC236}">
                <a16:creationId xmlns:a16="http://schemas.microsoft.com/office/drawing/2014/main" id="{888DFDE3-06D6-448C-88A8-3567068E35CB}"/>
              </a:ext>
            </a:extLst>
          </p:cNvPr>
          <p:cNvSpPr>
            <a:spLocks xmlns:a="http://schemas.openxmlformats.org/drawingml/2006/main" noGrp="1"/>
          </p:cNvSpPr>
          <p:nvPr/>
        </p:nvSpPr>
        <p:spPr>
          <a:xfrm xmlns:a="http://schemas.openxmlformats.org/drawingml/2006/main">
            <a:off x="5143500" y="2238375"/>
            <a:ext cx="62865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Patient ID: MEM-88213456</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Date of birth: 04/12/1979</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Provider: Dr. Karen Wu, DPT</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Diagnosis code: M54.5</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Procedure code: 97110</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Urgency: Routine</a:t>
            </a:r>
          </a:p>
        </p:txBody>
      </p:sp>
      <p:sp>
        <p:nvSpPr>
          <p:cNvPr id="7" name="Method">
            <a:extLst xmlns:a="http://schemas.openxmlformats.org/drawingml/2006/main">
              <a:ext uri="{FF2B5EF4-FFF2-40B4-BE49-F238E27FC236}">
                <a16:creationId xmlns:a16="http://schemas.microsoft.com/office/drawing/2014/main" id="{FA286B9A-D33D-4757-B9BC-F06710D5E629}"/>
              </a:ext>
            </a:extLst>
          </p:cNvPr>
          <p:cNvSpPr>
            <a:spLocks xmlns:a="http://schemas.openxmlformats.org/drawingml/2006/main" noGrp="1"/>
          </p:cNvSpPr>
          <p:nvPr/>
        </p:nvSpPr>
        <p:spPr>
          <a:xfrm xmlns:a="http://schemas.openxmlformats.org/drawingml/2006/main">
            <a:off x="5143500" y="4667250"/>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PDF text extraction or image OCR reads the document. GPT-4o-mini organizes the text into fields and clinical notes.</a:t>
            </a:r>
          </a:p>
        </p:txBody>
      </p:sp>
      <p:sp>
        <p:nvSpPr>
          <p:cNvPr id="8" name="Scope">
            <a:extLst xmlns:a="http://schemas.openxmlformats.org/drawingml/2006/main">
              <a:ext uri="{FF2B5EF4-FFF2-40B4-BE49-F238E27FC236}">
                <a16:creationId xmlns:a16="http://schemas.microsoft.com/office/drawing/2014/main" id="{03BB4E5A-B2DD-4690-B3EE-462B10BDE2B5}"/>
              </a:ext>
            </a:extLst>
          </p:cNvPr>
          <p:cNvSpPr>
            <a:spLocks xmlns:a="http://schemas.openxmlformats.org/drawingml/2006/main" noGrp="1"/>
          </p:cNvSpPr>
          <p:nvPr/>
        </p:nvSpPr>
        <p:spPr>
          <a:xfrm xmlns:a="http://schemas.openxmlformats.org/drawingml/2006/main">
            <a:off x="666750" y="633412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C6054"/>
                </a:solidFill>
                <a:latin typeface="Open Sans"/>
                <a:ea typeface="Open Sans"/>
                <a:cs typeface="Open Sans"/>
              </a:defRPr>
            </a:pPr>
            <a:r>
              <a:rPr sz="1200" b="0">
                <a:solidFill>
                  <a:srgbClr val="6C6054"/>
                </a:solidFill>
                <a:latin typeface="Open Sans"/>
                <a:ea typeface="Open Sans"/>
                <a:cs typeface="Open Sans"/>
              </a:rPr>
              <a:t>Illustrative fields from the sample. Demo uses pdfplumber and Tesseract; Azure integration is proposed.</a:t>
            </a:r>
          </a:p>
        </p:txBody>
      </p:sp>
    </p:spTree>
    <p:extLst>
      <p:ext uri="{BB962C8B-B14F-4D97-AF65-F5344CB8AC3E}">
        <p14:creationId xmlns:p14="http://schemas.microsoft.com/office/powerpoint/2010/main" val="1989931218"/>
      </p:ext>
    </p:extLst>
  </p:cSld>
</p:sld>
</file>

<file path=ppt/slides/slide6.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F3D7B7E0-CE01-4D0B-9AE8-C67CA31E4375}"/>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Intelligence Layer</a:t>
            </a:r>
          </a:p>
        </p:txBody>
      </p:sp>
      <p:sp>
        <p:nvSpPr>
          <p:cNvPr id="2" name="Purpose">
            <a:extLst xmlns:a="http://schemas.openxmlformats.org/drawingml/2006/main">
              <a:ext uri="{FF2B5EF4-FFF2-40B4-BE49-F238E27FC236}">
                <a16:creationId xmlns:a16="http://schemas.microsoft.com/office/drawing/2014/main" id="{903D4651-E876-483D-96F6-0E28698756C0}"/>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Checks completeness, then compares the request with a matching policy</a:t>
            </a:r>
          </a:p>
        </p:txBody>
      </p:sp>
      <p:sp>
        <p:nvSpPr>
          <p:cNvPr id="3" name="Completeness heading">
            <a:extLst xmlns:a="http://schemas.openxmlformats.org/drawingml/2006/main">
              <a:ext uri="{FF2B5EF4-FFF2-40B4-BE49-F238E27FC236}">
                <a16:creationId xmlns:a16="http://schemas.microsoft.com/office/drawing/2014/main" id="{61B0753B-8792-4698-854F-F207B11D0434}"/>
              </a:ext>
            </a:extLst>
          </p:cNvPr>
          <p:cNvSpPr>
            <a:spLocks xmlns:a="http://schemas.openxmlformats.org/drawingml/2006/main" noGrp="1"/>
          </p:cNvSpPr>
          <p:nvPr/>
        </p:nvSpPr>
        <p:spPr>
          <a:xfrm xmlns:a="http://schemas.openxmlformats.org/drawingml/2006/main">
            <a:off x="666750" y="19526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1. Completeness validator</a:t>
            </a:r>
          </a:p>
        </p:txBody>
      </p:sp>
      <p:sp>
        <p:nvSpPr>
          <p:cNvPr id="4" name="Required fields">
            <a:extLst xmlns:a="http://schemas.openxmlformats.org/drawingml/2006/main">
              <a:ext uri="{FF2B5EF4-FFF2-40B4-BE49-F238E27FC236}">
                <a16:creationId xmlns:a16="http://schemas.microsoft.com/office/drawing/2014/main" id="{DB0C913E-5C17-4994-801A-D25EA93D877F}"/>
              </a:ext>
            </a:extLst>
          </p:cNvPr>
          <p:cNvSpPr>
            <a:spLocks xmlns:a="http://schemas.openxmlformats.org/drawingml/2006/main" noGrp="1"/>
          </p:cNvSpPr>
          <p:nvPr/>
        </p:nvSpPr>
        <p:spPr>
          <a:xfrm xmlns:a="http://schemas.openxmlformats.org/drawingml/2006/main">
            <a:off x="666750" y="2514600"/>
            <a:ext cx="5095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Required on every request</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Patient ID and date of birth</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Requesting provider</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Diagnosis and procedure codes</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Clinical notes</a:t>
            </a:r>
          </a:p>
        </p:txBody>
      </p:sp>
      <p:sp>
        <p:nvSpPr>
          <p:cNvPr id="5" name="Extra requirements">
            <a:extLst xmlns:a="http://schemas.openxmlformats.org/drawingml/2006/main">
              <a:ext uri="{FF2B5EF4-FFF2-40B4-BE49-F238E27FC236}">
                <a16:creationId xmlns:a16="http://schemas.microsoft.com/office/drawing/2014/main" id="{500B3E09-2084-4D83-8C0B-294AF1AED46D}"/>
              </a:ext>
            </a:extLst>
          </p:cNvPr>
          <p:cNvSpPr>
            <a:spLocks xmlns:a="http://schemas.openxmlformats.org/drawingml/2006/main" noGrp="1"/>
          </p:cNvSpPr>
          <p:nvPr/>
        </p:nvSpPr>
        <p:spPr>
          <a:xfrm xmlns:a="http://schemas.openxmlformats.org/drawingml/2006/main">
            <a:off x="666750" y="4676775"/>
            <a:ext cx="5095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43829"/>
                </a:solidFill>
                <a:latin typeface="Open Sans"/>
                <a:ea typeface="Open Sans"/>
                <a:cs typeface="Open Sans"/>
              </a:defRPr>
            </a:pPr>
            <a:r>
              <a:rPr sz="1725" b="0">
                <a:solidFill>
                  <a:srgbClr val="443829"/>
                </a:solidFill>
                <a:latin typeface="Open Sans"/>
                <a:ea typeface="Open Sans"/>
                <a:cs typeface="Open Sans"/>
              </a:rPr>
              <a:t>Also checks policy-required documentation, such as prior treatment for an MRI.</a:t>
            </a:r>
          </a:p>
        </p:txBody>
      </p:sp>
      <p:sp>
        <p:nvSpPr>
          <p:cNvPr id="6" name="Missing output">
            <a:extLst xmlns:a="http://schemas.openxmlformats.org/drawingml/2006/main">
              <a:ext uri="{FF2B5EF4-FFF2-40B4-BE49-F238E27FC236}">
                <a16:creationId xmlns:a16="http://schemas.microsoft.com/office/drawing/2014/main" id="{BCD46CD8-F75D-43A8-90C1-FE055CFB1978}"/>
              </a:ext>
            </a:extLst>
          </p:cNvPr>
          <p:cNvSpPr>
            <a:spLocks xmlns:a="http://schemas.openxmlformats.org/drawingml/2006/main" noGrp="1"/>
          </p:cNvSpPr>
          <p:nvPr/>
        </p:nvSpPr>
        <p:spPr>
          <a:xfrm xmlns:a="http://schemas.openxmlformats.org/drawingml/2006/main">
            <a:off x="666750" y="5686425"/>
            <a:ext cx="5095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65F54"/>
                </a:solidFill>
                <a:latin typeface="Open Sans"/>
                <a:ea typeface="Open Sans"/>
                <a:cs typeface="Open Sans"/>
              </a:defRPr>
            </a:pPr>
            <a:r>
              <a:rPr sz="1650" b="1">
                <a:solidFill>
                  <a:srgbClr val="865F54"/>
                </a:solidFill>
                <a:latin typeface="Open Sans"/>
                <a:ea typeface="Open Sans"/>
                <a:cs typeface="Open Sans"/>
              </a:rPr>
              <a:t>Missing information: generate a request letter and pause policy analysis.</a:t>
            </a:r>
          </a:p>
        </p:txBody>
      </p:sp>
      <p:sp>
        <p:nvSpPr>
          <p:cNvPr id="7" name="Policy heading">
            <a:extLst xmlns:a="http://schemas.openxmlformats.org/drawingml/2006/main">
              <a:ext uri="{FF2B5EF4-FFF2-40B4-BE49-F238E27FC236}">
                <a16:creationId xmlns:a16="http://schemas.microsoft.com/office/drawing/2014/main" id="{996F3302-BC8A-4132-BCAB-C5F41A7BCE99}"/>
              </a:ext>
            </a:extLst>
          </p:cNvPr>
          <p:cNvSpPr>
            <a:spLocks xmlns:a="http://schemas.openxmlformats.org/drawingml/2006/main" noGrp="1"/>
          </p:cNvSpPr>
          <p:nvPr/>
        </p:nvSpPr>
        <p:spPr>
          <a:xfrm xmlns:a="http://schemas.openxmlformats.org/drawingml/2006/main">
            <a:off x="6477000" y="19526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2. Policy analysis</a:t>
            </a:r>
          </a:p>
        </p:txBody>
      </p:sp>
      <p:sp>
        <p:nvSpPr>
          <p:cNvPr id="8" name="Retrieval">
            <a:extLst xmlns:a="http://schemas.openxmlformats.org/drawingml/2006/main">
              <a:ext uri="{FF2B5EF4-FFF2-40B4-BE49-F238E27FC236}">
                <a16:creationId xmlns:a16="http://schemas.microsoft.com/office/drawing/2014/main" id="{6F053F3E-34BC-4065-BC1C-13CEFEA70A54}"/>
              </a:ext>
            </a:extLst>
          </p:cNvPr>
          <p:cNvSpPr>
            <a:spLocks xmlns:a="http://schemas.openxmlformats.org/drawingml/2006/main" noGrp="1"/>
          </p:cNvSpPr>
          <p:nvPr/>
        </p:nvSpPr>
        <p:spPr>
          <a:xfrm xmlns:a="http://schemas.openxmlformats.org/drawingml/2006/main">
            <a:off x="6477000" y="251460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Match the procedure code to a synthetic policy; use keyword search if needed.</a:t>
            </a:r>
          </a:p>
        </p:txBody>
      </p:sp>
      <p:sp>
        <p:nvSpPr>
          <p:cNvPr id="9" name="Analysis">
            <a:extLst xmlns:a="http://schemas.openxmlformats.org/drawingml/2006/main">
              <a:ext uri="{FF2B5EF4-FFF2-40B4-BE49-F238E27FC236}">
                <a16:creationId xmlns:a16="http://schemas.microsoft.com/office/drawing/2014/main" id="{F07337F2-5CB0-40F1-9BB9-AD6B22ACBBE3}"/>
              </a:ext>
            </a:extLst>
          </p:cNvPr>
          <p:cNvSpPr>
            <a:spLocks xmlns:a="http://schemas.openxmlformats.org/drawingml/2006/main" noGrp="1"/>
          </p:cNvSpPr>
          <p:nvPr/>
        </p:nvSpPr>
        <p:spPr>
          <a:xfrm xmlns:a="http://schemas.openxmlformats.org/drawingml/2006/main">
            <a:off x="6477000" y="3676650"/>
            <a:ext cx="5048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AI compares clinical notes with the policy and returns met or unmet criteria, citations, and a recommendation.</a:t>
            </a:r>
          </a:p>
        </p:txBody>
      </p:sp>
      <p:sp>
        <p:nvSpPr>
          <p:cNvPr id="10" name="Complete output">
            <a:extLst xmlns:a="http://schemas.openxmlformats.org/drawingml/2006/main">
              <a:ext uri="{FF2B5EF4-FFF2-40B4-BE49-F238E27FC236}">
                <a16:creationId xmlns:a16="http://schemas.microsoft.com/office/drawing/2014/main" id="{DE4D4C29-2D4F-4E92-A6EB-BEFC7D6FEEED}"/>
              </a:ext>
            </a:extLst>
          </p:cNvPr>
          <p:cNvSpPr>
            <a:spLocks xmlns:a="http://schemas.openxmlformats.org/drawingml/2006/main" noGrp="1"/>
          </p:cNvSpPr>
          <p:nvPr/>
        </p:nvSpPr>
        <p:spPr>
          <a:xfrm xmlns:a="http://schemas.openxmlformats.org/drawingml/2006/main">
            <a:off x="6477000" y="56864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65F54"/>
                </a:solidFill>
                <a:latin typeface="Open Sans"/>
                <a:ea typeface="Open Sans"/>
                <a:cs typeface="Open Sans"/>
              </a:defRPr>
            </a:pPr>
            <a:r>
              <a:rPr sz="1650" b="1">
                <a:solidFill>
                  <a:srgbClr val="865F54"/>
                </a:solidFill>
                <a:latin typeface="Open Sans"/>
                <a:ea typeface="Open Sans"/>
                <a:cs typeface="Open Sans"/>
              </a:rPr>
              <a:t>Complete request: pass the analysis to decision support.</a:t>
            </a:r>
          </a:p>
        </p:txBody>
      </p:sp>
    </p:spTree>
    <p:extLst>
      <p:ext uri="{BB962C8B-B14F-4D97-AF65-F5344CB8AC3E}">
        <p14:creationId xmlns:p14="http://schemas.microsoft.com/office/powerpoint/2010/main" val="263825400"/>
      </p:ext>
    </p:extLst>
  </p:cSld>
</p:sld>
</file>

<file path=ppt/slides/slide7.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8D1A817C-16D9-42FF-A90C-B688C84B2F77}"/>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Decision Support Layer</a:t>
            </a:r>
          </a:p>
        </p:txBody>
      </p:sp>
      <p:sp>
        <p:nvSpPr>
          <p:cNvPr id="2" name="Purpose">
            <a:extLst xmlns:a="http://schemas.openxmlformats.org/drawingml/2006/main">
              <a:ext uri="{FF2B5EF4-FFF2-40B4-BE49-F238E27FC236}">
                <a16:creationId xmlns:a16="http://schemas.microsoft.com/office/drawing/2014/main" id="{B5600FC7-A5A3-4A61-9DD9-83F31183A4FE}"/>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Auto-approval requires every condition below; other cases follow review routing</a:t>
            </a:r>
          </a:p>
        </p:txBody>
      </p:sp>
      <p:sp>
        <p:nvSpPr>
          <p:cNvPr id="3" name="Auto heading">
            <a:extLst xmlns:a="http://schemas.openxmlformats.org/drawingml/2006/main">
              <a:ext uri="{FF2B5EF4-FFF2-40B4-BE49-F238E27FC236}">
                <a16:creationId xmlns:a16="http://schemas.microsoft.com/office/drawing/2014/main" id="{AFF40710-BBC6-4A25-BE0F-3129028D47AF}"/>
              </a:ext>
            </a:extLst>
          </p:cNvPr>
          <p:cNvSpPr>
            <a:spLocks xmlns:a="http://schemas.openxmlformats.org/drawingml/2006/main" noGrp="1"/>
          </p:cNvSpPr>
          <p:nvPr/>
        </p:nvSpPr>
        <p:spPr>
          <a:xfrm xmlns:a="http://schemas.openxmlformats.org/drawingml/2006/main">
            <a:off x="666750" y="1905000"/>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443829"/>
                </a:solidFill>
                <a:latin typeface="Open Sans"/>
                <a:ea typeface="Open Sans"/>
                <a:cs typeface="Open Sans"/>
              </a:defRPr>
            </a:pPr>
            <a:r>
              <a:rPr sz="2175" b="1">
                <a:solidFill>
                  <a:srgbClr val="443829"/>
                </a:solidFill>
                <a:latin typeface="Open Sans"/>
                <a:ea typeface="Open Sans"/>
                <a:cs typeface="Open Sans"/>
              </a:rPr>
              <a:t>Auto-approval requirements</a:t>
            </a:r>
          </a:p>
        </p:txBody>
      </p:sp>
      <p:sp>
        <p:nvSpPr>
          <p:cNvPr id="4" name="Checklist">
            <a:extLst xmlns:a="http://schemas.openxmlformats.org/drawingml/2006/main">
              <a:ext uri="{FF2B5EF4-FFF2-40B4-BE49-F238E27FC236}">
                <a16:creationId xmlns:a16="http://schemas.microsoft.com/office/drawing/2014/main" id="{6014484B-316F-4426-81F4-E839492DFE96}"/>
              </a:ext>
            </a:extLst>
          </p:cNvPr>
          <p:cNvSpPr>
            <a:spLocks xmlns:a="http://schemas.openxmlformats.org/drawingml/2006/main" noGrp="1"/>
          </p:cNvSpPr>
          <p:nvPr/>
        </p:nvSpPr>
        <p:spPr>
          <a:xfrm xmlns:a="http://schemas.openxmlformats.org/drawingml/2006/main">
            <a:off x="666750" y="2524125"/>
            <a:ext cx="63341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43829"/>
                </a:solidFill>
                <a:latin typeface="Open Sans"/>
                <a:ea typeface="Open Sans"/>
                <a:cs typeface="Open Sans"/>
              </a:defRPr>
            </a:pPr>
            <a:r>
              <a:rPr sz="1800" b="0">
                <a:solidFill>
                  <a:srgbClr val="443829"/>
                </a:solidFill>
                <a:latin typeface="Open Sans"/>
                <a:ea typeface="Open Sans"/>
                <a:cs typeface="Open Sans"/>
              </a:rPr>
              <a:t>1. Request passes completeness checks.</a:t>
            </a:r>
          </a:p>
          <a:p xmlns:a="http://schemas.openxmlformats.org/drawingml/2006/main">
            <a:pPr>
              <a:defRPr sz="1800" b="0">
                <a:solidFill>
                  <a:srgbClr val="443829"/>
                </a:solidFill>
                <a:latin typeface="Open Sans"/>
                <a:ea typeface="Open Sans"/>
                <a:cs typeface="Open Sans"/>
              </a:defRPr>
            </a:pPr>
            <a:r>
              <a:rPr sz="1800" b="0">
                <a:solidFill>
                  <a:srgbClr val="443829"/>
                </a:solidFill>
                <a:latin typeface="Open Sans"/>
                <a:ea typeface="Open Sans"/>
                <a:cs typeface="Open Sans"/>
              </a:rPr>
              <a:t>2. Matched policy permits auto-approval</a:t>
            </a:r>
          </a:p>
          <a:p xmlns:a="http://schemas.openxmlformats.org/drawingml/2006/main">
            <a:pPr>
              <a:defRPr sz="1800" b="0">
                <a:solidFill>
                  <a:srgbClr val="443829"/>
                </a:solidFill>
                <a:latin typeface="Open Sans"/>
                <a:ea typeface="Open Sans"/>
                <a:cs typeface="Open Sans"/>
              </a:defRPr>
            </a:pPr>
            <a:r>
              <a:rPr sz="1800" b="0">
                <a:solidFill>
                  <a:srgbClr val="443829"/>
                </a:solidFill>
                <a:latin typeface="Open Sans"/>
                <a:ea typeface="Open Sans"/>
                <a:cs typeface="Open Sans"/>
              </a:rPr>
              <a:t>    and is marked low-cost.</a:t>
            </a:r>
          </a:p>
          <a:p xmlns:a="http://schemas.openxmlformats.org/drawingml/2006/main">
            <a:pPr>
              <a:defRPr sz="1800" b="0">
                <a:solidFill>
                  <a:srgbClr val="443829"/>
                </a:solidFill>
                <a:latin typeface="Open Sans"/>
                <a:ea typeface="Open Sans"/>
                <a:cs typeface="Open Sans"/>
              </a:defRPr>
            </a:pPr>
            <a:r>
              <a:rPr sz="1800" b="0">
                <a:solidFill>
                  <a:srgbClr val="443829"/>
                </a:solidFill>
                <a:latin typeface="Open Sans"/>
                <a:ea typeface="Open Sans"/>
                <a:cs typeface="Open Sans"/>
              </a:rPr>
              <a:t>3. AI recommends likely approval.</a:t>
            </a:r>
          </a:p>
          <a:p xmlns:a="http://schemas.openxmlformats.org/drawingml/2006/main">
            <a:pPr>
              <a:defRPr sz="1800" b="0">
                <a:solidFill>
                  <a:srgbClr val="443829"/>
                </a:solidFill>
                <a:latin typeface="Open Sans"/>
                <a:ea typeface="Open Sans"/>
                <a:cs typeface="Open Sans"/>
              </a:defRPr>
            </a:pPr>
            <a:r>
              <a:rPr sz="1800" b="0">
                <a:solidFill>
                  <a:srgbClr val="443829"/>
                </a:solidFill>
                <a:latin typeface="Open Sans"/>
                <a:ea typeface="Open Sans"/>
                <a:cs typeface="Open Sans"/>
              </a:rPr>
              <a:t>4. Model-reported confidence is at least 95%.</a:t>
            </a:r>
          </a:p>
          <a:p xmlns:a="http://schemas.openxmlformats.org/drawingml/2006/main">
            <a:pPr>
              <a:defRPr sz="1800" b="0">
                <a:solidFill>
                  <a:srgbClr val="443829"/>
                </a:solidFill>
                <a:latin typeface="Open Sans"/>
                <a:ea typeface="Open Sans"/>
                <a:cs typeface="Open Sans"/>
              </a:defRPr>
            </a:pPr>
            <a:r>
              <a:rPr sz="1800" b="0">
                <a:solidFill>
                  <a:srgbClr val="443829"/>
                </a:solidFill>
                <a:latin typeface="Open Sans"/>
                <a:ea typeface="Open Sans"/>
                <a:cs typeface="Open Sans"/>
              </a:rPr>
              <a:t>5. No unmet criteria and no risk flags.</a:t>
            </a:r>
          </a:p>
        </p:txBody>
      </p:sp>
      <p:sp>
        <p:nvSpPr>
          <p:cNvPr id="5" name="Confidence caveat">
            <a:extLst xmlns:a="http://schemas.openxmlformats.org/drawingml/2006/main">
              <a:ext uri="{FF2B5EF4-FFF2-40B4-BE49-F238E27FC236}">
                <a16:creationId xmlns:a16="http://schemas.microsoft.com/office/drawing/2014/main" id="{1322C3BC-ED81-45B3-96E0-7C239A96A5F0}"/>
              </a:ext>
            </a:extLst>
          </p:cNvPr>
          <p:cNvSpPr>
            <a:spLocks xmlns:a="http://schemas.openxmlformats.org/drawingml/2006/main" noGrp="1"/>
          </p:cNvSpPr>
          <p:nvPr/>
        </p:nvSpPr>
        <p:spPr>
          <a:xfrm xmlns:a="http://schemas.openxmlformats.org/drawingml/2006/main">
            <a:off x="666750" y="509587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65F54"/>
                </a:solidFill>
                <a:latin typeface="Open Sans"/>
                <a:ea typeface="Open Sans"/>
                <a:cs typeface="Open Sans"/>
              </a:defRPr>
            </a:pPr>
            <a:r>
              <a:rPr sz="1725" b="1">
                <a:solidFill>
                  <a:srgbClr val="865F54"/>
                </a:solidFill>
                <a:latin typeface="Open Sans"/>
                <a:ea typeface="Open Sans"/>
                <a:cs typeface="Open Sans"/>
              </a:rPr>
              <a:t>95% is reported confidence, not measured accuracy.</a:t>
            </a:r>
          </a:p>
        </p:txBody>
      </p:sp>
      <p:sp>
        <p:nvSpPr>
          <p:cNvPr id="6" name="Outcome">
            <a:extLst xmlns:a="http://schemas.openxmlformats.org/drawingml/2006/main">
              <a:ext uri="{FF2B5EF4-FFF2-40B4-BE49-F238E27FC236}">
                <a16:creationId xmlns:a16="http://schemas.microsoft.com/office/drawing/2014/main" id="{87F2914A-FDB9-4B1C-9A79-31B09835411D}"/>
              </a:ext>
            </a:extLst>
          </p:cNvPr>
          <p:cNvSpPr>
            <a:spLocks xmlns:a="http://schemas.openxmlformats.org/drawingml/2006/main" noGrp="1"/>
          </p:cNvSpPr>
          <p:nvPr/>
        </p:nvSpPr>
        <p:spPr>
          <a:xfrm xmlns:a="http://schemas.openxmlformats.org/drawingml/2006/main">
            <a:off x="666750" y="5905500"/>
            <a:ext cx="619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43829"/>
                </a:solidFill>
                <a:latin typeface="Open Sans"/>
                <a:ea typeface="Open Sans"/>
                <a:cs typeface="Open Sans"/>
              </a:defRPr>
            </a:pPr>
            <a:r>
              <a:rPr sz="1575" b="0">
                <a:solidFill>
                  <a:srgbClr val="443829"/>
                </a:solidFill>
                <a:latin typeface="Open Sans"/>
                <a:ea typeface="Open Sans"/>
                <a:cs typeface="Open Sans"/>
              </a:rPr>
              <a:t>When eligible: approve without nurse action.</a:t>
            </a:r>
          </a:p>
          <a:p xmlns:a="http://schemas.openxmlformats.org/drawingml/2006/main">
            <a:pPr>
              <a:defRPr sz="1575" b="0">
                <a:solidFill>
                  <a:srgbClr val="443829"/>
                </a:solidFill>
                <a:latin typeface="Open Sans"/>
                <a:ea typeface="Open Sans"/>
                <a:cs typeface="Open Sans"/>
              </a:defRPr>
            </a:pPr>
            <a:r>
              <a:rPr sz="1575" b="0">
                <a:solidFill>
                  <a:srgbClr val="443829"/>
                </a:solidFill>
                <a:latin typeface="Open Sans"/>
                <a:ea typeface="Open Sans"/>
                <a:cs typeface="Open Sans"/>
              </a:rPr>
              <a:t>Configured turnaround target: 1 hour.</a:t>
            </a:r>
          </a:p>
        </p:txBody>
      </p:sp>
      <p:sp>
        <p:nvSpPr>
          <p:cNvPr id="7" name="Routing heading">
            <a:extLst xmlns:a="http://schemas.openxmlformats.org/drawingml/2006/main">
              <a:ext uri="{FF2B5EF4-FFF2-40B4-BE49-F238E27FC236}">
                <a16:creationId xmlns:a16="http://schemas.microsoft.com/office/drawing/2014/main" id="{E9AC7B23-6625-4216-A1BA-6F21C759B78A}"/>
              </a:ext>
            </a:extLst>
          </p:cNvPr>
          <p:cNvSpPr>
            <a:spLocks xmlns:a="http://schemas.openxmlformats.org/drawingml/2006/main" noGrp="1"/>
          </p:cNvSpPr>
          <p:nvPr/>
        </p:nvSpPr>
        <p:spPr>
          <a:xfrm xmlns:a="http://schemas.openxmlformats.org/drawingml/2006/main">
            <a:off x="7477125" y="1905000"/>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Other routing and nurse review</a:t>
            </a:r>
          </a:p>
        </p:txBody>
      </p:sp>
      <p:sp>
        <p:nvSpPr>
          <p:cNvPr id="8" name="Routing rules">
            <a:extLst xmlns:a="http://schemas.openxmlformats.org/drawingml/2006/main">
              <a:ext uri="{FF2B5EF4-FFF2-40B4-BE49-F238E27FC236}">
                <a16:creationId xmlns:a16="http://schemas.microsoft.com/office/drawing/2014/main" id="{74226B1B-C894-4EBE-AF5E-03EF81042122}"/>
              </a:ext>
            </a:extLst>
          </p:cNvPr>
          <p:cNvSpPr>
            <a:spLocks xmlns:a="http://schemas.openxmlformats.org/drawingml/2006/main" noGrp="1"/>
          </p:cNvSpPr>
          <p:nvPr/>
        </p:nvSpPr>
        <p:spPr>
          <a:xfrm xmlns:a="http://schemas.openxmlformats.org/drawingml/2006/main">
            <a:off x="7477125" y="2762250"/>
            <a:ext cx="40481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43829"/>
                </a:solidFill>
                <a:latin typeface="Open Sans"/>
                <a:ea typeface="Open Sans"/>
                <a:cs typeface="Open Sans"/>
              </a:defRPr>
            </a:pPr>
            <a:r>
              <a:rPr sz="1575" b="0">
                <a:solidFill>
                  <a:srgbClr val="443829"/>
                </a:solidFill>
                <a:latin typeface="Open Sans"/>
                <a:ea typeface="Open Sans"/>
                <a:cs typeface="Open Sans"/>
              </a:rPr>
              <a:t>Urgent / STAT takes priority: 4-hour target.</a:t>
            </a:r>
          </a:p>
          <a:p xmlns:a="http://schemas.openxmlformats.org/drawingml/2006/main">
            <a:r>
              <a:t/>
            </a:r>
          </a:p>
          <a:p xmlns:a="http://schemas.openxmlformats.org/drawingml/2006/main">
            <a:pPr>
              <a:defRPr sz="1575" b="0">
                <a:solidFill>
                  <a:srgbClr val="443829"/>
                </a:solidFill>
                <a:latin typeface="Open Sans"/>
                <a:ea typeface="Open Sans"/>
                <a:cs typeface="Open Sans"/>
              </a:defRPr>
            </a:pPr>
            <a:r>
              <a:rPr sz="1575" b="0">
                <a:solidFill>
                  <a:srgbClr val="443829"/>
                </a:solidFill>
                <a:latin typeface="Open Sans"/>
                <a:ea typeface="Open Sans"/>
                <a:cs typeface="Open Sans"/>
              </a:rPr>
              <a:t>Fast-track: confidence ≥75%, at most one unmet criterion, no risk flags, and likely-approve or needs-review recommendation. 8-hour target.</a:t>
            </a:r>
          </a:p>
          <a:p xmlns:a="http://schemas.openxmlformats.org/drawingml/2006/main">
            <a:r>
              <a:t/>
            </a:r>
          </a:p>
          <a:p xmlns:a="http://schemas.openxmlformats.org/drawingml/2006/main">
            <a:pPr>
              <a:defRPr sz="1575" b="0">
                <a:solidFill>
                  <a:srgbClr val="443829"/>
                </a:solidFill>
                <a:latin typeface="Open Sans"/>
                <a:ea typeface="Open Sans"/>
                <a:cs typeface="Open Sans"/>
              </a:defRPr>
            </a:pPr>
            <a:r>
              <a:rPr sz="1575" b="0">
                <a:solidFill>
                  <a:srgbClr val="443829"/>
                </a:solidFill>
                <a:latin typeface="Open Sans"/>
                <a:ea typeface="Open Sans"/>
                <a:cs typeface="Open Sans"/>
              </a:rPr>
              <a:t>Other complete cases: standard review, 24-hour target.</a:t>
            </a:r>
          </a:p>
        </p:txBody>
      </p:sp>
      <p:sp>
        <p:nvSpPr>
          <p:cNvPr id="9" name="Nurse actions">
            <a:extLst xmlns:a="http://schemas.openxmlformats.org/drawingml/2006/main">
              <a:ext uri="{FF2B5EF4-FFF2-40B4-BE49-F238E27FC236}">
                <a16:creationId xmlns:a16="http://schemas.microsoft.com/office/drawing/2014/main" id="{622577D7-7E31-4EF2-9898-1B1F3AB21F92}"/>
              </a:ext>
            </a:extLst>
          </p:cNvPr>
          <p:cNvSpPr>
            <a:spLocks xmlns:a="http://schemas.openxmlformats.org/drawingml/2006/main" noGrp="1"/>
          </p:cNvSpPr>
          <p:nvPr/>
        </p:nvSpPr>
        <p:spPr>
          <a:xfrm xmlns:a="http://schemas.openxmlformats.org/drawingml/2006/main">
            <a:off x="7477125" y="5667375"/>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443829"/>
                </a:solidFill>
                <a:latin typeface="Open Sans"/>
                <a:ea typeface="Open Sans"/>
                <a:cs typeface="Open Sans"/>
              </a:defRPr>
            </a:pPr>
            <a:r>
              <a:rPr sz="1650" b="1">
                <a:solidFill>
                  <a:srgbClr val="443829"/>
                </a:solidFill>
                <a:latin typeface="Open Sans"/>
                <a:ea typeface="Open Sans"/>
                <a:cs typeface="Open Sans"/>
              </a:rPr>
              <a:t>Nurses review evidence, then approve, deny, or request more information.</a:t>
            </a:r>
          </a:p>
        </p:txBody>
      </p:sp>
    </p:spTree>
    <p:extLst>
      <p:ext uri="{BB962C8B-B14F-4D97-AF65-F5344CB8AC3E}">
        <p14:creationId xmlns:p14="http://schemas.microsoft.com/office/powerpoint/2010/main" val="938600659"/>
      </p:ext>
    </p:extLst>
  </p:cSld>
</p:sld>
</file>

<file path=ppt/slides/slide8.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EC0DDC09-E4F6-4358-866A-7285CFDC054C}"/>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Communication Layer</a:t>
            </a:r>
          </a:p>
        </p:txBody>
      </p:sp>
      <p:sp>
        <p:nvSpPr>
          <p:cNvPr id="2" name="Purpose">
            <a:extLst xmlns:a="http://schemas.openxmlformats.org/drawingml/2006/main">
              <a:ext uri="{FF2B5EF4-FFF2-40B4-BE49-F238E27FC236}">
                <a16:creationId xmlns:a16="http://schemas.microsoft.com/office/drawing/2014/main" id="{1ACCE002-17B3-4D77-A6C9-F6416A6B8DA7}"/>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Gives providers request status, specific next steps, and decision letters</a:t>
            </a:r>
          </a:p>
        </p:txBody>
      </p:sp>
      <p:sp>
        <p:nvSpPr>
          <p:cNvPr id="3" name="Provider heading">
            <a:extLst xmlns:a="http://schemas.openxmlformats.org/drawingml/2006/main">
              <a:ext uri="{FF2B5EF4-FFF2-40B4-BE49-F238E27FC236}">
                <a16:creationId xmlns:a16="http://schemas.microsoft.com/office/drawing/2014/main" id="{684E33EA-35CF-4BDA-BBC9-0D563213900C}"/>
              </a:ext>
            </a:extLst>
          </p:cNvPr>
          <p:cNvSpPr>
            <a:spLocks xmlns:a="http://schemas.openxmlformats.org/drawingml/2006/main" noGrp="1"/>
          </p:cNvSpPr>
          <p:nvPr/>
        </p:nvSpPr>
        <p:spPr>
          <a:xfrm xmlns:a="http://schemas.openxmlformats.org/drawingml/2006/main">
            <a:off x="666750" y="1952625"/>
            <a:ext cx="5000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Provider portal</a:t>
            </a:r>
          </a:p>
        </p:txBody>
      </p:sp>
      <p:sp>
        <p:nvSpPr>
          <p:cNvPr id="4" name="Provider description">
            <a:extLst xmlns:a="http://schemas.openxmlformats.org/drawingml/2006/main">
              <a:ext uri="{FF2B5EF4-FFF2-40B4-BE49-F238E27FC236}">
                <a16:creationId xmlns:a16="http://schemas.microsoft.com/office/drawing/2014/main" id="{BF603D14-6963-4988-AEB6-87295EE007B0}"/>
              </a:ext>
            </a:extLst>
          </p:cNvPr>
          <p:cNvSpPr>
            <a:spLocks xmlns:a="http://schemas.openxmlformats.org/drawingml/2006/main" noGrp="1"/>
          </p:cNvSpPr>
          <p:nvPr/>
        </p:nvSpPr>
        <p:spPr>
          <a:xfrm xmlns:a="http://schemas.openxmlformats.org/drawingml/2006/main">
            <a:off x="666750" y="2514600"/>
            <a:ext cx="5000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Providers and their staff select a request to see its status and assigned pathway.</a:t>
            </a:r>
          </a:p>
        </p:txBody>
      </p:sp>
      <p:sp>
        <p:nvSpPr>
          <p:cNvPr id="5" name="Provider features">
            <a:extLst xmlns:a="http://schemas.openxmlformats.org/drawingml/2006/main">
              <a:ext uri="{FF2B5EF4-FFF2-40B4-BE49-F238E27FC236}">
                <a16:creationId xmlns:a16="http://schemas.microsoft.com/office/drawing/2014/main" id="{32BBCFC6-2D6A-4F9A-8956-2B2A5CF2D378}"/>
              </a:ext>
            </a:extLst>
          </p:cNvPr>
          <p:cNvSpPr>
            <a:spLocks xmlns:a="http://schemas.openxmlformats.org/drawingml/2006/main" noGrp="1"/>
          </p:cNvSpPr>
          <p:nvPr/>
        </p:nvSpPr>
        <p:spPr>
          <a:xfrm xmlns:a="http://schemas.openxmlformats.org/drawingml/2006/main">
            <a:off x="666750" y="3914775"/>
            <a:ext cx="5000625"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Missing-information letter</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Additional notes for re-validation</a:t>
            </a:r>
          </a:p>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Decision letter download</a:t>
            </a:r>
          </a:p>
        </p:txBody>
      </p:sp>
      <p:sp>
        <p:nvSpPr>
          <p:cNvPr id="6" name="Estimate">
            <a:extLst xmlns:a="http://schemas.openxmlformats.org/drawingml/2006/main">
              <a:ext uri="{FF2B5EF4-FFF2-40B4-BE49-F238E27FC236}">
                <a16:creationId xmlns:a16="http://schemas.microsoft.com/office/drawing/2014/main" id="{0B4E97BC-8C1B-438C-AB6E-BD79BA0DC6B9}"/>
              </a:ext>
            </a:extLst>
          </p:cNvPr>
          <p:cNvSpPr>
            <a:spLocks xmlns:a="http://schemas.openxmlformats.org/drawingml/2006/main" noGrp="1"/>
          </p:cNvSpPr>
          <p:nvPr/>
        </p:nvSpPr>
        <p:spPr>
          <a:xfrm xmlns:a="http://schemas.openxmlformats.org/drawingml/2006/main">
            <a:off x="666750" y="5610225"/>
            <a:ext cx="5000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C6054"/>
                </a:solidFill>
                <a:latin typeface="Open Sans"/>
                <a:ea typeface="Open Sans"/>
                <a:cs typeface="Open Sans"/>
              </a:defRPr>
            </a:pPr>
            <a:r>
              <a:rPr sz="1650" b="0">
                <a:solidFill>
                  <a:srgbClr val="6C6054"/>
                </a:solidFill>
                <a:latin typeface="Open Sans"/>
                <a:ea typeface="Open Sans"/>
                <a:cs typeface="Open Sans"/>
              </a:rPr>
              <a:t>Estimated decision time uses submission time plus the pathway target.</a:t>
            </a:r>
          </a:p>
        </p:txBody>
      </p:sp>
      <p:sp>
        <p:nvSpPr>
          <p:cNvPr id="7" name="Example heading">
            <a:extLst xmlns:a="http://schemas.openxmlformats.org/drawingml/2006/main">
              <a:ext uri="{FF2B5EF4-FFF2-40B4-BE49-F238E27FC236}">
                <a16:creationId xmlns:a16="http://schemas.microsoft.com/office/drawing/2014/main" id="{D845C674-9334-49AF-9B9E-B3A18FAA389C}"/>
              </a:ext>
            </a:extLst>
          </p:cNvPr>
          <p:cNvSpPr>
            <a:spLocks xmlns:a="http://schemas.openxmlformats.org/drawingml/2006/main" noGrp="1"/>
          </p:cNvSpPr>
          <p:nvPr/>
        </p:nvSpPr>
        <p:spPr>
          <a:xfrm xmlns:a="http://schemas.openxmlformats.org/drawingml/2006/main">
            <a:off x="6477000" y="1952625"/>
            <a:ext cx="5048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443829"/>
                </a:solidFill>
                <a:latin typeface="Open Sans"/>
                <a:ea typeface="Open Sans"/>
                <a:cs typeface="Open Sans"/>
              </a:defRPr>
            </a:pPr>
            <a:r>
              <a:rPr sz="2100" b="1">
                <a:solidFill>
                  <a:srgbClr val="443829"/>
                </a:solidFill>
                <a:latin typeface="Open Sans"/>
                <a:ea typeface="Open Sans"/>
                <a:cs typeface="Open Sans"/>
              </a:rPr>
              <a:t>Example: incomplete MRI request</a:t>
            </a:r>
          </a:p>
        </p:txBody>
      </p:sp>
      <p:sp>
        <p:nvSpPr>
          <p:cNvPr id="8" name="Example step one">
            <a:extLst xmlns:a="http://schemas.openxmlformats.org/drawingml/2006/main">
              <a:ext uri="{FF2B5EF4-FFF2-40B4-BE49-F238E27FC236}">
                <a16:creationId xmlns:a16="http://schemas.microsoft.com/office/drawing/2014/main" id="{A12C0B92-A1F9-4BCB-B697-41D39CA89C78}"/>
              </a:ext>
            </a:extLst>
          </p:cNvPr>
          <p:cNvSpPr>
            <a:spLocks xmlns:a="http://schemas.openxmlformats.org/drawingml/2006/main" noGrp="1"/>
          </p:cNvSpPr>
          <p:nvPr/>
        </p:nvSpPr>
        <p:spPr>
          <a:xfrm xmlns:a="http://schemas.openxmlformats.org/drawingml/2006/main">
            <a:off x="6477000" y="2819400"/>
            <a:ext cx="5048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The letter identifies missing patient details and treatment documentation.</a:t>
            </a:r>
          </a:p>
        </p:txBody>
      </p:sp>
      <p:sp>
        <p:nvSpPr>
          <p:cNvPr id="9" name="Example step two">
            <a:extLst xmlns:a="http://schemas.openxmlformats.org/drawingml/2006/main">
              <a:ext uri="{FF2B5EF4-FFF2-40B4-BE49-F238E27FC236}">
                <a16:creationId xmlns:a16="http://schemas.microsoft.com/office/drawing/2014/main" id="{4DB3DC71-239F-475D-B243-9D5834E9FD40}"/>
              </a:ext>
            </a:extLst>
          </p:cNvPr>
          <p:cNvSpPr>
            <a:spLocks xmlns:a="http://schemas.openxmlformats.org/drawingml/2006/main" noGrp="1"/>
          </p:cNvSpPr>
          <p:nvPr/>
        </p:nvSpPr>
        <p:spPr>
          <a:xfrm xmlns:a="http://schemas.openxmlformats.org/drawingml/2006/main">
            <a:off x="6477000" y="39147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Provider enters the additional information. The same pipeline checks the updated request again.</a:t>
            </a:r>
          </a:p>
        </p:txBody>
      </p:sp>
      <p:sp>
        <p:nvSpPr>
          <p:cNvPr id="10" name="Example result">
            <a:extLst xmlns:a="http://schemas.openxmlformats.org/drawingml/2006/main">
              <a:ext uri="{FF2B5EF4-FFF2-40B4-BE49-F238E27FC236}">
                <a16:creationId xmlns:a16="http://schemas.microsoft.com/office/drawing/2014/main" id="{F85CD24C-5E5F-403D-848C-D44906BEC910}"/>
              </a:ext>
            </a:extLst>
          </p:cNvPr>
          <p:cNvSpPr>
            <a:spLocks xmlns:a="http://schemas.openxmlformats.org/drawingml/2006/main" noGrp="1"/>
          </p:cNvSpPr>
          <p:nvPr/>
        </p:nvSpPr>
        <p:spPr>
          <a:xfrm xmlns:a="http://schemas.openxmlformats.org/drawingml/2006/main">
            <a:off x="6477000" y="53054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43829"/>
                </a:solidFill>
                <a:latin typeface="Open Sans"/>
                <a:ea typeface="Open Sans"/>
                <a:cs typeface="Open Sans"/>
              </a:defRPr>
            </a:pPr>
            <a:r>
              <a:rPr sz="1875" b="0">
                <a:solidFill>
                  <a:srgbClr val="443829"/>
                </a:solidFill>
                <a:latin typeface="Open Sans"/>
                <a:ea typeface="Open Sans"/>
                <a:cs typeface="Open Sans"/>
              </a:rPr>
              <a:t>The portal shows the updated status. Audit events record processing and decisions.</a:t>
            </a:r>
          </a:p>
        </p:txBody>
      </p:sp>
    </p:spTree>
    <p:extLst>
      <p:ext uri="{BB962C8B-B14F-4D97-AF65-F5344CB8AC3E}">
        <p14:creationId xmlns:p14="http://schemas.microsoft.com/office/powerpoint/2010/main" val="415185086"/>
      </p:ext>
    </p:extLst>
  </p:cSld>
</p:sld>
</file>

<file path=ppt/slides/slide9.xml><?xml version="1.0" encoding="utf-8"?>
<p:sld xmlns:p="http://schemas.openxmlformats.org/presentationml/2006/main">
  <p:cSld>
    <p:bg>
      <p:bgPr>
        <a:solidFill xmlns:a="http://schemas.openxmlformats.org/drawingml/2006/main">
          <a:srgbClr val="FFFCFA"/>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C64402CD-3D9A-4189-8C03-940653C2254B}"/>
              </a:ext>
            </a:extLst>
          </p:cNvPr>
          <p:cNvSpPr>
            <a:spLocks xmlns:a="http://schemas.openxmlformats.org/drawingml/2006/main" noGrp="1"/>
          </p:cNvSpPr>
          <p:nvPr/>
        </p:nvSpPr>
        <p:spPr>
          <a:xfrm xmlns:a="http://schemas.openxmlformats.org/drawingml/2006/main">
            <a:off x="647700" y="4286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443829"/>
                </a:solidFill>
                <a:latin typeface="Open Sans"/>
                <a:ea typeface="Open Sans"/>
                <a:cs typeface="Open Sans"/>
              </a:defRPr>
            </a:pPr>
            <a:r>
              <a:rPr sz="3150" b="1">
                <a:solidFill>
                  <a:srgbClr val="443829"/>
                </a:solidFill>
                <a:latin typeface="Open Sans"/>
                <a:ea typeface="Open Sans"/>
                <a:cs typeface="Open Sans"/>
              </a:rPr>
              <a:t>Proposed Azure Implementation Roadmap</a:t>
            </a:r>
          </a:p>
        </p:txBody>
      </p:sp>
      <p:sp>
        <p:nvSpPr>
          <p:cNvPr id="2" name="Purpose">
            <a:extLst xmlns:a="http://schemas.openxmlformats.org/drawingml/2006/main">
              <a:ext uri="{FF2B5EF4-FFF2-40B4-BE49-F238E27FC236}">
                <a16:creationId xmlns:a16="http://schemas.microsoft.com/office/drawing/2014/main" id="{33E32AB1-145E-4A69-852F-07F9C420778E}"/>
              </a:ext>
            </a:extLst>
          </p:cNvPr>
          <p:cNvSpPr>
            <a:spLocks xmlns:a="http://schemas.openxmlformats.org/drawingml/2006/main" noGrp="1"/>
          </p:cNvSpPr>
          <p:nvPr/>
        </p:nvSpPr>
        <p:spPr>
          <a:xfrm xmlns:a="http://schemas.openxmlformats.org/drawingml/2006/main">
            <a:off x="666750" y="1095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C6054"/>
                </a:solidFill>
                <a:latin typeface="Open Sans"/>
                <a:ea typeface="Open Sans"/>
                <a:cs typeface="Open Sans"/>
              </a:defRPr>
            </a:pPr>
            <a:r>
              <a:rPr sz="1725" b="0">
                <a:solidFill>
                  <a:srgbClr val="6C6054"/>
                </a:solidFill>
                <a:latin typeface="Open Sans"/>
                <a:ea typeface="Open Sans"/>
                <a:cs typeface="Open Sans"/>
              </a:rPr>
              <a:t>Indicative nine-month plan; advance through validation gates, not promised performance gains</a:t>
            </a:r>
          </a:p>
        </p:txBody>
      </p:sp>
      <p:sp>
        <p:nvSpPr>
          <p:cNvPr id="3" name="1. Foundation">
            <a:extLst xmlns:a="http://schemas.openxmlformats.org/drawingml/2006/main">
              <a:ext uri="{FF2B5EF4-FFF2-40B4-BE49-F238E27FC236}">
                <a16:creationId xmlns:a16="http://schemas.microsoft.com/office/drawing/2014/main" id="{393AAD04-88D0-4EF8-BBB3-C8D4ED1D7BB4}"/>
              </a:ext>
            </a:extLst>
          </p:cNvPr>
          <p:cNvSpPr>
            <a:spLocks xmlns:a="http://schemas.openxmlformats.org/drawingml/2006/main" noGrp="1"/>
          </p:cNvSpPr>
          <p:nvPr/>
        </p:nvSpPr>
        <p:spPr>
          <a:xfrm xmlns:a="http://schemas.openxmlformats.org/drawingml/2006/main">
            <a:off x="666750"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1. Foundation</a:t>
            </a:r>
          </a:p>
        </p:txBody>
      </p:sp>
      <p:sp>
        <p:nvSpPr>
          <p:cNvPr id="4" name="Months 1–3 · Intake pilot">
            <a:extLst xmlns:a="http://schemas.openxmlformats.org/drawingml/2006/main">
              <a:ext uri="{FF2B5EF4-FFF2-40B4-BE49-F238E27FC236}">
                <a16:creationId xmlns:a16="http://schemas.microsoft.com/office/drawing/2014/main" id="{D46E5C48-B35C-46DF-AB34-4B6EC86EF90A}"/>
              </a:ext>
            </a:extLst>
          </p:cNvPr>
          <p:cNvSpPr>
            <a:spLocks xmlns:a="http://schemas.openxmlformats.org/drawingml/2006/main" noGrp="1"/>
          </p:cNvSpPr>
          <p:nvPr/>
        </p:nvSpPr>
        <p:spPr>
          <a:xfrm xmlns:a="http://schemas.openxmlformats.org/drawingml/2006/main">
            <a:off x="666750" y="23431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65F54"/>
                </a:solidFill>
                <a:latin typeface="Open Sans"/>
                <a:ea typeface="Open Sans"/>
                <a:cs typeface="Open Sans"/>
              </a:defRPr>
            </a:pPr>
            <a:r>
              <a:rPr sz="1500" b="1">
                <a:solidFill>
                  <a:srgbClr val="865F54"/>
                </a:solidFill>
                <a:latin typeface="Open Sans"/>
                <a:ea typeface="Open Sans"/>
                <a:cs typeface="Open Sans"/>
              </a:rPr>
              <a:t>Months 1–3 · Intake pilot</a:t>
            </a:r>
          </a:p>
        </p:txBody>
      </p:sp>
      <p:sp>
        <p:nvSpPr>
          <p:cNvPr id="5" name="Work 70">
            <a:extLst xmlns:a="http://schemas.openxmlformats.org/drawingml/2006/main">
              <a:ext uri="{FF2B5EF4-FFF2-40B4-BE49-F238E27FC236}">
                <a16:creationId xmlns:a16="http://schemas.microsoft.com/office/drawing/2014/main" id="{BF164EC6-23BF-4D1E-A263-03C240C0723B}"/>
              </a:ext>
            </a:extLst>
          </p:cNvPr>
          <p:cNvSpPr>
            <a:spLocks xmlns:a="http://schemas.openxmlformats.org/drawingml/2006/main" noGrp="1"/>
          </p:cNvSpPr>
          <p:nvPr/>
        </p:nvSpPr>
        <p:spPr>
          <a:xfrm xmlns:a="http://schemas.openxmlformats.org/drawingml/2006/main">
            <a:off x="666750" y="2828925"/>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Blob Storage: documents.</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Document Intelligence: PDF / image OCR.</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OpenAI: structured extraction.</a:t>
            </a:r>
          </a:p>
          <a:p xmlns:a="http://schemas.openxmlformats.org/drawingml/2006/main">
            <a:r>
              <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App Service + Azure SQL: provider portal, request status and audit data.</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Completeness rules and information-request letters.</a:t>
            </a:r>
          </a:p>
        </p:txBody>
      </p:sp>
      <p:sp>
        <p:nvSpPr>
          <p:cNvPr id="6" name="Gate 70">
            <a:extLst xmlns:a="http://schemas.openxmlformats.org/drawingml/2006/main">
              <a:ext uri="{FF2B5EF4-FFF2-40B4-BE49-F238E27FC236}">
                <a16:creationId xmlns:a16="http://schemas.microsoft.com/office/drawing/2014/main" id="{AABD2E63-3587-4ED8-BBC8-87E4971367FD}"/>
              </a:ext>
            </a:extLst>
          </p:cNvPr>
          <p:cNvSpPr>
            <a:spLocks xmlns:a="http://schemas.openxmlformats.org/drawingml/2006/main" noGrp="1"/>
          </p:cNvSpPr>
          <p:nvPr/>
        </p:nvSpPr>
        <p:spPr>
          <a:xfrm xmlns:a="http://schemas.openxmlformats.org/drawingml/2006/main">
            <a:off x="666750" y="54102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43829"/>
                </a:solidFill>
                <a:latin typeface="Open Sans"/>
                <a:ea typeface="Open Sans"/>
                <a:cs typeface="Open Sans"/>
              </a:defRPr>
            </a:pPr>
            <a:r>
              <a:rPr sz="1425" b="1">
                <a:solidFill>
                  <a:srgbClr val="443829"/>
                </a:solidFill>
                <a:latin typeface="Open Sans"/>
                <a:ea typeface="Open Sans"/>
                <a:cs typeface="Open Sans"/>
              </a:rPr>
              <a:t>Gate: validate field extraction and completeness against reviewed cases.</a:t>
            </a:r>
          </a:p>
        </p:txBody>
      </p:sp>
      <p:sp>
        <p:nvSpPr>
          <p:cNvPr id="7" name="2. Intelligence">
            <a:extLst xmlns:a="http://schemas.openxmlformats.org/drawingml/2006/main">
              <a:ext uri="{FF2B5EF4-FFF2-40B4-BE49-F238E27FC236}">
                <a16:creationId xmlns:a16="http://schemas.microsoft.com/office/drawing/2014/main" id="{CAD3A876-EC27-4340-987D-54FC53FBFCC3}"/>
              </a:ext>
            </a:extLst>
          </p:cNvPr>
          <p:cNvSpPr>
            <a:spLocks xmlns:a="http://schemas.openxmlformats.org/drawingml/2006/main" noGrp="1"/>
          </p:cNvSpPr>
          <p:nvPr/>
        </p:nvSpPr>
        <p:spPr>
          <a:xfrm xmlns:a="http://schemas.openxmlformats.org/drawingml/2006/main">
            <a:off x="4524375"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2. Intelligence</a:t>
            </a:r>
          </a:p>
        </p:txBody>
      </p:sp>
      <p:sp>
        <p:nvSpPr>
          <p:cNvPr id="8" name="Months 4–6 · Assisted review">
            <a:extLst xmlns:a="http://schemas.openxmlformats.org/drawingml/2006/main">
              <a:ext uri="{FF2B5EF4-FFF2-40B4-BE49-F238E27FC236}">
                <a16:creationId xmlns:a16="http://schemas.microsoft.com/office/drawing/2014/main" id="{4D9DF953-51F8-4191-9F21-012959370FBF}"/>
              </a:ext>
            </a:extLst>
          </p:cNvPr>
          <p:cNvSpPr>
            <a:spLocks xmlns:a="http://schemas.openxmlformats.org/drawingml/2006/main" noGrp="1"/>
          </p:cNvSpPr>
          <p:nvPr/>
        </p:nvSpPr>
        <p:spPr>
          <a:xfrm xmlns:a="http://schemas.openxmlformats.org/drawingml/2006/main">
            <a:off x="4524375" y="23431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65F54"/>
                </a:solidFill>
                <a:latin typeface="Open Sans"/>
                <a:ea typeface="Open Sans"/>
                <a:cs typeface="Open Sans"/>
              </a:defRPr>
            </a:pPr>
            <a:r>
              <a:rPr sz="1500" b="1">
                <a:solidFill>
                  <a:srgbClr val="865F54"/>
                </a:solidFill>
                <a:latin typeface="Open Sans"/>
                <a:ea typeface="Open Sans"/>
                <a:cs typeface="Open Sans"/>
              </a:rPr>
              <a:t>Months 4–6 · Assisted review</a:t>
            </a:r>
          </a:p>
        </p:txBody>
      </p:sp>
      <p:sp>
        <p:nvSpPr>
          <p:cNvPr id="9" name="Work 475">
            <a:extLst xmlns:a="http://schemas.openxmlformats.org/drawingml/2006/main">
              <a:ext uri="{FF2B5EF4-FFF2-40B4-BE49-F238E27FC236}">
                <a16:creationId xmlns:a16="http://schemas.microsoft.com/office/drawing/2014/main" id="{F8F6F79F-82B4-4CE1-B0DF-CD9E202C198B}"/>
              </a:ext>
            </a:extLst>
          </p:cNvPr>
          <p:cNvSpPr>
            <a:spLocks xmlns:a="http://schemas.openxmlformats.org/drawingml/2006/main" noGrp="1"/>
          </p:cNvSpPr>
          <p:nvPr/>
        </p:nvSpPr>
        <p:spPr>
          <a:xfrm xmlns:a="http://schemas.openxmlformats.org/drawingml/2006/main">
            <a:off x="4524375" y="2828925"/>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Classic hybrid RAG in Azure AI Search: BM25 + vector search, then semantic reranking.</a:t>
            </a:r>
          </a:p>
          <a:p xmlns:a="http://schemas.openxmlformats.org/drawingml/2006/main">
            <a:r>
              <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Versioned policy chunks + Azure OpenAI embeddings; filter by plan, procedure and effective date.</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OpenAI: cited policy analysis; nurse review and routing.</a:t>
            </a:r>
          </a:p>
        </p:txBody>
      </p:sp>
      <p:sp>
        <p:nvSpPr>
          <p:cNvPr id="10" name="Gate 475">
            <a:extLst xmlns:a="http://schemas.openxmlformats.org/drawingml/2006/main">
              <a:ext uri="{FF2B5EF4-FFF2-40B4-BE49-F238E27FC236}">
                <a16:creationId xmlns:a16="http://schemas.microsoft.com/office/drawing/2014/main" id="{E14BF14E-6585-49A6-B1EC-07C019E3F65E}"/>
              </a:ext>
            </a:extLst>
          </p:cNvPr>
          <p:cNvSpPr>
            <a:spLocks xmlns:a="http://schemas.openxmlformats.org/drawingml/2006/main" noGrp="1"/>
          </p:cNvSpPr>
          <p:nvPr/>
        </p:nvSpPr>
        <p:spPr>
          <a:xfrm xmlns:a="http://schemas.openxmlformats.org/drawingml/2006/main">
            <a:off x="4524375" y="54102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43829"/>
                </a:solidFill>
                <a:latin typeface="Open Sans"/>
                <a:ea typeface="Open Sans"/>
                <a:cs typeface="Open Sans"/>
              </a:defRPr>
            </a:pPr>
            <a:r>
              <a:rPr sz="1425" b="1">
                <a:solidFill>
                  <a:srgbClr val="443829"/>
                </a:solidFill>
                <a:latin typeface="Open Sans"/>
                <a:ea typeface="Open Sans"/>
                <a:cs typeface="Open Sans"/>
              </a:rPr>
              <a:t>Gate: test policy retrieval, citations and agreement with expert reviews.</a:t>
            </a:r>
          </a:p>
        </p:txBody>
      </p:sp>
      <p:sp>
        <p:nvSpPr>
          <p:cNvPr id="11" name="3. Controlled automation">
            <a:extLst xmlns:a="http://schemas.openxmlformats.org/drawingml/2006/main">
              <a:ext uri="{FF2B5EF4-FFF2-40B4-BE49-F238E27FC236}">
                <a16:creationId xmlns:a16="http://schemas.microsoft.com/office/drawing/2014/main" id="{46649CC9-54FF-4F62-8A08-1BD666E42627}"/>
              </a:ext>
            </a:extLst>
          </p:cNvPr>
          <p:cNvSpPr>
            <a:spLocks xmlns:a="http://schemas.openxmlformats.org/drawingml/2006/main" noGrp="1"/>
          </p:cNvSpPr>
          <p:nvPr/>
        </p:nvSpPr>
        <p:spPr>
          <a:xfrm xmlns:a="http://schemas.openxmlformats.org/drawingml/2006/main">
            <a:off x="8382000" y="18573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443829"/>
                </a:solidFill>
                <a:latin typeface="Open Sans"/>
                <a:ea typeface="Open Sans"/>
                <a:cs typeface="Open Sans"/>
              </a:defRPr>
            </a:pPr>
            <a:r>
              <a:rPr sz="2025" b="1">
                <a:solidFill>
                  <a:srgbClr val="443829"/>
                </a:solidFill>
                <a:latin typeface="Open Sans"/>
                <a:ea typeface="Open Sans"/>
                <a:cs typeface="Open Sans"/>
              </a:rPr>
              <a:t>3. Controlled automation</a:t>
            </a:r>
          </a:p>
        </p:txBody>
      </p:sp>
      <p:sp>
        <p:nvSpPr>
          <p:cNvPr id="12" name="Months 7–9 · Expand pilot">
            <a:extLst xmlns:a="http://schemas.openxmlformats.org/drawingml/2006/main">
              <a:ext uri="{FF2B5EF4-FFF2-40B4-BE49-F238E27FC236}">
                <a16:creationId xmlns:a16="http://schemas.microsoft.com/office/drawing/2014/main" id="{38ECC3CE-404D-4322-B058-1B38F0087E87}"/>
              </a:ext>
            </a:extLst>
          </p:cNvPr>
          <p:cNvSpPr>
            <a:spLocks xmlns:a="http://schemas.openxmlformats.org/drawingml/2006/main" noGrp="1"/>
          </p:cNvSpPr>
          <p:nvPr/>
        </p:nvSpPr>
        <p:spPr>
          <a:xfrm xmlns:a="http://schemas.openxmlformats.org/drawingml/2006/main">
            <a:off x="8382000" y="2343150"/>
            <a:ext cx="333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65F54"/>
                </a:solidFill>
                <a:latin typeface="Open Sans"/>
                <a:ea typeface="Open Sans"/>
                <a:cs typeface="Open Sans"/>
              </a:defRPr>
            </a:pPr>
            <a:r>
              <a:rPr sz="1500" b="1">
                <a:solidFill>
                  <a:srgbClr val="865F54"/>
                </a:solidFill>
                <a:latin typeface="Open Sans"/>
                <a:ea typeface="Open Sans"/>
                <a:cs typeface="Open Sans"/>
              </a:rPr>
              <a:t>Months 7–9 · Expand pilot</a:t>
            </a:r>
          </a:p>
        </p:txBody>
      </p:sp>
      <p:sp>
        <p:nvSpPr>
          <p:cNvPr id="13" name="Work 880">
            <a:extLst xmlns:a="http://schemas.openxmlformats.org/drawingml/2006/main">
              <a:ext uri="{FF2B5EF4-FFF2-40B4-BE49-F238E27FC236}">
                <a16:creationId xmlns:a16="http://schemas.microsoft.com/office/drawing/2014/main" id="{00D641C3-FB7B-4977-A70F-E1440E30C567}"/>
              </a:ext>
            </a:extLst>
          </p:cNvPr>
          <p:cNvSpPr>
            <a:spLocks xmlns:a="http://schemas.openxmlformats.org/drawingml/2006/main" noGrp="1"/>
          </p:cNvSpPr>
          <p:nvPr/>
        </p:nvSpPr>
        <p:spPr>
          <a:xfrm xmlns:a="http://schemas.openxmlformats.org/drawingml/2006/main">
            <a:off x="8382000" y="2828925"/>
            <a:ext cx="3333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Enable eligible auto-approval only after validation; retain nurse escalation and rollback.</a:t>
            </a:r>
          </a:p>
          <a:p xmlns:a="http://schemas.openxmlformats.org/drawingml/2006/main">
            <a:r>
              <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Azure Functions + Service Bus: queued workflows and retries.</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Logic Apps: notification integration.</a:t>
            </a:r>
          </a:p>
          <a:p xmlns:a="http://schemas.openxmlformats.org/drawingml/2006/main">
            <a:pPr>
              <a:defRPr sz="1500" b="0">
                <a:solidFill>
                  <a:srgbClr val="443829"/>
                </a:solidFill>
                <a:latin typeface="Open Sans"/>
                <a:ea typeface="Open Sans"/>
                <a:cs typeface="Open Sans"/>
              </a:defRPr>
            </a:pPr>
            <a:r>
              <a:rPr sz="1500" b="0">
                <a:solidFill>
                  <a:srgbClr val="443829"/>
                </a:solidFill>
                <a:latin typeface="Open Sans"/>
                <a:ea typeface="Open Sans"/>
                <a:cs typeface="Open Sans"/>
              </a:rPr>
              <a:t>Measure turnaround, nurse rework and auto-approval share.</a:t>
            </a:r>
          </a:p>
        </p:txBody>
      </p:sp>
      <p:sp>
        <p:nvSpPr>
          <p:cNvPr id="14" name="Gate 880">
            <a:extLst xmlns:a="http://schemas.openxmlformats.org/drawingml/2006/main">
              <a:ext uri="{FF2B5EF4-FFF2-40B4-BE49-F238E27FC236}">
                <a16:creationId xmlns:a16="http://schemas.microsoft.com/office/drawing/2014/main" id="{2C9BA7F5-7662-4086-9D91-57FE9B66D593}"/>
              </a:ext>
            </a:extLst>
          </p:cNvPr>
          <p:cNvSpPr>
            <a:spLocks xmlns:a="http://schemas.openxmlformats.org/drawingml/2006/main" noGrp="1"/>
          </p:cNvSpPr>
          <p:nvPr/>
        </p:nvSpPr>
        <p:spPr>
          <a:xfrm xmlns:a="http://schemas.openxmlformats.org/drawingml/2006/main">
            <a:off x="8382000" y="54102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443829"/>
                </a:solidFill>
                <a:latin typeface="Open Sans"/>
                <a:ea typeface="Open Sans"/>
                <a:cs typeface="Open Sans"/>
              </a:defRPr>
            </a:pPr>
            <a:r>
              <a:rPr sz="1425" b="1">
                <a:solidFill>
                  <a:srgbClr val="443829"/>
                </a:solidFill>
                <a:latin typeface="Open Sans"/>
                <a:ea typeface="Open Sans"/>
                <a:cs typeface="Open Sans"/>
              </a:rPr>
              <a:t>Gate: release only when clinical owners approve measured pilot results.</a:t>
            </a:r>
          </a:p>
        </p:txBody>
      </p:sp>
      <p:sp>
        <p:nvSpPr>
          <p:cNvPr id="15" name="Monitoring">
            <a:extLst xmlns:a="http://schemas.openxmlformats.org/drawingml/2006/main">
              <a:ext uri="{FF2B5EF4-FFF2-40B4-BE49-F238E27FC236}">
                <a16:creationId xmlns:a16="http://schemas.microsoft.com/office/drawing/2014/main" id="{948296D7-5C1D-452F-AFF3-8F50BC7F274C}"/>
              </a:ext>
            </a:extLst>
          </p:cNvPr>
          <p:cNvSpPr>
            <a:spLocks xmlns:a="http://schemas.openxmlformats.org/drawingml/2006/main" noGrp="1"/>
          </p:cNvSpPr>
          <p:nvPr/>
        </p:nvSpPr>
        <p:spPr>
          <a:xfrm xmlns:a="http://schemas.openxmlformats.org/drawingml/2006/main">
            <a:off x="666750" y="6248400"/>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C6054"/>
                </a:solidFill>
                <a:latin typeface="Open Sans"/>
                <a:ea typeface="Open Sans"/>
                <a:cs typeface="Open Sans"/>
              </a:defRPr>
            </a:pPr>
            <a:r>
              <a:rPr sz="1275" b="0">
                <a:solidFill>
                  <a:srgbClr val="6C6054"/>
                </a:solidFill>
                <a:latin typeface="Open Sans"/>
                <a:ea typeface="Open Sans"/>
                <a:cs typeface="Open Sans"/>
              </a:rPr>
              <a:t>From phase 1: Azure Monitor + Application Insights for failures, latency and alerts.</a:t>
            </a:r>
          </a:p>
          <a:p xmlns:a="http://schemas.openxmlformats.org/drawingml/2006/main">
            <a:pPr>
              <a:defRPr sz="1275" b="0">
                <a:solidFill>
                  <a:srgbClr val="6C6054"/>
                </a:solidFill>
                <a:latin typeface="Open Sans"/>
                <a:ea typeface="Open Sans"/>
                <a:cs typeface="Open Sans"/>
              </a:defRPr>
            </a:pPr>
            <a:r>
              <a:rPr sz="1275" b="0">
                <a:solidFill>
                  <a:srgbClr val="6C6054"/>
                </a:solidFill>
                <a:latin typeface="Open Sans"/>
                <a:ea typeface="Open Sans"/>
                <a:cs typeface="Open Sans"/>
              </a:rPr>
              <a:t>Microsoft Foundry evaluations / tracing for AI quality. Entra ID, managed identities and Key Vault for access.</a:t>
            </a:r>
          </a:p>
        </p:txBody>
      </p:sp>
    </p:spTree>
    <p:extLst>
      <p:ext uri="{BB962C8B-B14F-4D97-AF65-F5344CB8AC3E}">
        <p14:creationId xmlns:p14="http://schemas.microsoft.com/office/powerpoint/2010/main" val="1071404015"/>
      </p:ext>
    </p:extLst>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Image 0" descr="preencoded.png"/>
          <p:cNvPicPr/>
          <p:nvPr/>
        </p:nvPicPr>
        <p:blipFill>
          <a:blip r:embed="rId1"/>
          <a:stretch/>
        </p:blipFill>
        <p:spPr>
          <a:xfrm>
            <a:off x="0" y="0"/>
            <a:ext cx="4571640" cy="6857640"/>
          </a:xfrm>
          <a:prstGeom prst="rect">
            <a:avLst/>
          </a:prstGeom>
          <a:noFill/>
          <a:ln w="0">
            <a:noFill/>
          </a:ln>
        </p:spPr>
      </p:pic>
      <p:sp>
        <p:nvSpPr>
          <p:cNvPr id="118" name="Text 0"/>
          <p:cNvSpPr/>
          <p:nvPr/>
        </p:nvSpPr>
        <p:spPr>
          <a:xfrm>
            <a:off x="5233320" y="537120"/>
            <a:ext cx="6296400" cy="378000"/>
          </a:xfrm>
          <a:prstGeom prst="rect">
            <a:avLst/>
          </a:prstGeom>
          <a:noFill/>
          <a:ln w="0">
            <a:noFill/>
          </a:ln>
        </p:spPr>
        <p:style>
          <a:lnRef idx="0"/>
          <a:fillRef idx="0"/>
          <a:effectRef idx="0"/>
          <a:fontRef idx="minor"/>
        </p:style>
        <p:txBody>
          <a:bodyPr wrap="none" lIns="0" tIns="0" rIns="0" bIns="0" anchor="t">
            <a:noAutofit/>
          </a:bodyPr>
          <a:p>
            <a:pPr defTabSz="914400">
              <a:lnSpc>
                <a:spcPct val="104000"/>
              </a:lnSpc>
              <a:tabLst>
                <a:tab pos="0" algn="l"/>
              </a:tabLst>
            </a:pPr>
            <a:r>
              <a:rPr lang="en-US" sz="2350" b="1" u="none" strike="noStrike">
                <a:solidFill>
                  <a:srgbClr val="443728"/>
                </a:solidFill>
                <a:effectLst/>
                <a:uFillTx/>
                <a:latin typeface="Crimson Pro Bold"/>
                <a:ea typeface="Crimson Pro Bold"/>
              </a:rPr>
              <a:t>Expected Outcomes</a:t>
            </a:r>
            <a:endParaRPr lang="en-US" sz="2350" b="0" u="none" strike="noStrike">
              <a:solidFill>
                <a:srgbClr val="000000"/>
              </a:solidFill>
              <a:effectLst/>
              <a:uFillTx/>
              <a:latin typeface="Arial"/>
            </a:endParaRPr>
          </a:p>
        </p:txBody>
      </p:sp>
      <p:sp>
        <p:nvSpPr>
          <p:cNvPr id="119" name="Text 1"/>
          <p:cNvSpPr/>
          <p:nvPr/>
        </p:nvSpPr>
        <p:spPr>
          <a:xfrm>
            <a:off x="5233320" y="1092240"/>
            <a:ext cx="6296400" cy="39924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3100" b="1" u="none" strike="noStrike">
                <a:solidFill>
                  <a:srgbClr val="443728"/>
                </a:solidFill>
                <a:effectLst/>
                <a:uFillTx/>
                <a:latin typeface="Crimson Pro Bold"/>
                <a:ea typeface="Crimson Pro Bold"/>
              </a:rPr>
              <a:t>40%</a:t>
            </a:r>
            <a:endParaRPr lang="en-US" sz="3100" b="0" u="none" strike="noStrike">
              <a:solidFill>
                <a:srgbClr val="000000"/>
              </a:solidFill>
              <a:effectLst/>
              <a:uFillTx/>
              <a:latin typeface="Arial"/>
            </a:endParaRPr>
          </a:p>
        </p:txBody>
      </p:sp>
      <p:sp>
        <p:nvSpPr>
          <p:cNvPr id="120" name="Text 2"/>
          <p:cNvSpPr/>
          <p:nvPr/>
        </p:nvSpPr>
        <p:spPr>
          <a:xfrm>
            <a:off x="5233320" y="1610280"/>
            <a:ext cx="6296400" cy="18900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150" b="1" u="none" strike="noStrike">
                <a:solidFill>
                  <a:srgbClr val="443728"/>
                </a:solidFill>
                <a:effectLst/>
                <a:uFillTx/>
                <a:latin typeface="Crimson Pro Bold"/>
                <a:ea typeface="Crimson Pro Bold"/>
              </a:rPr>
              <a:t>Turnaround Reduction</a:t>
            </a:r>
            <a:endParaRPr lang="en-US" sz="1150" b="0" u="none" strike="noStrike">
              <a:solidFill>
                <a:srgbClr val="000000"/>
              </a:solidFill>
              <a:effectLst/>
              <a:uFillTx/>
              <a:latin typeface="Arial"/>
            </a:endParaRPr>
          </a:p>
        </p:txBody>
      </p:sp>
      <p:sp>
        <p:nvSpPr>
          <p:cNvPr id="121" name="Text 3"/>
          <p:cNvSpPr/>
          <p:nvPr/>
        </p:nvSpPr>
        <p:spPr>
          <a:xfrm>
            <a:off x="5233320" y="1846080"/>
            <a:ext cx="6296400" cy="158400"/>
          </a:xfrm>
          <a:prstGeom prst="rect">
            <a:avLst/>
          </a:prstGeom>
          <a:noFill/>
          <a:ln w="0">
            <a:noFill/>
          </a:ln>
        </p:spPr>
        <p:style>
          <a:lnRef idx="0"/>
          <a:fillRef idx="0"/>
          <a:effectRef idx="0"/>
          <a:fontRef idx="minor"/>
        </p:style>
        <p:txBody>
          <a:bodyPr wrap="none" lIns="0" tIns="0" rIns="0" bIns="0" anchor="t">
            <a:noAutofit/>
          </a:bodyPr>
          <a:p>
            <a:pPr algn="ctr" defTabSz="914400">
              <a:lnSpc>
                <a:spcPct val="109000"/>
              </a:lnSpc>
              <a:tabLst>
                <a:tab pos="0" algn="l"/>
              </a:tabLst>
            </a:pPr>
            <a:r>
              <a:rPr lang="en-US" sz="950" b="0" u="none" strike="noStrike">
                <a:solidFill>
                  <a:srgbClr val="443728"/>
                </a:solidFill>
                <a:effectLst/>
                <a:uFillTx/>
                <a:latin typeface="Open Sans"/>
                <a:ea typeface="Open Sans"/>
              </a:rPr>
              <a:t>From 4.2 days to 2.5 days average</a:t>
            </a:r>
            <a:endParaRPr lang="en-US" sz="950" b="0" u="none" strike="noStrike">
              <a:solidFill>
                <a:srgbClr val="000000"/>
              </a:solidFill>
              <a:effectLst/>
              <a:uFillTx/>
              <a:latin typeface="Arial"/>
            </a:endParaRPr>
          </a:p>
        </p:txBody>
      </p:sp>
      <p:sp>
        <p:nvSpPr>
          <p:cNvPr id="122" name="Text 4"/>
          <p:cNvSpPr/>
          <p:nvPr/>
        </p:nvSpPr>
        <p:spPr>
          <a:xfrm>
            <a:off x="5233320" y="2220480"/>
            <a:ext cx="6296400" cy="39924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3100" b="1" u="none" strike="noStrike">
                <a:solidFill>
                  <a:srgbClr val="443728"/>
                </a:solidFill>
                <a:effectLst/>
                <a:uFillTx/>
                <a:latin typeface="Crimson Pro Bold"/>
                <a:ea typeface="Crimson Pro Bold"/>
              </a:rPr>
              <a:t>35%</a:t>
            </a:r>
            <a:endParaRPr lang="en-US" sz="3100" b="0" u="none" strike="noStrike">
              <a:solidFill>
                <a:srgbClr val="000000"/>
              </a:solidFill>
              <a:effectLst/>
              <a:uFillTx/>
              <a:latin typeface="Arial"/>
            </a:endParaRPr>
          </a:p>
        </p:txBody>
      </p:sp>
      <p:sp>
        <p:nvSpPr>
          <p:cNvPr id="123" name="Text 5"/>
          <p:cNvSpPr/>
          <p:nvPr/>
        </p:nvSpPr>
        <p:spPr>
          <a:xfrm>
            <a:off x="5233320" y="2738880"/>
            <a:ext cx="6296400" cy="18900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150" b="1" u="none" strike="noStrike">
                <a:solidFill>
                  <a:srgbClr val="443728"/>
                </a:solidFill>
                <a:effectLst/>
                <a:uFillTx/>
                <a:latin typeface="Crimson Pro Bold"/>
                <a:ea typeface="Crimson Pro Bold"/>
              </a:rPr>
              <a:t>Requests Auto-Approved</a:t>
            </a:r>
            <a:endParaRPr lang="en-US" sz="1150" b="0" u="none" strike="noStrike">
              <a:solidFill>
                <a:srgbClr val="000000"/>
              </a:solidFill>
              <a:effectLst/>
              <a:uFillTx/>
              <a:latin typeface="Arial"/>
            </a:endParaRPr>
          </a:p>
        </p:txBody>
      </p:sp>
      <p:sp>
        <p:nvSpPr>
          <p:cNvPr id="124" name="Text 6"/>
          <p:cNvSpPr/>
          <p:nvPr/>
        </p:nvSpPr>
        <p:spPr>
          <a:xfrm>
            <a:off x="5233320" y="2974680"/>
            <a:ext cx="6296400" cy="158400"/>
          </a:xfrm>
          <a:prstGeom prst="rect">
            <a:avLst/>
          </a:prstGeom>
          <a:noFill/>
          <a:ln w="0">
            <a:noFill/>
          </a:ln>
        </p:spPr>
        <p:style>
          <a:lnRef idx="0"/>
          <a:fillRef idx="0"/>
          <a:effectRef idx="0"/>
          <a:fontRef idx="minor"/>
        </p:style>
        <p:txBody>
          <a:bodyPr wrap="none" lIns="0" tIns="0" rIns="0" bIns="0" anchor="t">
            <a:noAutofit/>
          </a:bodyPr>
          <a:p>
            <a:pPr algn="ctr" defTabSz="914400">
              <a:lnSpc>
                <a:spcPct val="109000"/>
              </a:lnSpc>
              <a:tabLst>
                <a:tab pos="0" algn="l"/>
              </a:tabLst>
            </a:pPr>
            <a:r>
              <a:rPr lang="en-US" sz="950" b="0" u="none" strike="noStrike">
                <a:solidFill>
                  <a:srgbClr val="443728"/>
                </a:solidFill>
                <a:effectLst/>
                <a:uFillTx/>
                <a:latin typeface="Open Sans"/>
                <a:ea typeface="Open Sans"/>
              </a:rPr>
              <a:t>Zero manual touch for low-risk cases</a:t>
            </a:r>
            <a:endParaRPr lang="en-US" sz="950" b="0" u="none" strike="noStrike">
              <a:solidFill>
                <a:srgbClr val="000000"/>
              </a:solidFill>
              <a:effectLst/>
              <a:uFillTx/>
              <a:latin typeface="Arial"/>
            </a:endParaRPr>
          </a:p>
        </p:txBody>
      </p:sp>
      <p:sp>
        <p:nvSpPr>
          <p:cNvPr id="125" name="Text 7"/>
          <p:cNvSpPr/>
          <p:nvPr/>
        </p:nvSpPr>
        <p:spPr>
          <a:xfrm>
            <a:off x="5233320" y="3349080"/>
            <a:ext cx="6296400" cy="39924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3100" b="1" u="none" strike="noStrike">
                <a:solidFill>
                  <a:srgbClr val="443728"/>
                </a:solidFill>
                <a:effectLst/>
                <a:uFillTx/>
                <a:latin typeface="Crimson Pro Bold"/>
                <a:ea typeface="Crimson Pro Bold"/>
              </a:rPr>
              <a:t>50%</a:t>
            </a:r>
            <a:endParaRPr lang="en-US" sz="3100" b="0" u="none" strike="noStrike">
              <a:solidFill>
                <a:srgbClr val="000000"/>
              </a:solidFill>
              <a:effectLst/>
              <a:uFillTx/>
              <a:latin typeface="Arial"/>
            </a:endParaRPr>
          </a:p>
        </p:txBody>
      </p:sp>
      <p:sp>
        <p:nvSpPr>
          <p:cNvPr id="126" name="Text 8"/>
          <p:cNvSpPr/>
          <p:nvPr/>
        </p:nvSpPr>
        <p:spPr>
          <a:xfrm>
            <a:off x="5233320" y="3867480"/>
            <a:ext cx="6296400" cy="18900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150" b="1" u="none" strike="noStrike">
                <a:solidFill>
                  <a:srgbClr val="443728"/>
                </a:solidFill>
                <a:effectLst/>
                <a:uFillTx/>
                <a:latin typeface="Crimson Pro Bold"/>
                <a:ea typeface="Crimson Pro Bold"/>
              </a:rPr>
              <a:t>Nurse Capacity Freed</a:t>
            </a:r>
            <a:endParaRPr lang="en-US" sz="1150" b="0" u="none" strike="noStrike">
              <a:solidFill>
                <a:srgbClr val="000000"/>
              </a:solidFill>
              <a:effectLst/>
              <a:uFillTx/>
              <a:latin typeface="Arial"/>
            </a:endParaRPr>
          </a:p>
        </p:txBody>
      </p:sp>
      <p:sp>
        <p:nvSpPr>
          <p:cNvPr id="127" name="Text 9"/>
          <p:cNvSpPr/>
          <p:nvPr/>
        </p:nvSpPr>
        <p:spPr>
          <a:xfrm>
            <a:off x="5233320" y="4103280"/>
            <a:ext cx="6296400" cy="158400"/>
          </a:xfrm>
          <a:prstGeom prst="rect">
            <a:avLst/>
          </a:prstGeom>
          <a:noFill/>
          <a:ln w="0">
            <a:noFill/>
          </a:ln>
        </p:spPr>
        <p:style>
          <a:lnRef idx="0"/>
          <a:fillRef idx="0"/>
          <a:effectRef idx="0"/>
          <a:fontRef idx="minor"/>
        </p:style>
        <p:txBody>
          <a:bodyPr wrap="none" lIns="0" tIns="0" rIns="0" bIns="0" anchor="t">
            <a:noAutofit/>
          </a:bodyPr>
          <a:p>
            <a:pPr algn="ctr" defTabSz="914400">
              <a:lnSpc>
                <a:spcPct val="109000"/>
              </a:lnSpc>
              <a:tabLst>
                <a:tab pos="0" algn="l"/>
              </a:tabLst>
            </a:pPr>
            <a:r>
              <a:rPr lang="en-US" sz="950" b="0" u="none" strike="noStrike">
                <a:solidFill>
                  <a:srgbClr val="443728"/>
                </a:solidFill>
                <a:effectLst/>
                <a:uFillTx/>
                <a:latin typeface="Open Sans"/>
                <a:ea typeface="Open Sans"/>
              </a:rPr>
              <a:t>Redirected to complex clinical judgment</a:t>
            </a:r>
            <a:endParaRPr lang="en-US" sz="950" b="0" u="none" strike="noStrike">
              <a:solidFill>
                <a:srgbClr val="000000"/>
              </a:solidFill>
              <a:effectLst/>
              <a:uFillTx/>
              <a:latin typeface="Arial"/>
            </a:endParaRPr>
          </a:p>
        </p:txBody>
      </p:sp>
      <p:sp>
        <p:nvSpPr>
          <p:cNvPr id="128" name="Text 10"/>
          <p:cNvSpPr/>
          <p:nvPr/>
        </p:nvSpPr>
        <p:spPr>
          <a:xfrm>
            <a:off x="5233320" y="4477680"/>
            <a:ext cx="6296400" cy="399240"/>
          </a:xfrm>
          <a:prstGeom prst="rect">
            <a:avLst/>
          </a:prstGeom>
          <a:noFill/>
          <a:ln w="0">
            <a:noFill/>
          </a:ln>
        </p:spPr>
        <p:style>
          <a:lnRef idx="0"/>
          <a:fillRef idx="0"/>
          <a:effectRef idx="0"/>
          <a:fontRef idx="minor"/>
        </p:style>
        <p:txBody>
          <a:bodyPr wrap="none" lIns="0" tIns="0" rIns="0" bIns="0" anchor="t">
            <a:noAutofit/>
          </a:bodyPr>
          <a:p>
            <a:pPr algn="ctr" defTabSz="914400">
              <a:lnSpc>
                <a:spcPct val="83000"/>
              </a:lnSpc>
              <a:tabLst>
                <a:tab pos="0" algn="l"/>
              </a:tabLst>
            </a:pPr>
            <a:r>
              <a:rPr lang="en-US" sz="3100" b="1" u="none" strike="noStrike">
                <a:solidFill>
                  <a:srgbClr val="443728"/>
                </a:solidFill>
                <a:effectLst/>
                <a:uFillTx/>
                <a:latin typeface="Crimson Pro Bold"/>
                <a:ea typeface="Crimson Pro Bold"/>
              </a:rPr>
              <a:t>-45%</a:t>
            </a:r>
            <a:endParaRPr lang="en-US" sz="3100" b="0" u="none" strike="noStrike">
              <a:solidFill>
                <a:srgbClr val="000000"/>
              </a:solidFill>
              <a:effectLst/>
              <a:uFillTx/>
              <a:latin typeface="Arial"/>
            </a:endParaRPr>
          </a:p>
        </p:txBody>
      </p:sp>
      <p:sp>
        <p:nvSpPr>
          <p:cNvPr id="129" name="Text 11"/>
          <p:cNvSpPr/>
          <p:nvPr/>
        </p:nvSpPr>
        <p:spPr>
          <a:xfrm>
            <a:off x="5233320" y="4996080"/>
            <a:ext cx="6296400" cy="189000"/>
          </a:xfrm>
          <a:prstGeom prst="rect">
            <a:avLst/>
          </a:prstGeom>
          <a:noFill/>
          <a:ln w="0">
            <a:noFill/>
          </a:ln>
        </p:spPr>
        <p:style>
          <a:lnRef idx="0"/>
          <a:fillRef idx="0"/>
          <a:effectRef idx="0"/>
          <a:fontRef idx="minor"/>
        </p:style>
        <p:txBody>
          <a:bodyPr wrap="none" lIns="0" tIns="0" rIns="0" bIns="0" anchor="t">
            <a:noAutofit/>
          </a:bodyPr>
          <a:p>
            <a:pPr algn="ctr" defTabSz="914400">
              <a:lnSpc>
                <a:spcPct val="104000"/>
              </a:lnSpc>
              <a:tabLst>
                <a:tab pos="0" algn="l"/>
              </a:tabLst>
            </a:pPr>
            <a:r>
              <a:rPr lang="en-US" sz="1150" b="1" u="none" strike="noStrike">
                <a:solidFill>
                  <a:srgbClr val="443728"/>
                </a:solidFill>
                <a:effectLst/>
                <a:uFillTx/>
                <a:latin typeface="Crimson Pro Bold"/>
                <a:ea typeface="Crimson Pro Bold"/>
              </a:rPr>
              <a:t>Cost Per Authorization</a:t>
            </a:r>
            <a:endParaRPr lang="en-US" sz="1150" b="0" u="none" strike="noStrike">
              <a:solidFill>
                <a:srgbClr val="000000"/>
              </a:solidFill>
              <a:effectLst/>
              <a:uFillTx/>
              <a:latin typeface="Arial"/>
            </a:endParaRPr>
          </a:p>
        </p:txBody>
      </p:sp>
      <p:sp>
        <p:nvSpPr>
          <p:cNvPr id="130" name="Text 12"/>
          <p:cNvSpPr/>
          <p:nvPr/>
        </p:nvSpPr>
        <p:spPr>
          <a:xfrm>
            <a:off x="5233320" y="5231880"/>
            <a:ext cx="6296400" cy="158400"/>
          </a:xfrm>
          <a:prstGeom prst="rect">
            <a:avLst/>
          </a:prstGeom>
          <a:noFill/>
          <a:ln w="0">
            <a:noFill/>
          </a:ln>
        </p:spPr>
        <p:style>
          <a:lnRef idx="0"/>
          <a:fillRef idx="0"/>
          <a:effectRef idx="0"/>
          <a:fontRef idx="minor"/>
        </p:style>
        <p:txBody>
          <a:bodyPr wrap="none" lIns="0" tIns="0" rIns="0" bIns="0" anchor="t">
            <a:noAutofit/>
          </a:bodyPr>
          <a:p>
            <a:pPr algn="ctr" defTabSz="914400">
              <a:lnSpc>
                <a:spcPct val="109000"/>
              </a:lnSpc>
              <a:tabLst>
                <a:tab pos="0" algn="l"/>
              </a:tabLst>
            </a:pPr>
            <a:r>
              <a:rPr lang="en-US" sz="950" b="0" u="none" strike="noStrike">
                <a:solidFill>
                  <a:srgbClr val="443728"/>
                </a:solidFill>
                <a:effectLst/>
                <a:uFillTx/>
                <a:latin typeface="Open Sans"/>
                <a:ea typeface="Open Sans"/>
              </a:rPr>
              <a:t>Reduction vs. baseline by Phase 3</a:t>
            </a:r>
            <a:endParaRPr lang="en-US" sz="950" b="0" u="none" strike="noStrike">
              <a:solidFill>
                <a:srgbClr val="000000"/>
              </a:solidFill>
              <a:effectLst/>
              <a:uFillTx/>
              <a:latin typeface="Arial"/>
            </a:endParaRPr>
          </a:p>
        </p:txBody>
      </p:sp>
      <p:sp>
        <p:nvSpPr>
          <p:cNvPr id="131" name="Shape 13"/>
          <p:cNvSpPr/>
          <p:nvPr/>
        </p:nvSpPr>
        <p:spPr>
          <a:xfrm>
            <a:off x="5233320" y="5477760"/>
            <a:ext cx="6296400" cy="842760"/>
          </a:xfrm>
          <a:prstGeom prst="roundRect">
            <a:avLst>
              <a:gd name="adj" fmla="val 6032"/>
            </a:avLst>
          </a:prstGeom>
          <a:solidFill>
            <a:srgbClr val="EBE2E0"/>
          </a:solid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132" name="Image 1" descr="preencoded.png"/>
          <p:cNvPicPr/>
          <p:nvPr/>
        </p:nvPicPr>
        <p:blipFill>
          <a:blip r:embed="rId2"/>
          <a:stretch/>
        </p:blipFill>
        <p:spPr>
          <a:xfrm>
            <a:off x="5354280" y="5587560"/>
            <a:ext cx="150840" cy="120600"/>
          </a:xfrm>
          <a:prstGeom prst="rect">
            <a:avLst/>
          </a:prstGeom>
          <a:noFill/>
          <a:ln w="0">
            <a:noFill/>
          </a:ln>
        </p:spPr>
      </p:pic>
      <p:sp>
        <p:nvSpPr>
          <p:cNvPr id="133" name="Text 14"/>
          <p:cNvSpPr/>
          <p:nvPr/>
        </p:nvSpPr>
        <p:spPr>
          <a:xfrm>
            <a:off x="5626800" y="5585400"/>
            <a:ext cx="5781960" cy="635040"/>
          </a:xfrm>
          <a:prstGeom prst="rect">
            <a:avLst/>
          </a:prstGeom>
          <a:noFill/>
          <a:ln w="0">
            <a:noFill/>
          </a:ln>
        </p:spPr>
        <p:style>
          <a:lnRef idx="0"/>
          <a:fillRef idx="0"/>
          <a:effectRef idx="0"/>
          <a:fontRef idx="minor"/>
        </p:style>
        <p:txBody>
          <a:bodyPr lIns="0" tIns="0" rIns="0" bIns="0" anchor="t">
            <a:normAutofit/>
          </a:bodyPr>
          <a:p>
            <a:pPr defTabSz="914400">
              <a:lnSpc>
                <a:spcPct val="109000"/>
              </a:lnSpc>
              <a:tabLst>
                <a:tab pos="0" algn="l"/>
              </a:tabLst>
            </a:pPr>
            <a:r>
              <a:rPr lang="en-US" sz="950" b="1" u="none" strike="noStrike">
                <a:solidFill>
                  <a:srgbClr val="000000"/>
                </a:solidFill>
                <a:effectLst/>
                <a:uFillTx/>
                <a:latin typeface="Open Sans Bold"/>
                <a:ea typeface="Open Sans Bold"/>
              </a:rPr>
              <a:t>Answer to the CMO:</a:t>
            </a:r>
            <a:r>
              <a:rPr lang="en-US" sz="950" b="0" u="none" strike="noStrike">
                <a:solidFill>
                  <a:srgbClr val="000000"/>
                </a:solidFill>
                <a:effectLst/>
                <a:uFillTx/>
                <a:latin typeface="Open Sans"/>
                <a:ea typeface="Open Sans"/>
              </a:rPr>
              <a:t> AI handles the 60% of prior authorization that is administrative and information-gathering. Nurses handle the 40% requiring genuine clinical judgment. Quality improves because documentation is complete before review, policy application is consistent, and nurses focus expertise where it matters most.</a:t>
            </a:r>
            <a:endParaRPr lang="en-US" sz="9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LibreOffice/26.2.0.3$MacOSX_AARCH64 LibreOffice_project/afbbd0df0edb6d40b450b0337ac646b0913a760c</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2026-09-23T16:11:00Z</dcterms:created>
  <dc:creator/>
  <dc:description/>
  <dc:language>en-US</dc:language>
  <cp:lastModifiedBy/>
  <dcterms:modified xsi:type="dcterms:W3CDTF">2026-09-23T12:25:16Z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