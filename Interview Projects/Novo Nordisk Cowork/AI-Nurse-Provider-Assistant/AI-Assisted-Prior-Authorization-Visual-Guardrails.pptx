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media/image7.svg" ContentType="image/svg"/>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slides/visualcharts/visualchart1.xml" ContentType="application/vnd.openxmlformats-officedocument.drawingml.chart+xml"/>
  <Override PartName="/ppt/slides/visualcharts/visualchart2.xml" ContentType="application/vnd.openxmlformats-officedocument.drawingml.chart+xml"/>
  <Override PartName="/ppt/slides/visualcharts/visualchart3.xml" ContentType="application/vnd.openxmlformats-officedocument.drawingml.chart+xml"/>
  <Default Extension="xlsx" ContentType="application/vnd.openxmlformats-officedocument.spreadsheetml.sheet"/>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ns0:presentation xmlns:ns0="http://schemas.openxmlformats.org/presentationml/2006/main" xmlns:ns1="http://schemas.openxmlformats.org/officeDocument/2006/relationships" embedTrueTypeFonts="1">
  <ns0:sldMasterIdLst>
    <ns0:sldMasterId id="2147483648" ns1:id="rId2"/>
  </ns0:sldMasterIdLst>
  <ns0:notesMasterIdLst>
    <ns0:notesMasterId ns1:id="rId3"/>
  </ns0:notesMasterIdLst>
  <ns0:sldIdLst>
    <ns0:sldId id="256" ns1:id="rId4"/>
    <ns0:sldId id="257" ns1:id="rId5"/>
    <ns0:sldId id="258" ns1:id="rId6"/>
    <ns0:sldId id="266" ns1:id="rId9"/>
    <ns0:sldId id="260" ns1:id="rId8"/>
    <ns0:sldId id="267" ns1:id="rId10"/>
    <ns0:sldId id="265" ns1:id="rId13"/>
    <ns0:sldId id="264" ns1:id="rId12"/>
  </ns0:sldIdLst>
  <ns0:sldSz cx="12192000" cy="6858000"/>
  <ns0:notesSz cx="6858000" cy="12192000"/>
  <ns0:embeddedFontLst>
    <ns0:embeddedFont>
      <ns0:font typeface="Crimson Pro Bold"/>
    </ns0:embeddedFont>
    <ns0:embeddedFont>
      <ns0:font typeface="Open Sans Bold"/>
    </ns0:embeddedFont>
    <ns0:embeddedFont>
      <ns0:font typeface="Open Sans"/>
      <ns0:regular ns1:id="rId14"/>
      <ns0:bold ns1:id="rId15"/>
    </ns0:embeddedFont>
    <ns0:embeddedFont>
      <ns0:font typeface="+mn-lt"/>
    </ns0:embeddedFont>
    <ns0:embeddedFont>
      <ns0:font typeface="Arial Unicode MS"/>
      <ns0:regular ns1:id="rId16"/>
    </ns0:embeddedFont>
    <ns0:embeddedFont>
      <ns0:font typeface="+mn-ea"/>
    </ns0:embeddedFont>
    <ns0:embeddedFont>
      <ns0:font typeface="+mn-cs"/>
    </ns0:embeddedFont>
  </ns0:embeddedFontLst>
</ns0: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font" Target="fonts/Font_1_Open_Sans_Regular.fntdata"/><Relationship Id="rId15" Type="http://schemas.openxmlformats.org/officeDocument/2006/relationships/font" Target="fonts/Font_2_Open_Sans_Bold.fntdata"/><Relationship Id="rId16" Type="http://schemas.openxmlformats.org/officeDocument/2006/relationships/font" Target="fonts/Font_3_Arial_Unicode_MS_Regular.fntdata"/><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5D4FAF0-C1C8-4424-9593-4D60EA25F52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6040" cy="3085920"/>
          </a:xfrm>
          <a:prstGeom prst="rect">
            <a:avLst/>
          </a:prstGeom>
          <a:ln w="0">
            <a:noFill/>
          </a:ln>
        </p:spPr>
      </p:sp>
      <p:sp>
        <p:nvSpPr>
          <p:cNvPr id="1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ED1AE-B68D-4281-9325-F8EE9E65B256}"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6040" cy="308592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41FA24-3A08-4EC2-B113-56C7E2EE953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chart reproduced from page 2 of Prior_Auth_AI_Solution.pdf. Day ranges describe the hypothetical workflow; they overlap and do not provide an additive calculation proving the 4.2-day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6040" cy="308592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B7AD8F6-FE38-4000-B282-AD3A4FD0703E}"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walkthrough: Start with the provider submitting a heterogeneous document. Text-based PDFs use embedded-text extraction; images use OCR. The language model organizes the content into structured fields. Completeness checks return missing information to the provider before policy analysis. Policy retrieval selects a reference policy, then AI identifies met/unmet criteria, citations and a recommendation. Urgent routing takes priority for complete requests. Auto-approval requires completeness, an explicitly auto-approvable low-cost policy, likely-approve recommendation, at least 95% model-reported confidence, and no unmet criteria or risk flags. Confidence is not measured accuracy. Other complete cases route to nurses, who may approve, deny or request more information. The provider sees status and letters, and can supply additional text for re-validation. The demo uses one policy per request and exact-code matching with BM25 fallback; the proposed Azure production design uses hybrid retrieval. Scanned-PDF OCR fallback and external notifications are not implemented. The provider still supplies missing data; automation reduces nurse-handled follow-up, not necessarily provider rework.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Opportunity 1: use AI to turn heterogeneous documents into structured request information; deterministic checks identify missing fields and policy-required documentation. Early return avoids nurse administrative work but providers still supply missing information. Opportunity 2: retrieve applicable approved policy evidence, summarize the request, identify met/unmet criteria, and provide citations for a nurse. Model confidence is not measured accuracy, and human review remains central. Opportunity 3: generate specific missing-information drafts and readable updates grounded in actual request status; ordinary portal tracking is workflow software, while drafting and summarization are the AI component. Expected benefits are hypotheses, not measured savings. This slide names opportunities independent of model vendor. The current local demo uses OpenAI; the assignment separately requires a Claude Cowork-based prototype, which is not established by adding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explain these four safeguards, then switch to the live demo. After the demo, return to the next slide, What success could look like. Policy grounding: the prototype retrieves fictional policies and returns model-produced citations, but does not independently verify citation correctness or retrieve every applicable policy. Human oversight: complete non-auto-approved requests go to nurse review, and there is no automatic denial. Demo auto-approval gates require completeness, an eligible low-cost policy, likely approval, confidence at least 95%, and no unmet criteria or risk flags. This is not production safety validation; confidence is self-reported. Incomplete urgent requests can stop at the completeness gate before urgency routing, a limitation to resolve before production. Data protection: use synthetic data only; local storage is not proof of production access controls or regulatory compliance. Production needs approved data handling, least privilege, encryption, retention and appropriate security/compliance review. Evaluation: use expert-reviewed cases, test extraction, retrieval and recommendations, examine failure patterns and monitor after rollout. The demo audit log records selected events, not all prompts and outputs; it is resettable and is not a tamper-proof production audit. A compliance determination requires review of the deployed system and operational processes, not merely these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portal accepts additional documentation as pasted text, not a file upload. It displays status and letters but does not actually send external notifications. Estimated decision time does not account for queue position. Appeals, production access controls, bias monitoring, and regulatory compliance validation are outside the implemented demo. The audit log records processing events, selected AI outputs, and decisions, but not every prompt or complete letter output. All data and policies are synthetic. Sources: pages/3_Provider_Portal.py, core/pipeline.py, core/store.py.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DESIGN — not implemented Azure infrastructure. The local demo uses pdfplumber/Tesseract, an OpenAI API model, SQLite, and exact procedure matching with BM25 fallback over six synthetic policies. It does not use vector search or semantic reranking.</a:t>
            </a:r>
          </a:p>
          <a:p xmlns:a="http://schemas.openxmlformats.org/drawingml/2006/main">
            <a:r>
              <a:t/>
            </a:r>
          </a:p>
          <a:p xmlns:a="http://schemas.openxmlformats.org/drawingml/2006/main">
            <a:r>
              <a:t>Phase 1: establish a small provider pilot and reference cases. Store source documents in Azure Blob Storage and perform OCR/layout extraction with Azure Document Intelligence. Use Azure OpenAI structured outputs plus deterministic schema validation. Host provider and reviewer views in Azure App Service, with Azure SQL for request state and audit events. Implement role separation via Entra ID; use managed identities and Key Vault. Measure extraction correctness, missing-information detection and end-to-end baseline turnaround. Start operational monitoring immediately, not only at phase three.</a:t>
            </a:r>
          </a:p>
          <a:p xmlns:a="http://schemas.openxmlformats.org/drawingml/2006/main">
            <a:r>
              <a:t/>
            </a:r>
          </a:p>
          <a:p xmlns:a="http://schemas.openxmlformats.org/drawingml/2006/main">
            <a:r>
              <a:t>Phase 2: build classic, controlled hybrid RAG rather than an agentic retrieval system. Split approved policies by section and preserve policy ID, plan, procedure applicability, effective dates, version and citation offsets. Generate Azure OpenAI embeddings; index text, vectors and metadata in Azure AI Search. Apply applicability filters, run BM25 plus vector retrieval, combine results and use semantic reranking. Supply selected policy passages to Azure OpenAI for criterion-level analysis with citations. Support all applicable policies and explicit conflict handling; missing or conflicting evidence routes to human review. Evaluate retrieval recall on a labeled set, citation correctness, groundedness and clinical reviewer agreement. Model choice and retrieval settings are selected through evaluation.</a:t>
            </a:r>
          </a:p>
          <a:p xmlns:a="http://schemas.openxmlformats.org/drawingml/2006/main">
            <a:r>
              <a:t/>
            </a:r>
          </a:p>
          <a:p xmlns:a="http://schemas.openxmlformats.org/drawingml/2006/main">
            <a:r>
              <a:t>Phase 3: validate auto-approval in shadow mode against expert decisions before enabling a limited cohort. Eligibility rules, calibrated evaluation, monitoring and rollback are required; model-reported 95% confidence alone is not proof of accuracy. Use Azure Functions and Service Bus for asynchronous processing, retries and idempotency; integrate notifications through Logic Apps. Expand based on observed outcomes. The proposed duration is a planning assumption, not a guaranteed delivery schedule or a formula for the target improvements.</a:t>
            </a:r>
          </a:p>
          <a:p xmlns:a="http://schemas.openxmlformats.org/drawingml/2006/main">
            <a:r>
              <a:t/>
            </a:r>
          </a:p>
          <a:p xmlns:a="http://schemas.openxmlformats.org/drawingml/2006/main">
            <a:r>
              <a:t>Monitoring: Azure Monitor/Application Insights track request failures, latency and operational alerts. Microsoft Foundry supports evaluations and tracing; telemetry connects to Application Insights using OpenTelemetry. Track model/retrieval versions and evaluation results. Avoid raw patient data in routine telemetry. Clinical audit records remain separately governed application data. Nurse-handled rework means requests a nurse returns for information; distinguish it from automated returns and provider rework.</a:t>
            </a:r>
          </a:p>
          <a:p xmlns:a="http://schemas.openxmlformats.org/drawingml/2006/main">
            <a:r>
              <a:t/>
            </a:r>
          </a:p>
          <a:p xmlns:a="http://schemas.openxmlformats.org/drawingml/2006/main">
            <a:r>
              <a:t>Microsoft documentation:</a:t>
            </a:r>
          </a:p>
          <a:p xmlns:a="http://schemas.openxmlformats.org/drawingml/2006/main">
            <a:r>
              <a:t>https://learn.microsoft.com/en-us/azure/search/retrieval-augmented-generation-overview</a:t>
            </a:r>
          </a:p>
          <a:p xmlns:a="http://schemas.openxmlformats.org/drawingml/2006/main">
            <a:r>
              <a:t>https://learn.microsoft.com/en-us/azure/search/semantic-search-overview</a:t>
            </a:r>
          </a:p>
          <a:p xmlns:a="http://schemas.openxmlformats.org/drawingml/2006/main">
            <a:r>
              <a:t>https://learn.microsoft.com/en-us/azure/foundry/openai/how-to/embeddings</a:t>
            </a:r>
          </a:p>
          <a:p xmlns:a="http://schemas.openxmlformats.org/drawingml/2006/main">
            <a:r>
              <a:t>https://learn.microsoft.com/en-us/azure/ai-services/document-intelligence/overview</a:t>
            </a:r>
          </a:p>
          <a:p xmlns:a="http://schemas.openxmlformats.org/drawingml/2006/main">
            <a:r>
              <a:t>https://learn.microsoft.com/en-us/azure/foundry/observability/concepts/trace-data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Figures retained from the proposal and App Overview: turnaround 4.2 to 2.5 days; rework 22% to 5%; auto-approved 0% to 35%. These are illustrative assumptions and goals. The turnaround baseline is an overall case-mix average, not the time every request takes. It includes provider response time and nurse queues. The original rework baseline describes requests returned for information; the current demo catches missing information earlier and can reduce nurse-handled follow-up, but it does not demonstrate fewer incomplete provider submissions. Do not silently equate provider rework with nurse-handled rework. During the pilot, define and measure automated returns, nurse returns and provider resubmissions separately, and confirm that baseline and target use the same denominator. Auto-approval share is not model accuracy: it is the share of requests meeting all eligibility gates. The 95% confidence threshold is model-reported and requires separate validation. Do not claim any percentage is achieved. Source: Prior_Auth_AI_Solution.pdf, pages 1 and 9, and App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master 1">
    <p:spTree>
      <p:nvGrpSpPr>
        <p:cNvPr id="1" name=""/>
        <p:cNvGrpSpPr/>
        <p:nvPr/>
      </p:nvGrpSpPr>
      <p:grpSpPr>
        <a:xfrm>
          <a:off x="0" y="0"/>
          <a:ext cx="0" cy="0"/>
          <a:chOff x="0" y="0"/>
          <a:chExt cx="0" cy="0"/>
        </a:xfrm>
      </p:grpSpPr>
      <p:sp>
        <p:nvSpPr>
          <p:cNvPr id="2" name="Shape 0"/>
          <p:cNvSpPr/>
          <p:nvPr/>
        </p:nvSpPr>
        <p:spPr>
          <a:xfrm>
            <a:off x="0" y="0"/>
            <a:ext cx="12191400" cy="6857640"/>
          </a:xfrm>
          <a:prstGeom prst="rect">
            <a:avLst/>
          </a:prstGeom>
          <a:solidFill>
            <a:srgbClr val="F7EDE9"/>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Shape 1"/>
          <p:cNvSpPr/>
          <p:nvPr/>
        </p:nvSpPr>
        <p:spPr>
          <a:xfrm>
            <a:off x="0" y="0"/>
            <a:ext cx="12191400" cy="6857640"/>
          </a:xfrm>
          <a:prstGeom prst="rect">
            <a:avLst/>
          </a:prstGeom>
          <a:solidFill>
            <a:srgbClr val="FFFCF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6"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Type="http://schemas.openxmlformats.org/officeDocument/2006/relationships/slideLayout" Target="../slideLayouts/slideLayout2.xml" Id="R691844ccc3c54919" /><Relationship Type="http://schemas.openxmlformats.org/officeDocument/2006/relationships/image" Target="../media/original-timeline-chart.png" Id="R6a6f2b7c5a404b2d" /><Relationship Type="http://schemas.openxmlformats.org/officeDocument/2006/relationships/notesSlide" Target="../notesSlides/notesSlide3.xml" Id="R2524be4387f1461d"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ns0:Relationships xmlns:ns0="http://schemas.openxmlformats.org/package/2006/relationships"><ns0:Relationship Type="http://schemas.openxmlformats.org/officeDocument/2006/relationships/slideLayout" Target="../slideLayouts/slideLayout2.xml" Id="R1452653ce3464f32" /><ns0:Relationship Type="http://schemas.openxmlformats.org/officeDocument/2006/relationships/notesSlide" Target="../notesSlides/notesSlide5.xml" Id="Re7e74578028b4edf" /></ns0:Relationships>
</file>

<file path=ppt/slides/_rels/slide6.xml.rels><?xml version='1.0' encoding='utf-8'?>
<Relationships xmlns="http://schemas.openxmlformats.org/package/2006/relationships"><Relationship Type="http://schemas.openxmlformats.org/officeDocument/2006/relationships/slideLayout" Target="../slideLayouts/slideLayout2.xml" Id="Rd754b7badec1423e" /><Relationship Type="http://schemas.openxmlformats.org/officeDocument/2006/relationships/notesSlide" Target="../notesSlides/notesSlide6.xml" Id="R7d13be23d5ac4d05" /></Relationships>
</file>

<file path=ppt/slides/_rels/slide7.xml.rels><?xml version='1.0' encoding='utf-8'?>
<Relationships xmlns="http://schemas.openxmlformats.org/package/2006/relationships"><Relationship Type="http://schemas.openxmlformats.org/officeDocument/2006/relationships/slideLayout" Target="../slideLayouts/slideLayout2.xml" Id="R080b22e57c974994" /><Relationship Type="http://schemas.openxmlformats.org/officeDocument/2006/relationships/notesSlide" Target="../notesSlides/notesSlide7.xml" Id="R008758d8b627499e" /></Relationships>
</file>

<file path=ppt/slides/_rels/slide8.xml.rels><?xml version='1.0' encoding='utf-8'?>
<Relationships xmlns="http://schemas.openxmlformats.org/package/2006/relationships"><Relationship Type="http://schemas.openxmlformats.org/officeDocument/2006/relationships/slideLayout" Target="../slideLayouts/slideLayout2.xml" Id="Rfbc3ff5e6ae74175" /><Relationship Type="http://schemas.openxmlformats.org/officeDocument/2006/relationships/notesSlide" Target="../notesSlides/notesSlide8.xml" Id="Rbfc32cfcb2c74c5a" /></Relationships>
</file>

<file path=ppt/slides/_rels/slide9.xml.rels><?xml version='1.0' encoding='utf-8'?>
<Relationships xmlns="http://schemas.openxmlformats.org/package/2006/relationships"><Relationship Type="http://schemas.openxmlformats.org/officeDocument/2006/relationships/slideLayout" Target="../slideLayouts/slideLayout2.xml" Id="R79a4287042cf4836" /><Relationship Type="http://schemas.openxmlformats.org/officeDocument/2006/relationships/notesSlide" Target="../notesSlides/notesSlide9.xml" Id="Ra933df174b114234" /></Relationships>
</file>

<file path=ppt/slides/_rels/slide10.xml.rels><?xml version='1.0' encoding='utf-8'?>
<ns0:Relationships xmlns:ns0="http://schemas.openxmlformats.org/package/2006/relationships"><ns0:Relationship Type="http://schemas.openxmlformats.org/officeDocument/2006/relationships/slideLayout" Target="../slideLayouts/slideLayout2.xml" Id="Ra42de3c0f6674055" /><ns0:Relationship Type="http://schemas.openxmlformats.org/officeDocument/2006/relationships/chart" Target="/ppt/slides/visualcharts/visualchart1.xml" Id="R991b01e084584ff1" /><ns0:Relationship Type="http://schemas.openxmlformats.org/officeDocument/2006/relationships/chart" Target="/ppt/slides/visualcharts/visualchart2.xml" Id="R8aa6a97473a443cd" /><ns0:Relationship Type="http://schemas.openxmlformats.org/officeDocument/2006/relationships/chart" Target="/ppt/slides/visualcharts/visualchart3.xml" Id="R94dacddfbb9540ab" /><ns0:Relationship Type="http://schemas.openxmlformats.org/officeDocument/2006/relationships/notesSlide" Target="../notesSlides/notesSlide10.xml" Id="R15d280619f2a4310" /></ns0: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 name="Image 0" descr="preencoded.png"/>
          <p:cNvPicPr/>
          <p:nvPr/>
        </p:nvPicPr>
        <p:blipFill>
          <a:blip r:embed="rId1"/>
          <a:stretch/>
        </p:blipFill>
        <p:spPr>
          <a:xfrm>
            <a:off x="7619760" y="0"/>
            <a:ext cx="4571640" cy="6857640"/>
          </a:xfrm>
          <a:prstGeom prst="rect">
            <a:avLst/>
          </a:prstGeom>
          <a:noFill/>
          <a:ln w="0">
            <a:noFill/>
          </a:ln>
        </p:spPr>
      </p:pic>
      <p:sp>
        <p:nvSpPr>
          <p:cNvPr id="14" name="Text 0"/>
          <p:cNvSpPr/>
          <p:nvPr/>
        </p:nvSpPr>
        <p:spPr>
          <a:xfrm>
            <a:off x="661320" y="2208600"/>
            <a:ext cx="6296400" cy="1180800"/>
          </a:xfrm>
          <a:prstGeom prst="rect">
            <a:avLst/>
          </a:prstGeom>
          <a:noFill/>
          <a:ln w="0">
            <a:noFill/>
          </a:ln>
        </p:spPr>
        <p:style>
          <a:lnRef idx="0"/>
          <a:fillRef idx="0"/>
          <a:effectRef idx="0"/>
          <a:fontRef idx="minor"/>
        </p:style>
        <p:txBody>
          <a:bodyPr lIns="0" tIns="0" rIns="0" bIns="0" anchor="t">
            <a:normAutofit/>
          </a:bodyPr>
          <a:p>
            <a:pPr defTabSz="914400">
              <a:lnSpc>
                <a:spcPct val="104000"/>
              </a:lnSpc>
              <a:tabLst>
                <a:tab pos="0" algn="l"/>
              </a:tabLst>
            </a:pPr>
            <a:r>
              <a:rPr lang="en-US" sz="3700" b="1" u="none" strike="noStrike">
                <a:solidFill>
                  <a:srgbClr val="443728"/>
                </a:solidFill>
                <a:effectLst/>
                <a:uFillTx/>
                <a:latin typeface="Crimson Pro Bold"/>
                <a:ea typeface="Crimson Pro Bold"/>
              </a:rPr>
              <a:t>AI-Assisted Prior Authorization</a:t>
            </a:r>
            <a:endParaRPr lang="en-US" sz="3700" b="0" u="none" strike="noStrike">
              <a:solidFill>
                <a:srgbClr val="000000"/>
              </a:solidFill>
              <a:effectLst/>
              <a:uFillTx/>
              <a:latin typeface="Arial"/>
            </a:endParaRPr>
          </a:p>
        </p:txBody>
      </p:sp>
      <p:sp>
        <p:nvSpPr>
          <p:cNvPr id="15" name="Text 1"/>
          <p:cNvSpPr/>
          <p:nvPr/>
        </p:nvSpPr>
        <p:spPr>
          <a:xfrm>
            <a:off x="661320" y="3673440"/>
            <a:ext cx="6906240" cy="302040"/>
          </a:xfrm>
          <a:prstGeom prst="rect">
            <a:avLst/>
          </a:prstGeom>
          <a:noFill/>
          <a:ln w="0">
            <a:noFill/>
          </a:ln>
        </p:spPr>
        <p:style>
          <a:lnRef idx="0"/>
          <a:fillRef idx="0"/>
          <a:effectRef idx="0"/>
          <a:fontRef idx="minor"/>
        </p:style>
        <p:txBody>
          <a:bodyPr wrap="none" lIns="0" tIns="0" rIns="0" bIns="0" anchor="t">
            <a:noAutofit/>
          </a:bodyPr>
          <a:p>
            <a:pPr defTabSz="914400">
              <a:lnSpc>
                <a:spcPct val="133000"/>
              </a:lnSpc>
              <a:tabLst>
                <a:tab pos="0" algn="l"/>
              </a:tabLst>
            </a:pPr>
            <a:r>
              <a:rPr lang="en-US" sz="1450" b="0" u="none" strike="noStrike">
                <a:solidFill>
                  <a:srgbClr val="443728"/>
                </a:solidFill>
                <a:effectLst/>
                <a:uFillTx/>
                <a:latin typeface="Open Sans"/>
                <a:ea typeface="Open Sans"/>
              </a:rPr>
              <a:t>A Regional Health Plan Transformation Blueprint</a:t>
            </a:r>
            <a:endParaRPr lang="en-US" sz="1450" b="0" u="none" strike="noStrike">
              <a:solidFill>
                <a:srgbClr val="000000"/>
              </a:solidFill>
              <a:effectLst/>
              <a:uFillTx/>
              <a:latin typeface="Arial"/>
            </a:endParaRPr>
          </a:p>
        </p:txBody>
      </p:sp>
      <p:sp>
        <p:nvSpPr>
          <p:cNvPr id="16" name="Shape 2"/>
          <p:cNvSpPr/>
          <p:nvPr/>
        </p:nvSpPr>
        <p:spPr>
          <a:xfrm>
            <a:off x="661320" y="4188600"/>
            <a:ext cx="6296400" cy="460440"/>
          </a:xfrm>
          <a:prstGeom prst="roundRect">
            <a:avLst>
              <a:gd name="adj" fmla="val 13778"/>
            </a:avLst>
          </a:prstGeom>
          <a:solidFill>
            <a:srgbClr val="EBE2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Text 3"/>
          <p:cNvSpPr/>
          <p:nvPr/>
        </p:nvSpPr>
        <p:spPr>
          <a:xfrm>
            <a:off x="774720" y="4245120"/>
            <a:ext cx="6069600" cy="347400"/>
          </a:xfrm>
          <a:prstGeom prst="rect">
            <a:avLst/>
          </a:prstGeom>
          <a:noFill/>
          <a:ln w="0">
            <a:noFill/>
          </a:ln>
        </p:spPr>
        <p:style>
          <a:lnRef idx="0"/>
          <a:fillRef idx="0"/>
          <a:effectRef idx="0"/>
          <a:fontRef idx="minor"/>
        </p:style>
        <p:txBody>
          <a:bodyPr lIns="0" tIns="0" rIns="0" bIns="0" anchor="t">
            <a:normAutofit/>
          </a:bodyPr>
          <a:p>
            <a:pPr defTabSz="914400">
              <a:lnSpc>
                <a:spcPct val="96000"/>
              </a:lnSpc>
              <a:tabLst>
                <a:tab pos="0" algn="l"/>
              </a:tabLst>
            </a:pPr>
            <a:r>
              <a:rPr lang="en-US" sz="1150" b="0" u="none" strike="noStrike">
                <a:solidFill>
                  <a:srgbClr val="443728"/>
                </a:solidFill>
                <a:effectLst/>
                <a:uFillTx/>
                <a:latin typeface="Open Sans"/>
                <a:ea typeface="Open Sans"/>
              </a:rPr>
              <a:t>REDUCING TURNAROUND TIME BY 40% · REDUCING REWORK · MAINTAINING CLINICAL QUALITY</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Text 0"/>
          <p:cNvSpPr/>
          <p:nvPr/>
        </p:nvSpPr>
        <p:spPr>
          <a:xfrm>
            <a:off x="661320" y="832680"/>
            <a:ext cx="10868400" cy="59040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3700" b="1" u="none" strike="noStrike">
                <a:solidFill>
                  <a:srgbClr val="443728"/>
                </a:solidFill>
                <a:effectLst/>
                <a:uFillTx/>
                <a:latin typeface="Crimson Pro Bold"/>
                <a:ea typeface="Crimson Pro Bold"/>
              </a:rPr>
              <a:t>The Scale of the Challenge</a:t>
            </a:r>
            <a:endParaRPr lang="en-US" sz="3700" b="0" u="none" strike="noStrike">
              <a:solidFill>
                <a:srgbClr val="000000"/>
              </a:solidFill>
              <a:effectLst/>
              <a:uFillTx/>
              <a:latin typeface="Arial"/>
            </a:endParaRPr>
          </a:p>
        </p:txBody>
      </p:sp>
      <p:sp>
        <p:nvSpPr>
          <p:cNvPr id="19" name="Text 1"/>
          <p:cNvSpPr/>
          <p:nvPr/>
        </p:nvSpPr>
        <p:spPr>
          <a:xfrm>
            <a:off x="661320" y="1801440"/>
            <a:ext cx="11477880" cy="302040"/>
          </a:xfrm>
          <a:prstGeom prst="rect">
            <a:avLst/>
          </a:prstGeom>
          <a:noFill/>
          <a:ln w="0">
            <a:noFill/>
          </a:ln>
        </p:spPr>
        <p:style>
          <a:lnRef idx="0"/>
          <a:fillRef idx="0"/>
          <a:effectRef idx="0"/>
          <a:fontRef idx="minor"/>
        </p:style>
        <p:txBody>
          <a:bodyPr wrap="none" lIns="0" tIns="0" rIns="0" bIns="0" anchor="t">
            <a:noAutofit/>
          </a:bodyPr>
          <a:p>
            <a:pPr defTabSz="914400">
              <a:lnSpc>
                <a:spcPct val="133000"/>
              </a:lnSpc>
              <a:tabLst>
                <a:tab pos="0" algn="l"/>
              </a:tabLst>
            </a:pPr>
            <a:r>
              <a:rPr lang="en-US" sz="1450" b="0" u="none" strike="noStrike">
                <a:solidFill>
                  <a:srgbClr val="443728"/>
                </a:solidFill>
                <a:effectLst/>
                <a:uFillTx/>
                <a:latin typeface="Open Sans"/>
                <a:ea typeface="Open Sans"/>
              </a:rPr>
              <a:t>The CMO asks: </a:t>
            </a:r>
            <a:r>
              <a:rPr lang="en-US" sz="1450" b="0" i="1" u="none" strike="noStrike">
                <a:solidFill>
                  <a:srgbClr val="443728"/>
                </a:solidFill>
                <a:effectLst/>
                <a:uFillTx/>
                <a:latin typeface="Open Sans"/>
                <a:ea typeface="Open Sans"/>
              </a:rPr>
              <a:t>"How can AI improve this process while maintaining clinical quality and regulatory compliance?"</a:t>
            </a:r>
            <a:endParaRPr lang="en-US" sz="1450" b="0" u="none" strike="noStrike">
              <a:solidFill>
                <a:srgbClr val="000000"/>
              </a:solidFill>
              <a:effectLst/>
              <a:uFillTx/>
              <a:latin typeface="Arial"/>
            </a:endParaRPr>
          </a:p>
        </p:txBody>
      </p:sp>
      <p:sp>
        <p:nvSpPr>
          <p:cNvPr id="20" name="Text 2"/>
          <p:cNvSpPr/>
          <p:nvPr/>
        </p:nvSpPr>
        <p:spPr>
          <a:xfrm>
            <a:off x="661320" y="2410920"/>
            <a:ext cx="531576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15,000</a:t>
            </a:r>
            <a:endParaRPr lang="en-US" sz="4900" b="0" u="none" strike="noStrike">
              <a:solidFill>
                <a:srgbClr val="000000"/>
              </a:solidFill>
              <a:effectLst/>
              <a:uFillTx/>
              <a:latin typeface="Arial"/>
            </a:endParaRPr>
          </a:p>
        </p:txBody>
      </p:sp>
      <p:sp>
        <p:nvSpPr>
          <p:cNvPr id="21" name="Text 3"/>
          <p:cNvSpPr/>
          <p:nvPr/>
        </p:nvSpPr>
        <p:spPr>
          <a:xfrm>
            <a:off x="661320" y="3270600"/>
            <a:ext cx="531576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Monthly Requests</a:t>
            </a:r>
            <a:endParaRPr lang="en-US" sz="1850" b="0" u="none" strike="noStrike">
              <a:solidFill>
                <a:srgbClr val="000000"/>
              </a:solidFill>
              <a:effectLst/>
              <a:uFillTx/>
              <a:latin typeface="Arial"/>
            </a:endParaRPr>
          </a:p>
        </p:txBody>
      </p:sp>
      <p:sp>
        <p:nvSpPr>
          <p:cNvPr id="22" name="Text 4"/>
          <p:cNvSpPr/>
          <p:nvPr/>
        </p:nvSpPr>
        <p:spPr>
          <a:xfrm>
            <a:off x="661320" y="3679560"/>
            <a:ext cx="531576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Prior auth requests processed each month</a:t>
            </a:r>
            <a:endParaRPr lang="en-US" sz="1450" b="0" u="none" strike="noStrike">
              <a:solidFill>
                <a:srgbClr val="000000"/>
              </a:solidFill>
              <a:effectLst/>
              <a:uFillTx/>
              <a:latin typeface="Arial"/>
            </a:endParaRPr>
          </a:p>
        </p:txBody>
      </p:sp>
      <p:sp>
        <p:nvSpPr>
          <p:cNvPr id="23" name="Text 5"/>
          <p:cNvSpPr/>
          <p:nvPr/>
        </p:nvSpPr>
        <p:spPr>
          <a:xfrm>
            <a:off x="6213960" y="2410920"/>
            <a:ext cx="531612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4.2</a:t>
            </a:r>
            <a:endParaRPr lang="en-US" sz="4900" b="0" u="none" strike="noStrike">
              <a:solidFill>
                <a:srgbClr val="000000"/>
              </a:solidFill>
              <a:effectLst/>
              <a:uFillTx/>
              <a:latin typeface="Arial"/>
            </a:endParaRPr>
          </a:p>
        </p:txBody>
      </p:sp>
      <p:sp>
        <p:nvSpPr>
          <p:cNvPr id="24" name="Text 6"/>
          <p:cNvSpPr/>
          <p:nvPr/>
        </p:nvSpPr>
        <p:spPr>
          <a:xfrm>
            <a:off x="6213960" y="3270600"/>
            <a:ext cx="531612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Days Turnaround</a:t>
            </a:r>
            <a:endParaRPr lang="en-US" sz="1850" b="0" u="none" strike="noStrike">
              <a:solidFill>
                <a:srgbClr val="000000"/>
              </a:solidFill>
              <a:effectLst/>
              <a:uFillTx/>
              <a:latin typeface="Arial"/>
            </a:endParaRPr>
          </a:p>
        </p:txBody>
      </p:sp>
      <p:sp>
        <p:nvSpPr>
          <p:cNvPr id="25" name="Text 7"/>
          <p:cNvSpPr/>
          <p:nvPr/>
        </p:nvSpPr>
        <p:spPr>
          <a:xfrm>
            <a:off x="6213960" y="3679560"/>
            <a:ext cx="531612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Current average turnaround time</a:t>
            </a:r>
            <a:endParaRPr lang="en-US" sz="1450" b="0" u="none" strike="noStrike">
              <a:solidFill>
                <a:srgbClr val="000000"/>
              </a:solidFill>
              <a:effectLst/>
              <a:uFillTx/>
              <a:latin typeface="Arial"/>
            </a:endParaRPr>
          </a:p>
        </p:txBody>
      </p:sp>
      <p:sp>
        <p:nvSpPr>
          <p:cNvPr id="26" name="Text 8"/>
          <p:cNvSpPr/>
          <p:nvPr/>
        </p:nvSpPr>
        <p:spPr>
          <a:xfrm>
            <a:off x="661320" y="4454280"/>
            <a:ext cx="531576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22%</a:t>
            </a:r>
            <a:endParaRPr lang="en-US" sz="4900" b="0" u="none" strike="noStrike">
              <a:solidFill>
                <a:srgbClr val="000000"/>
              </a:solidFill>
              <a:effectLst/>
              <a:uFillTx/>
              <a:latin typeface="Arial"/>
            </a:endParaRPr>
          </a:p>
        </p:txBody>
      </p:sp>
      <p:sp>
        <p:nvSpPr>
          <p:cNvPr id="27" name="Text 9"/>
          <p:cNvSpPr/>
          <p:nvPr/>
        </p:nvSpPr>
        <p:spPr>
          <a:xfrm>
            <a:off x="661320" y="5314320"/>
            <a:ext cx="531576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Rework Rate</a:t>
            </a:r>
            <a:endParaRPr lang="en-US" sz="1850" b="0" u="none" strike="noStrike">
              <a:solidFill>
                <a:srgbClr val="000000"/>
              </a:solidFill>
              <a:effectLst/>
              <a:uFillTx/>
              <a:latin typeface="Arial"/>
            </a:endParaRPr>
          </a:p>
        </p:txBody>
      </p:sp>
      <p:sp>
        <p:nvSpPr>
          <p:cNvPr id="28" name="Text 10"/>
          <p:cNvSpPr/>
          <p:nvPr/>
        </p:nvSpPr>
        <p:spPr>
          <a:xfrm>
            <a:off x="661320" y="5722920"/>
            <a:ext cx="531576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Requests sent back for missing information</a:t>
            </a:r>
            <a:endParaRPr lang="en-US" sz="1450" b="0" u="none" strike="noStrike">
              <a:solidFill>
                <a:srgbClr val="000000"/>
              </a:solidFill>
              <a:effectLst/>
              <a:uFillTx/>
              <a:latin typeface="Arial"/>
            </a:endParaRPr>
          </a:p>
        </p:txBody>
      </p:sp>
      <p:sp>
        <p:nvSpPr>
          <p:cNvPr id="29" name="Text 11"/>
          <p:cNvSpPr/>
          <p:nvPr/>
        </p:nvSpPr>
        <p:spPr>
          <a:xfrm>
            <a:off x="6213960" y="4454280"/>
            <a:ext cx="531612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2.5</a:t>
            </a:r>
            <a:endParaRPr lang="en-US" sz="4900" b="0" u="none" strike="noStrike">
              <a:solidFill>
                <a:srgbClr val="000000"/>
              </a:solidFill>
              <a:effectLst/>
              <a:uFillTx/>
              <a:latin typeface="Arial"/>
            </a:endParaRPr>
          </a:p>
        </p:txBody>
      </p:sp>
      <p:sp>
        <p:nvSpPr>
          <p:cNvPr id="30" name="Text 12"/>
          <p:cNvSpPr/>
          <p:nvPr/>
        </p:nvSpPr>
        <p:spPr>
          <a:xfrm>
            <a:off x="6213960" y="5314320"/>
            <a:ext cx="531612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Days Target</a:t>
            </a:r>
            <a:endParaRPr lang="en-US" sz="1850" b="0" u="none" strike="noStrike">
              <a:solidFill>
                <a:srgbClr val="000000"/>
              </a:solidFill>
              <a:effectLst/>
              <a:uFillTx/>
              <a:latin typeface="Arial"/>
            </a:endParaRPr>
          </a:p>
        </p:txBody>
      </p:sp>
      <p:sp>
        <p:nvSpPr>
          <p:cNvPr id="31" name="Text 13"/>
          <p:cNvSpPr/>
          <p:nvPr/>
        </p:nvSpPr>
        <p:spPr>
          <a:xfrm>
            <a:off x="6213960" y="5722920"/>
            <a:ext cx="531612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AI-augmented turnaround goal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DC2BA7-9FC1-46EE-A5B7-AADE28CF6F84}"/>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Where the 4.2 Days Actually Go</a:t>
            </a:r>
          </a:p>
        </p:txBody>
      </p:sp>
      <p:sp>
        <p:nvSpPr>
          <p:cNvPr id="2" name="Purpose">
            <a:extLst xmlns:a="http://schemas.openxmlformats.org/drawingml/2006/main">
              <a:ext uri="{FF2B5EF4-FFF2-40B4-BE49-F238E27FC236}">
                <a16:creationId xmlns:a16="http://schemas.microsoft.com/office/drawing/2014/main" id="{0CB41E00-C9FA-43A7-B7CC-666CD808C653}"/>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Original workflow breakdown from the solution PDF, page 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6f2b7c5a404b2d"/>
          <a:stretch xmlns:a="http://schemas.openxmlformats.org/drawingml/2006/main"/>
        </p:blipFill>
        <p:spPr>
          <a:xfrm xmlns:a="http://schemas.openxmlformats.org/drawingml/2006/main">
            <a:off x="571500" y="2055759"/>
            <a:ext cx="11049000" cy="3508482"/>
          </a:xfrm>
          <a:prstGeom xmlns:a="http://schemas.openxmlformats.org/drawingml/2006/main" prst="rect">
            <a:avLst/>
          </a:prstGeom>
        </p:spPr>
      </p:pic>
      <p:sp>
        <p:nvSpPr>
          <p:cNvPr id="4" name="Source">
            <a:extLst xmlns:a="http://schemas.openxmlformats.org/drawingml/2006/main">
              <a:ext uri="{FF2B5EF4-FFF2-40B4-BE49-F238E27FC236}">
                <a16:creationId xmlns:a16="http://schemas.microsoft.com/office/drawing/2014/main" id="{907655F7-8FD8-4B3A-B0DF-97EE20D176FC}"/>
              </a:ext>
            </a:extLst>
          </p:cNvPr>
          <p:cNvSpPr>
            <a:spLocks xmlns:a="http://schemas.openxmlformats.org/drawingml/2006/main" noGrp="1"/>
          </p:cNvSpPr>
          <p:nvPr/>
        </p:nvSpPr>
        <p:spPr>
          <a:xfrm xmlns:a="http://schemas.openxmlformats.org/drawingml/2006/main">
            <a:off x="666750" y="6000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C6054"/>
                </a:solidFill>
                <a:latin typeface="Open Sans"/>
                <a:ea typeface="Open Sans"/>
                <a:cs typeface="Open Sans"/>
              </a:defRPr>
            </a:pPr>
            <a:r>
              <a:rPr sz="1575" b="0">
                <a:solidFill>
                  <a:srgbClr val="6C6054"/>
                </a:solidFill>
                <a:latin typeface="Open Sans"/>
                <a:ea typeface="Open Sans"/>
                <a:cs typeface="Open Sans"/>
              </a:rPr>
              <a:t>Source: Prior Auth AI Solution, page 2. Illustrative scenario; not measured demo results.</a:t>
            </a:r>
          </a:p>
        </p:txBody>
      </p:sp>
    </p:spTree>
    <p:extLst>
      <p:ext uri="{BB962C8B-B14F-4D97-AF65-F5344CB8AC3E}">
        <p14:creationId xmlns:p14="http://schemas.microsoft.com/office/powerpoint/2010/main" val="26747075"/>
      </p:ext>
    </p:extLst>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Image 0" descr="preencoded.png"/>
          <p:cNvPicPr/>
          <p:nvPr/>
        </p:nvPicPr>
        <p:blipFill>
          <a:blip r:embed="rId1"/>
          <a:stretch/>
        </p:blipFill>
        <p:spPr>
          <a:xfrm>
            <a:off x="0" y="0"/>
            <a:ext cx="4571640" cy="6857640"/>
          </a:xfrm>
          <a:prstGeom prst="rect">
            <a:avLst/>
          </a:prstGeom>
          <a:noFill/>
          <a:ln w="0">
            <a:noFill/>
          </a:ln>
        </p:spPr>
      </p:pic>
      <p:sp>
        <p:nvSpPr>
          <p:cNvPr id="38" name="Text 0"/>
          <p:cNvSpPr/>
          <p:nvPr/>
        </p:nvSpPr>
        <p:spPr>
          <a:xfrm>
            <a:off x="5233320" y="599760"/>
            <a:ext cx="6296400" cy="51624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3250" b="1" u="none" strike="noStrike">
                <a:solidFill>
                  <a:srgbClr val="443728"/>
                </a:solidFill>
                <a:effectLst/>
                <a:uFillTx/>
                <a:latin typeface="Crimson Pro Bold"/>
                <a:ea typeface="Crimson Pro Bold"/>
              </a:rPr>
              <a:t>Four-Layer AI Architecture</a:t>
            </a:r>
            <a:endParaRPr lang="en-US" sz="3250" b="0" u="none" strike="noStrike">
              <a:solidFill>
                <a:srgbClr val="000000"/>
              </a:solidFill>
              <a:effectLst/>
              <a:uFillTx/>
              <a:latin typeface="Arial"/>
            </a:endParaRPr>
          </a:p>
        </p:txBody>
      </p:sp>
      <p:sp>
        <p:nvSpPr>
          <p:cNvPr id="39" name="Shape 1"/>
          <p:cNvSpPr/>
          <p:nvPr/>
        </p:nvSpPr>
        <p:spPr>
          <a:xfrm>
            <a:off x="5233320" y="1333440"/>
            <a:ext cx="6296400" cy="936360"/>
          </a:xfrm>
          <a:prstGeom prst="roundRect">
            <a:avLst>
              <a:gd name="adj" fmla="val 7416"/>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Text 2"/>
          <p:cNvSpPr/>
          <p:nvPr/>
        </p:nvSpPr>
        <p:spPr>
          <a:xfrm>
            <a:off x="5405040" y="150516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Intake Layer</a:t>
            </a:r>
            <a:endParaRPr lang="en-US" sz="1600" b="0" u="none" strike="noStrike">
              <a:solidFill>
                <a:srgbClr val="000000"/>
              </a:solidFill>
              <a:effectLst/>
              <a:uFillTx/>
              <a:latin typeface="Arial"/>
            </a:endParaRPr>
          </a:p>
        </p:txBody>
      </p:sp>
      <p:sp>
        <p:nvSpPr>
          <p:cNvPr id="41" name="Text 3"/>
          <p:cNvSpPr/>
          <p:nvPr/>
        </p:nvSpPr>
        <p:spPr>
          <a:xfrm>
            <a:off x="5405040" y="1850400"/>
            <a:ext cx="5953320" cy="247680"/>
          </a:xfrm>
          <a:prstGeom prst="rect">
            <a:avLst/>
          </a:prstGeom>
          <a:noFill/>
          <a:ln w="0">
            <a:noFill/>
          </a:ln>
        </p:spPr>
        <p:style>
          <a:lnRef idx="0"/>
          <a:fillRef idx="0"/>
          <a:effectRef idx="0"/>
          <a:fontRef idx="minor"/>
        </p:style>
        <p:txBody>
          <a:bodyPr wrap="none" lIns="0" tIns="0" rIns="0" bIns="0" anchor="t">
            <a:noAutofit/>
          </a:bodyPr>
          <a:p>
            <a:pPr defTabSz="914400">
              <a:lnSpc>
                <a:spcPct val="125000"/>
              </a:lnSpc>
              <a:tabLst>
                <a:tab pos="0" algn="l"/>
              </a:tabLst>
            </a:pPr>
            <a:r>
              <a:rPr lang="en-US" sz="1300" b="0" u="none" strike="noStrike">
                <a:solidFill>
                  <a:srgbClr val="443728"/>
                </a:solidFill>
                <a:effectLst/>
                <a:uFillTx/>
                <a:latin typeface="Open Sans"/>
                <a:ea typeface="Open Sans"/>
              </a:rPr>
              <a:t>OCR + Document AI — Fax, PDF, portal, upload converted to structured data</a:t>
            </a:r>
            <a:endParaRPr lang="en-US" sz="1300" b="0" u="none" strike="noStrike">
              <a:solidFill>
                <a:srgbClr val="000000"/>
              </a:solidFill>
              <a:effectLst/>
              <a:uFillTx/>
              <a:latin typeface="Arial"/>
            </a:endParaRPr>
          </a:p>
        </p:txBody>
      </p:sp>
      <p:sp>
        <p:nvSpPr>
          <p:cNvPr id="42" name="Shape 4"/>
          <p:cNvSpPr/>
          <p:nvPr/>
        </p:nvSpPr>
        <p:spPr>
          <a:xfrm>
            <a:off x="5233320" y="2414880"/>
            <a:ext cx="6296400" cy="1184400"/>
          </a:xfrm>
          <a:prstGeom prst="roundRect">
            <a:avLst>
              <a:gd name="adj" fmla="val 5864"/>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Text 5"/>
          <p:cNvSpPr/>
          <p:nvPr/>
        </p:nvSpPr>
        <p:spPr>
          <a:xfrm>
            <a:off x="5405040" y="258660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Intelligence Layer</a:t>
            </a:r>
            <a:endParaRPr lang="en-US" sz="1600" b="0" u="none" strike="noStrike">
              <a:solidFill>
                <a:srgbClr val="000000"/>
              </a:solidFill>
              <a:effectLst/>
              <a:uFillTx/>
              <a:latin typeface="Arial"/>
            </a:endParaRPr>
          </a:p>
        </p:txBody>
      </p:sp>
      <p:sp>
        <p:nvSpPr>
          <p:cNvPr id="44" name="Text 6"/>
          <p:cNvSpPr/>
          <p:nvPr/>
        </p:nvSpPr>
        <p:spPr>
          <a:xfrm>
            <a:off x="5405040" y="2931840"/>
            <a:ext cx="5953320" cy="495720"/>
          </a:xfrm>
          <a:prstGeom prst="rect">
            <a:avLst/>
          </a:prstGeom>
          <a:noFill/>
          <a:ln w="0">
            <a:noFill/>
          </a:ln>
        </p:spPr>
        <p:style>
          <a:lnRef idx="0"/>
          <a:fillRef idx="0"/>
          <a:effectRef idx="0"/>
          <a:fontRef idx="minor"/>
        </p:style>
        <p:txBody>
          <a:bodyPr lIns="0" tIns="0" rIns="0" bIns="0" anchor="t">
            <a:normAutofit/>
          </a:bodyPr>
          <a:p>
            <a:pPr defTabSz="914400">
              <a:lnSpc>
                <a:spcPct val="125000"/>
              </a:lnSpc>
              <a:tabLst>
                <a:tab pos="0" algn="l"/>
              </a:tabLst>
            </a:pPr>
            <a:r>
              <a:rPr lang="en-US" sz="1300" b="0" u="none" strike="noStrike">
                <a:solidFill>
                  <a:srgbClr val="443728"/>
                </a:solidFill>
                <a:effectLst/>
                <a:uFillTx/>
                <a:latin typeface="Open Sans"/>
                <a:ea typeface="Open Sans"/>
              </a:rPr>
              <a:t>Multi-Modal RAG + Clinical NLP — Completeness check, policy lookup, medical necessity analysis</a:t>
            </a:r>
            <a:endParaRPr lang="en-US" sz="1300" b="0" u="none" strike="noStrike">
              <a:solidFill>
                <a:srgbClr val="000000"/>
              </a:solidFill>
              <a:effectLst/>
              <a:uFillTx/>
              <a:latin typeface="Arial"/>
            </a:endParaRPr>
          </a:p>
        </p:txBody>
      </p:sp>
      <p:sp>
        <p:nvSpPr>
          <p:cNvPr id="45" name="Shape 7"/>
          <p:cNvSpPr/>
          <p:nvPr/>
        </p:nvSpPr>
        <p:spPr>
          <a:xfrm>
            <a:off x="5233320" y="3744000"/>
            <a:ext cx="6296400" cy="1184400"/>
          </a:xfrm>
          <a:prstGeom prst="roundRect">
            <a:avLst>
              <a:gd name="adj" fmla="val 5864"/>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Text 8"/>
          <p:cNvSpPr/>
          <p:nvPr/>
        </p:nvSpPr>
        <p:spPr>
          <a:xfrm>
            <a:off x="5405040" y="391572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Decision Support</a:t>
            </a:r>
            <a:endParaRPr lang="en-US" sz="1600" b="0" u="none" strike="noStrike">
              <a:solidFill>
                <a:srgbClr val="000000"/>
              </a:solidFill>
              <a:effectLst/>
              <a:uFillTx/>
              <a:latin typeface="Arial"/>
            </a:endParaRPr>
          </a:p>
        </p:txBody>
      </p:sp>
      <p:sp>
        <p:nvSpPr>
          <p:cNvPr id="47" name="Text 9"/>
          <p:cNvSpPr/>
          <p:nvPr/>
        </p:nvSpPr>
        <p:spPr>
          <a:xfrm>
            <a:off x="5405040" y="4260960"/>
            <a:ext cx="5953320" cy="495720"/>
          </a:xfrm>
          <a:prstGeom prst="rect">
            <a:avLst/>
          </a:prstGeom>
          <a:noFill/>
          <a:ln w="0">
            <a:noFill/>
          </a:ln>
        </p:spPr>
        <p:style>
          <a:lnRef idx="0"/>
          <a:fillRef idx="0"/>
          <a:effectRef idx="0"/>
          <a:fontRef idx="minor"/>
        </p:style>
        <p:txBody>
          <a:bodyPr lIns="0" tIns="0" rIns="0" bIns="0" anchor="t">
            <a:normAutofit/>
          </a:bodyPr>
          <a:p>
            <a:pPr defTabSz="914400">
              <a:lnSpc>
                <a:spcPct val="125000"/>
              </a:lnSpc>
              <a:tabLst>
                <a:tab pos="0" algn="l"/>
              </a:tabLst>
            </a:pPr>
            <a:r>
              <a:rPr lang="en-US" sz="1300" b="0" u="none" strike="noStrike">
                <a:solidFill>
                  <a:srgbClr val="443728"/>
                </a:solidFill>
                <a:effectLst/>
                <a:uFillTx/>
                <a:latin typeface="Open Sans"/>
                <a:ea typeface="Open Sans"/>
              </a:rPr>
              <a:t>Auto-Approval + Nurse Queue — Risk stratification routes cases to auto-approve or human review</a:t>
            </a:r>
            <a:endParaRPr lang="en-US" sz="1300" b="0" u="none" strike="noStrike">
              <a:solidFill>
                <a:srgbClr val="000000"/>
              </a:solidFill>
              <a:effectLst/>
              <a:uFillTx/>
              <a:latin typeface="Arial"/>
            </a:endParaRPr>
          </a:p>
        </p:txBody>
      </p:sp>
      <p:sp>
        <p:nvSpPr>
          <p:cNvPr id="48" name="Shape 10"/>
          <p:cNvSpPr/>
          <p:nvPr/>
        </p:nvSpPr>
        <p:spPr>
          <a:xfrm>
            <a:off x="5233320" y="5073480"/>
            <a:ext cx="6296400" cy="1184400"/>
          </a:xfrm>
          <a:prstGeom prst="roundRect">
            <a:avLst>
              <a:gd name="adj" fmla="val 5864"/>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Text 11"/>
          <p:cNvSpPr/>
          <p:nvPr/>
        </p:nvSpPr>
        <p:spPr>
          <a:xfrm>
            <a:off x="5405040" y="524520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Communication Layer</a:t>
            </a:r>
            <a:endParaRPr lang="en-US" sz="1600" b="0" u="none" strike="noStrike">
              <a:solidFill>
                <a:srgbClr val="000000"/>
              </a:solidFill>
              <a:effectLst/>
              <a:uFillTx/>
              <a:latin typeface="Arial"/>
            </a:endParaRPr>
          </a:p>
        </p:txBody>
      </p:sp>
      <p:sp>
        <p:nvSpPr>
          <p:cNvPr id="50" name="Text 12"/>
          <p:cNvSpPr/>
          <p:nvPr/>
        </p:nvSpPr>
        <p:spPr>
          <a:xfrm>
            <a:off x="5405040" y="5590440"/>
            <a:ext cx="5953320" cy="495720"/>
          </a:xfrm>
          <a:prstGeom prst="rect">
            <a:avLst/>
          </a:prstGeom>
          <a:noFill/>
          <a:ln w="0">
            <a:noFill/>
          </a:ln>
        </p:spPr>
        <p:style>
          <a:lnRef idx="0"/>
          <a:fillRef idx="0"/>
          <a:effectRef idx="0"/>
          <a:fontRef idx="minor"/>
        </p:style>
        <p:txBody>
          <a:bodyPr lIns="0" tIns="0" rIns="0" bIns="0" anchor="t">
            <a:normAutofit/>
          </a:bodyPr>
          <a:p>
            <a:pPr defTabSz="914400">
              <a:lnSpc>
                <a:spcPct val="125000"/>
              </a:lnSpc>
              <a:tabLst>
                <a:tab pos="0" algn="l"/>
              </a:tabLst>
            </a:pPr>
            <a:r>
              <a:rPr lang="en-US" sz="1300" b="0" u="none" strike="noStrike">
                <a:solidFill>
                  <a:srgbClr val="443728"/>
                </a:solidFill>
                <a:effectLst/>
                <a:uFillTx/>
                <a:latin typeface="Open Sans"/>
                <a:ea typeface="Open Sans"/>
              </a:rPr>
              <a:t>Provider Portal + Notifications — Real-time status, automated letters, missing info requests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D46AE039-7E86-4894-8F4F-B9FE7E061740}"/>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From document to decision</a:t>
            </a:r>
          </a:p>
        </p:txBody>
      </p:sp>
      <p:sp>
        <p:nvSpPr>
          <p:cNvPr id="2" name="Purpose">
            <a:extLst xmlns:a="http://schemas.openxmlformats.org/drawingml/2006/main">
              <a:ext uri="{FF2B5EF4-FFF2-40B4-BE49-F238E27FC236}">
                <a16:creationId xmlns:a16="http://schemas.microsoft.com/office/drawing/2014/main" id="{1A20D571-323C-4E20-B0E8-7838173EF416}"/>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One workflow connects providers, AI assistance and clinical review</a:t>
            </a:r>
          </a:p>
        </p:txBody>
      </p:sp>
      <p:sp>
        <p:nvSpPr>
          <p:cNvPr id="3" name="Layer 0">
            <a:extLst xmlns:a="http://schemas.openxmlformats.org/drawingml/2006/main">
              <a:ext uri="{FF2B5EF4-FFF2-40B4-BE49-F238E27FC236}">
                <a16:creationId xmlns:a16="http://schemas.microsoft.com/office/drawing/2014/main" id="{C09B05D1-BDBC-47A2-9AEB-5BB113F4B57A}"/>
              </a:ext>
            </a:extLst>
          </p:cNvPr>
          <p:cNvSpPr>
            <a:spLocks xmlns:a="http://schemas.openxmlformats.org/drawingml/2006/main" noGrp="1"/>
          </p:cNvSpPr>
          <p:nvPr/>
        </p:nvSpPr>
        <p:spPr>
          <a:xfrm xmlns:a="http://schemas.openxmlformats.org/drawingml/2006/main">
            <a:off x="666750" y="2333625"/>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65F54"/>
                </a:solidFill>
                <a:latin typeface="Open Sans"/>
                <a:ea typeface="Open Sans"/>
                <a:cs typeface="Open Sans"/>
              </a:defRPr>
            </a:pPr>
            <a:r>
              <a:rPr sz="1425" b="1">
                <a:solidFill>
                  <a:srgbClr val="865F54"/>
                </a:solidFill>
                <a:latin typeface="Open Sans"/>
                <a:ea typeface="Open Sans"/>
                <a:cs typeface="Open Sans"/>
              </a:rPr>
              <a:t>1  INTAKE</a:t>
            </a:r>
          </a:p>
        </p:txBody>
      </p:sp>
      <p:sp>
        <p:nvSpPr>
          <p:cNvPr id="4" name="Purpose 0">
            <a:extLst xmlns:a="http://schemas.openxmlformats.org/drawingml/2006/main">
              <a:ext uri="{FF2B5EF4-FFF2-40B4-BE49-F238E27FC236}">
                <a16:creationId xmlns:a16="http://schemas.microsoft.com/office/drawing/2014/main" id="{3B530DA6-FF2A-4B2F-9172-4A1FE0A7DB3E}"/>
              </a:ext>
            </a:extLst>
          </p:cNvPr>
          <p:cNvSpPr>
            <a:spLocks xmlns:a="http://schemas.openxmlformats.org/drawingml/2006/main" noGrp="1"/>
          </p:cNvSpPr>
          <p:nvPr/>
        </p:nvSpPr>
        <p:spPr>
          <a:xfrm xmlns:a="http://schemas.openxmlformats.org/drawingml/2006/main">
            <a:off x="666750" y="28765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43829"/>
                </a:solidFill>
                <a:latin typeface="Open Sans"/>
                <a:ea typeface="Open Sans"/>
                <a:cs typeface="Open Sans"/>
              </a:defRPr>
            </a:pPr>
            <a:r>
              <a:rPr sz="2250" b="1">
                <a:solidFill>
                  <a:srgbClr val="443829"/>
                </a:solidFill>
                <a:latin typeface="Open Sans"/>
                <a:ea typeface="Open Sans"/>
                <a:cs typeface="Open Sans"/>
              </a:rPr>
              <a:t>Read the request</a:t>
            </a:r>
          </a:p>
        </p:txBody>
      </p:sp>
      <p:sp>
        <p:nvSpPr>
          <p:cNvPr id="5" name="Work 0">
            <a:extLst xmlns:a="http://schemas.openxmlformats.org/drawingml/2006/main">
              <a:ext uri="{FF2B5EF4-FFF2-40B4-BE49-F238E27FC236}">
                <a16:creationId xmlns:a16="http://schemas.microsoft.com/office/drawing/2014/main" id="{A6AE43F2-254F-4051-8C95-AAC30ABE1F2A}"/>
              </a:ext>
            </a:extLst>
          </p:cNvPr>
          <p:cNvSpPr>
            <a:spLocks xmlns:a="http://schemas.openxmlformats.org/drawingml/2006/main" noGrp="1"/>
          </p:cNvSpPr>
          <p:nvPr/>
        </p:nvSpPr>
        <p:spPr>
          <a:xfrm xmlns:a="http://schemas.openxmlformats.org/drawingml/2006/main">
            <a:off x="666750" y="38100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43829"/>
                </a:solidFill>
                <a:latin typeface="Open Sans"/>
                <a:ea typeface="Open Sans"/>
                <a:cs typeface="Open Sans"/>
              </a:defRPr>
            </a:pPr>
            <a:r>
              <a:rPr sz="1650" b="0">
                <a:solidFill>
                  <a:srgbClr val="443829"/>
                </a:solidFill>
                <a:latin typeface="Open Sans"/>
                <a:ea typeface="Open Sans"/>
                <a:cs typeface="Open Sans"/>
              </a:rPr>
              <a:t>PDF / image / text</a:t>
            </a:r>
          </a:p>
        </p:txBody>
      </p:sp>
      <p:sp>
        <p:nvSpPr>
          <p:cNvPr id="6" name="Output 0">
            <a:extLst xmlns:a="http://schemas.openxmlformats.org/drawingml/2006/main">
              <a:ext uri="{FF2B5EF4-FFF2-40B4-BE49-F238E27FC236}">
                <a16:creationId xmlns:a16="http://schemas.microsoft.com/office/drawing/2014/main" id="{12D95BF8-0B04-4D87-B8C9-7066F9D37396}"/>
              </a:ext>
            </a:extLst>
          </p:cNvPr>
          <p:cNvSpPr>
            <a:spLocks xmlns:a="http://schemas.openxmlformats.org/drawingml/2006/main" noGrp="1"/>
          </p:cNvSpPr>
          <p:nvPr/>
        </p:nvSpPr>
        <p:spPr>
          <a:xfrm xmlns:a="http://schemas.openxmlformats.org/drawingml/2006/main">
            <a:off x="666750" y="46672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43829"/>
                </a:solidFill>
                <a:latin typeface="Open Sans"/>
                <a:ea typeface="Open Sans"/>
                <a:cs typeface="Open Sans"/>
              </a:defRPr>
            </a:pPr>
            <a:r>
              <a:rPr sz="1725" b="1">
                <a:solidFill>
                  <a:srgbClr val="443829"/>
                </a:solidFill>
                <a:latin typeface="Open Sans"/>
                <a:ea typeface="Open Sans"/>
                <a:cs typeface="Open Sans"/>
              </a:rPr>
              <a:t>Structured fields</a:t>
            </a:r>
          </a:p>
        </p:txBody>
      </p:sp>
      <p:sp>
        <p:nvSpPr>
          <p:cNvPr id="7" name="Arrow 0">
            <a:extLst xmlns:a="http://schemas.openxmlformats.org/drawingml/2006/main">
              <a:ext uri="{FF2B5EF4-FFF2-40B4-BE49-F238E27FC236}">
                <a16:creationId xmlns:a16="http://schemas.microsoft.com/office/drawing/2014/main" id="{13833DBB-0957-45B1-B1B7-C9DD7818CA12}"/>
              </a:ext>
            </a:extLst>
          </p:cNvPr>
          <p:cNvSpPr>
            <a:spLocks xmlns:a="http://schemas.openxmlformats.org/drawingml/2006/main" noGrp="1"/>
          </p:cNvSpPr>
          <p:nvPr/>
        </p:nvSpPr>
        <p:spPr>
          <a:xfrm xmlns:a="http://schemas.openxmlformats.org/drawingml/2006/main">
            <a:off x="3209925" y="30956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65F54"/>
                </a:solidFill>
                <a:latin typeface="Open Sans"/>
                <a:ea typeface="Open Sans"/>
                <a:cs typeface="Open Sans"/>
              </a:defRPr>
            </a:pPr>
            <a:r>
              <a:rPr sz="2175" b="1">
                <a:solidFill>
                  <a:srgbClr val="865F54"/>
                </a:solidFill>
                <a:latin typeface="Open Sans"/>
                <a:ea typeface="Open Sans"/>
                <a:cs typeface="Open Sans"/>
              </a:rPr>
              <a:t>→</a:t>
            </a:r>
          </a:p>
        </p:txBody>
      </p:sp>
      <p:sp>
        <p:nvSpPr>
          <p:cNvPr id="8" name="Layer 1">
            <a:extLst xmlns:a="http://schemas.openxmlformats.org/drawingml/2006/main">
              <a:ext uri="{FF2B5EF4-FFF2-40B4-BE49-F238E27FC236}">
                <a16:creationId xmlns:a16="http://schemas.microsoft.com/office/drawing/2014/main" id="{DEF7EE0A-0C8F-4EEA-B8D1-D29FD6050819}"/>
              </a:ext>
            </a:extLst>
          </p:cNvPr>
          <p:cNvSpPr>
            <a:spLocks xmlns:a="http://schemas.openxmlformats.org/drawingml/2006/main" noGrp="1"/>
          </p:cNvSpPr>
          <p:nvPr/>
        </p:nvSpPr>
        <p:spPr>
          <a:xfrm xmlns:a="http://schemas.openxmlformats.org/drawingml/2006/main">
            <a:off x="3571875" y="2333625"/>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65F54"/>
                </a:solidFill>
                <a:latin typeface="Open Sans"/>
                <a:ea typeface="Open Sans"/>
                <a:cs typeface="Open Sans"/>
              </a:defRPr>
            </a:pPr>
            <a:r>
              <a:rPr sz="1425" b="1">
                <a:solidFill>
                  <a:srgbClr val="865F54"/>
                </a:solidFill>
                <a:latin typeface="Open Sans"/>
                <a:ea typeface="Open Sans"/>
                <a:cs typeface="Open Sans"/>
              </a:rPr>
              <a:t>2  INTELLIGENCE</a:t>
            </a:r>
          </a:p>
        </p:txBody>
      </p:sp>
      <p:sp>
        <p:nvSpPr>
          <p:cNvPr id="9" name="Purpose 1">
            <a:extLst xmlns:a="http://schemas.openxmlformats.org/drawingml/2006/main">
              <a:ext uri="{FF2B5EF4-FFF2-40B4-BE49-F238E27FC236}">
                <a16:creationId xmlns:a16="http://schemas.microsoft.com/office/drawing/2014/main" id="{E985C7C1-5571-4906-AF2D-CE66B310ED45}"/>
              </a:ext>
            </a:extLst>
          </p:cNvPr>
          <p:cNvSpPr>
            <a:spLocks xmlns:a="http://schemas.openxmlformats.org/drawingml/2006/main" noGrp="1"/>
          </p:cNvSpPr>
          <p:nvPr/>
        </p:nvSpPr>
        <p:spPr>
          <a:xfrm xmlns:a="http://schemas.openxmlformats.org/drawingml/2006/main">
            <a:off x="3571875" y="28765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43829"/>
                </a:solidFill>
                <a:latin typeface="Open Sans"/>
                <a:ea typeface="Open Sans"/>
                <a:cs typeface="Open Sans"/>
              </a:defRPr>
            </a:pPr>
            <a:r>
              <a:rPr sz="2250" b="1">
                <a:solidFill>
                  <a:srgbClr val="443829"/>
                </a:solidFill>
                <a:latin typeface="Open Sans"/>
                <a:ea typeface="Open Sans"/>
                <a:cs typeface="Open Sans"/>
              </a:rPr>
              <a:t>Check the evidence</a:t>
            </a:r>
          </a:p>
        </p:txBody>
      </p:sp>
      <p:sp>
        <p:nvSpPr>
          <p:cNvPr id="10" name="Work 1">
            <a:extLst xmlns:a="http://schemas.openxmlformats.org/drawingml/2006/main">
              <a:ext uri="{FF2B5EF4-FFF2-40B4-BE49-F238E27FC236}">
                <a16:creationId xmlns:a16="http://schemas.microsoft.com/office/drawing/2014/main" id="{1D793EA4-29F2-4F89-864A-F6A35DA1F760}"/>
              </a:ext>
            </a:extLst>
          </p:cNvPr>
          <p:cNvSpPr>
            <a:spLocks xmlns:a="http://schemas.openxmlformats.org/drawingml/2006/main" noGrp="1"/>
          </p:cNvSpPr>
          <p:nvPr/>
        </p:nvSpPr>
        <p:spPr>
          <a:xfrm xmlns:a="http://schemas.openxmlformats.org/drawingml/2006/main">
            <a:off x="3571875" y="38100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43829"/>
                </a:solidFill>
                <a:latin typeface="Open Sans"/>
                <a:ea typeface="Open Sans"/>
                <a:cs typeface="Open Sans"/>
              </a:defRPr>
            </a:pPr>
            <a:r>
              <a:rPr sz="1650" b="0">
                <a:solidFill>
                  <a:srgbClr val="443829"/>
                </a:solidFill>
                <a:latin typeface="Open Sans"/>
                <a:ea typeface="Open Sans"/>
                <a:cs typeface="Open Sans"/>
              </a:rPr>
              <a:t>Completeness + policy</a:t>
            </a:r>
          </a:p>
        </p:txBody>
      </p:sp>
      <p:sp>
        <p:nvSpPr>
          <p:cNvPr id="11" name="Output 1">
            <a:extLst xmlns:a="http://schemas.openxmlformats.org/drawingml/2006/main">
              <a:ext uri="{FF2B5EF4-FFF2-40B4-BE49-F238E27FC236}">
                <a16:creationId xmlns:a16="http://schemas.microsoft.com/office/drawing/2014/main" id="{8B9C607E-1D87-435C-B5FB-CFED835A8C74}"/>
              </a:ext>
            </a:extLst>
          </p:cNvPr>
          <p:cNvSpPr>
            <a:spLocks xmlns:a="http://schemas.openxmlformats.org/drawingml/2006/main" noGrp="1"/>
          </p:cNvSpPr>
          <p:nvPr/>
        </p:nvSpPr>
        <p:spPr>
          <a:xfrm xmlns:a="http://schemas.openxmlformats.org/drawingml/2006/main">
            <a:off x="3571875" y="46672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43829"/>
                </a:solidFill>
                <a:latin typeface="Open Sans"/>
                <a:ea typeface="Open Sans"/>
                <a:cs typeface="Open Sans"/>
              </a:defRPr>
            </a:pPr>
            <a:r>
              <a:rPr sz="1725" b="1">
                <a:solidFill>
                  <a:srgbClr val="443829"/>
                </a:solidFill>
                <a:latin typeface="Open Sans"/>
                <a:ea typeface="Open Sans"/>
                <a:cs typeface="Open Sans"/>
              </a:rPr>
              <a:t>Criteria and citations</a:t>
            </a:r>
          </a:p>
        </p:txBody>
      </p:sp>
      <p:sp>
        <p:nvSpPr>
          <p:cNvPr id="12" name="Arrow 1">
            <a:extLst xmlns:a="http://schemas.openxmlformats.org/drawingml/2006/main">
              <a:ext uri="{FF2B5EF4-FFF2-40B4-BE49-F238E27FC236}">
                <a16:creationId xmlns:a16="http://schemas.microsoft.com/office/drawing/2014/main" id="{E19F7F07-9CDC-4373-8253-647BE8E4D598}"/>
              </a:ext>
            </a:extLst>
          </p:cNvPr>
          <p:cNvSpPr>
            <a:spLocks xmlns:a="http://schemas.openxmlformats.org/drawingml/2006/main" noGrp="1"/>
          </p:cNvSpPr>
          <p:nvPr/>
        </p:nvSpPr>
        <p:spPr>
          <a:xfrm xmlns:a="http://schemas.openxmlformats.org/drawingml/2006/main">
            <a:off x="6115050" y="30956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65F54"/>
                </a:solidFill>
                <a:latin typeface="Open Sans"/>
                <a:ea typeface="Open Sans"/>
                <a:cs typeface="Open Sans"/>
              </a:defRPr>
            </a:pPr>
            <a:r>
              <a:rPr sz="2175" b="1">
                <a:solidFill>
                  <a:srgbClr val="865F54"/>
                </a:solidFill>
                <a:latin typeface="Open Sans"/>
                <a:ea typeface="Open Sans"/>
                <a:cs typeface="Open Sans"/>
              </a:rPr>
              <a:t>→</a:t>
            </a:r>
          </a:p>
        </p:txBody>
      </p:sp>
      <p:sp>
        <p:nvSpPr>
          <p:cNvPr id="13" name="Layer 2">
            <a:extLst xmlns:a="http://schemas.openxmlformats.org/drawingml/2006/main">
              <a:ext uri="{FF2B5EF4-FFF2-40B4-BE49-F238E27FC236}">
                <a16:creationId xmlns:a16="http://schemas.microsoft.com/office/drawing/2014/main" id="{8DCA66B0-E423-4D5B-9A58-0634999B5E6F}"/>
              </a:ext>
            </a:extLst>
          </p:cNvPr>
          <p:cNvSpPr>
            <a:spLocks xmlns:a="http://schemas.openxmlformats.org/drawingml/2006/main" noGrp="1"/>
          </p:cNvSpPr>
          <p:nvPr/>
        </p:nvSpPr>
        <p:spPr>
          <a:xfrm xmlns:a="http://schemas.openxmlformats.org/drawingml/2006/main">
            <a:off x="6477000" y="2333625"/>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65F54"/>
                </a:solidFill>
                <a:latin typeface="Open Sans"/>
                <a:ea typeface="Open Sans"/>
                <a:cs typeface="Open Sans"/>
              </a:defRPr>
            </a:pPr>
            <a:r>
              <a:rPr sz="1425" b="1">
                <a:solidFill>
                  <a:srgbClr val="865F54"/>
                </a:solidFill>
                <a:latin typeface="Open Sans"/>
                <a:ea typeface="Open Sans"/>
                <a:cs typeface="Open Sans"/>
              </a:rPr>
              <a:t>3  DECISION SUPPORT</a:t>
            </a:r>
          </a:p>
        </p:txBody>
      </p:sp>
      <p:sp>
        <p:nvSpPr>
          <p:cNvPr id="14" name="Purpose 2">
            <a:extLst xmlns:a="http://schemas.openxmlformats.org/drawingml/2006/main">
              <a:ext uri="{FF2B5EF4-FFF2-40B4-BE49-F238E27FC236}">
                <a16:creationId xmlns:a16="http://schemas.microsoft.com/office/drawing/2014/main" id="{10CC44D9-E54A-4AB9-981B-9289D33D2CE8}"/>
              </a:ext>
            </a:extLst>
          </p:cNvPr>
          <p:cNvSpPr>
            <a:spLocks xmlns:a="http://schemas.openxmlformats.org/drawingml/2006/main" noGrp="1"/>
          </p:cNvSpPr>
          <p:nvPr/>
        </p:nvSpPr>
        <p:spPr>
          <a:xfrm xmlns:a="http://schemas.openxmlformats.org/drawingml/2006/main">
            <a:off x="6477000" y="28765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43829"/>
                </a:solidFill>
                <a:latin typeface="Open Sans"/>
                <a:ea typeface="Open Sans"/>
                <a:cs typeface="Open Sans"/>
              </a:defRPr>
            </a:pPr>
            <a:r>
              <a:rPr sz="2250" b="1">
                <a:solidFill>
                  <a:srgbClr val="443829"/>
                </a:solidFill>
                <a:latin typeface="Open Sans"/>
                <a:ea typeface="Open Sans"/>
                <a:cs typeface="Open Sans"/>
              </a:rPr>
              <a:t>Route the case</a:t>
            </a:r>
          </a:p>
        </p:txBody>
      </p:sp>
      <p:sp>
        <p:nvSpPr>
          <p:cNvPr id="15" name="Work 2">
            <a:extLst xmlns:a="http://schemas.openxmlformats.org/drawingml/2006/main">
              <a:ext uri="{FF2B5EF4-FFF2-40B4-BE49-F238E27FC236}">
                <a16:creationId xmlns:a16="http://schemas.microsoft.com/office/drawing/2014/main" id="{8BF667EF-AF75-4942-897A-95403C3060AE}"/>
              </a:ext>
            </a:extLst>
          </p:cNvPr>
          <p:cNvSpPr>
            <a:spLocks xmlns:a="http://schemas.openxmlformats.org/drawingml/2006/main" noGrp="1"/>
          </p:cNvSpPr>
          <p:nvPr/>
        </p:nvSpPr>
        <p:spPr>
          <a:xfrm xmlns:a="http://schemas.openxmlformats.org/drawingml/2006/main">
            <a:off x="6477000" y="38100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43829"/>
                </a:solidFill>
                <a:latin typeface="Open Sans"/>
                <a:ea typeface="Open Sans"/>
                <a:cs typeface="Open Sans"/>
              </a:defRPr>
            </a:pPr>
            <a:r>
              <a:rPr sz="1650" b="0">
                <a:solidFill>
                  <a:srgbClr val="443829"/>
                </a:solidFill>
                <a:latin typeface="Open Sans"/>
                <a:ea typeface="Open Sans"/>
                <a:cs typeface="Open Sans"/>
              </a:rPr>
              <a:t>Eligibility + urgency</a:t>
            </a:r>
          </a:p>
        </p:txBody>
      </p:sp>
      <p:sp>
        <p:nvSpPr>
          <p:cNvPr id="16" name="Output 2">
            <a:extLst xmlns:a="http://schemas.openxmlformats.org/drawingml/2006/main">
              <a:ext uri="{FF2B5EF4-FFF2-40B4-BE49-F238E27FC236}">
                <a16:creationId xmlns:a16="http://schemas.microsoft.com/office/drawing/2014/main" id="{37559E1E-FE23-4FB3-9916-D1102AC89EC5}"/>
              </a:ext>
            </a:extLst>
          </p:cNvPr>
          <p:cNvSpPr>
            <a:spLocks xmlns:a="http://schemas.openxmlformats.org/drawingml/2006/main" noGrp="1"/>
          </p:cNvSpPr>
          <p:nvPr/>
        </p:nvSpPr>
        <p:spPr>
          <a:xfrm xmlns:a="http://schemas.openxmlformats.org/drawingml/2006/main">
            <a:off x="6477000" y="46672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43829"/>
                </a:solidFill>
                <a:latin typeface="Open Sans"/>
                <a:ea typeface="Open Sans"/>
                <a:cs typeface="Open Sans"/>
              </a:defRPr>
            </a:pPr>
            <a:r>
              <a:rPr sz="1725" b="1">
                <a:solidFill>
                  <a:srgbClr val="443829"/>
                </a:solidFill>
                <a:latin typeface="Open Sans"/>
                <a:ea typeface="Open Sans"/>
                <a:cs typeface="Open Sans"/>
              </a:rPr>
              <a:t>Auto-approve or nurse</a:t>
            </a:r>
          </a:p>
        </p:txBody>
      </p:sp>
      <p:sp>
        <p:nvSpPr>
          <p:cNvPr id="17" name="Arrow 2">
            <a:extLst xmlns:a="http://schemas.openxmlformats.org/drawingml/2006/main">
              <a:ext uri="{FF2B5EF4-FFF2-40B4-BE49-F238E27FC236}">
                <a16:creationId xmlns:a16="http://schemas.microsoft.com/office/drawing/2014/main" id="{3E76D832-E8E1-4C94-8D05-EE27B2FFE3C4}"/>
              </a:ext>
            </a:extLst>
          </p:cNvPr>
          <p:cNvSpPr>
            <a:spLocks xmlns:a="http://schemas.openxmlformats.org/drawingml/2006/main" noGrp="1"/>
          </p:cNvSpPr>
          <p:nvPr/>
        </p:nvSpPr>
        <p:spPr>
          <a:xfrm xmlns:a="http://schemas.openxmlformats.org/drawingml/2006/main">
            <a:off x="9020175" y="30956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65F54"/>
                </a:solidFill>
                <a:latin typeface="Open Sans"/>
                <a:ea typeface="Open Sans"/>
                <a:cs typeface="Open Sans"/>
              </a:defRPr>
            </a:pPr>
            <a:r>
              <a:rPr sz="2175" b="1">
                <a:solidFill>
                  <a:srgbClr val="865F54"/>
                </a:solidFill>
                <a:latin typeface="Open Sans"/>
                <a:ea typeface="Open Sans"/>
                <a:cs typeface="Open Sans"/>
              </a:rPr>
              <a:t>→</a:t>
            </a:r>
          </a:p>
        </p:txBody>
      </p:sp>
      <p:sp>
        <p:nvSpPr>
          <p:cNvPr id="18" name="Layer 3">
            <a:extLst xmlns:a="http://schemas.openxmlformats.org/drawingml/2006/main">
              <a:ext uri="{FF2B5EF4-FFF2-40B4-BE49-F238E27FC236}">
                <a16:creationId xmlns:a16="http://schemas.microsoft.com/office/drawing/2014/main" id="{84DF43E0-6B66-4C8B-8802-5EDBA325551F}"/>
              </a:ext>
            </a:extLst>
          </p:cNvPr>
          <p:cNvSpPr>
            <a:spLocks xmlns:a="http://schemas.openxmlformats.org/drawingml/2006/main" noGrp="1"/>
          </p:cNvSpPr>
          <p:nvPr/>
        </p:nvSpPr>
        <p:spPr>
          <a:xfrm xmlns:a="http://schemas.openxmlformats.org/drawingml/2006/main">
            <a:off x="9382125" y="2333625"/>
            <a:ext cx="2619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65F54"/>
                </a:solidFill>
                <a:latin typeface="Open Sans"/>
                <a:ea typeface="Open Sans"/>
                <a:cs typeface="Open Sans"/>
              </a:defRPr>
            </a:pPr>
            <a:r>
              <a:rPr sz="1425" b="1">
                <a:solidFill>
                  <a:srgbClr val="865F54"/>
                </a:solidFill>
                <a:latin typeface="Open Sans"/>
                <a:ea typeface="Open Sans"/>
                <a:cs typeface="Open Sans"/>
              </a:rPr>
              <a:t>4  COMMUNICATION</a:t>
            </a:r>
          </a:p>
        </p:txBody>
      </p:sp>
      <p:sp>
        <p:nvSpPr>
          <p:cNvPr id="19" name="Purpose 3">
            <a:extLst xmlns:a="http://schemas.openxmlformats.org/drawingml/2006/main">
              <a:ext uri="{FF2B5EF4-FFF2-40B4-BE49-F238E27FC236}">
                <a16:creationId xmlns:a16="http://schemas.microsoft.com/office/drawing/2014/main" id="{5AC7FE88-F1D1-46EC-AAE0-322CCD9EA7C7}"/>
              </a:ext>
            </a:extLst>
          </p:cNvPr>
          <p:cNvSpPr>
            <a:spLocks xmlns:a="http://schemas.openxmlformats.org/drawingml/2006/main" noGrp="1"/>
          </p:cNvSpPr>
          <p:nvPr/>
        </p:nvSpPr>
        <p:spPr>
          <a:xfrm xmlns:a="http://schemas.openxmlformats.org/drawingml/2006/main">
            <a:off x="9382125" y="28765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443829"/>
                </a:solidFill>
                <a:latin typeface="Open Sans"/>
                <a:ea typeface="Open Sans"/>
                <a:cs typeface="Open Sans"/>
              </a:defRPr>
            </a:pPr>
            <a:r>
              <a:rPr sz="2250" b="1">
                <a:solidFill>
                  <a:srgbClr val="443829"/>
                </a:solidFill>
                <a:latin typeface="Open Sans"/>
                <a:ea typeface="Open Sans"/>
                <a:cs typeface="Open Sans"/>
              </a:rPr>
              <a:t>Close the loop</a:t>
            </a:r>
          </a:p>
        </p:txBody>
      </p:sp>
      <p:sp>
        <p:nvSpPr>
          <p:cNvPr id="20" name="Work 3">
            <a:extLst xmlns:a="http://schemas.openxmlformats.org/drawingml/2006/main">
              <a:ext uri="{FF2B5EF4-FFF2-40B4-BE49-F238E27FC236}">
                <a16:creationId xmlns:a16="http://schemas.microsoft.com/office/drawing/2014/main" id="{26195829-4432-4D49-94F6-2FC2844C45F1}"/>
              </a:ext>
            </a:extLst>
          </p:cNvPr>
          <p:cNvSpPr>
            <a:spLocks xmlns:a="http://schemas.openxmlformats.org/drawingml/2006/main" noGrp="1"/>
          </p:cNvSpPr>
          <p:nvPr/>
        </p:nvSpPr>
        <p:spPr>
          <a:xfrm xmlns:a="http://schemas.openxmlformats.org/drawingml/2006/main">
            <a:off x="9382125" y="38100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43829"/>
                </a:solidFill>
                <a:latin typeface="Open Sans"/>
                <a:ea typeface="Open Sans"/>
                <a:cs typeface="Open Sans"/>
              </a:defRPr>
            </a:pPr>
            <a:r>
              <a:rPr sz="1650" b="0">
                <a:solidFill>
                  <a:srgbClr val="443829"/>
                </a:solidFill>
                <a:latin typeface="Open Sans"/>
                <a:ea typeface="Open Sans"/>
                <a:cs typeface="Open Sans"/>
              </a:rPr>
              <a:t>Status + letters</a:t>
            </a:r>
          </a:p>
        </p:txBody>
      </p:sp>
      <p:sp>
        <p:nvSpPr>
          <p:cNvPr id="21" name="Output 3">
            <a:extLst xmlns:a="http://schemas.openxmlformats.org/drawingml/2006/main">
              <a:ext uri="{FF2B5EF4-FFF2-40B4-BE49-F238E27FC236}">
                <a16:creationId xmlns:a16="http://schemas.microsoft.com/office/drawing/2014/main" id="{54644F8C-C00C-4999-BFA4-2ED3572BC9FE}"/>
              </a:ext>
            </a:extLst>
          </p:cNvPr>
          <p:cNvSpPr>
            <a:spLocks xmlns:a="http://schemas.openxmlformats.org/drawingml/2006/main" noGrp="1"/>
          </p:cNvSpPr>
          <p:nvPr/>
        </p:nvSpPr>
        <p:spPr>
          <a:xfrm xmlns:a="http://schemas.openxmlformats.org/drawingml/2006/main">
            <a:off x="9382125" y="46672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443829"/>
                </a:solidFill>
                <a:latin typeface="Open Sans"/>
                <a:ea typeface="Open Sans"/>
                <a:cs typeface="Open Sans"/>
              </a:defRPr>
            </a:pPr>
            <a:r>
              <a:rPr sz="1725" b="1">
                <a:solidFill>
                  <a:srgbClr val="443829"/>
                </a:solidFill>
                <a:latin typeface="Open Sans"/>
                <a:ea typeface="Open Sans"/>
                <a:cs typeface="Open Sans"/>
              </a:rPr>
              <a:t>Provider next steps</a:t>
            </a:r>
          </a:p>
        </p:txBody>
      </p:sp>
      <p:sp>
        <p:nvSpPr>
          <p:cNvPr id="22" name="Return loop">
            <a:extLst xmlns:a="http://schemas.openxmlformats.org/drawingml/2006/main">
              <a:ext uri="{FF2B5EF4-FFF2-40B4-BE49-F238E27FC236}">
                <a16:creationId xmlns:a16="http://schemas.microsoft.com/office/drawing/2014/main" id="{E9808F4B-AF26-49D7-937E-11C4E5106AA2}"/>
              </a:ext>
            </a:extLst>
          </p:cNvPr>
          <p:cNvSpPr>
            <a:spLocks xmlns:a="http://schemas.openxmlformats.org/drawingml/2006/main" noGrp="1"/>
          </p:cNvSpPr>
          <p:nvPr/>
        </p:nvSpPr>
        <p:spPr>
          <a:xfrm xmlns:a="http://schemas.openxmlformats.org/drawingml/2006/main">
            <a:off x="666750" y="5619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65F54"/>
                </a:solidFill>
                <a:latin typeface="Open Sans"/>
                <a:ea typeface="Open Sans"/>
                <a:cs typeface="Open Sans"/>
              </a:defRPr>
            </a:pPr>
            <a:r>
              <a:rPr sz="1950" b="1">
                <a:solidFill>
                  <a:srgbClr val="865F54"/>
                </a:solidFill>
                <a:latin typeface="Open Sans"/>
                <a:ea typeface="Open Sans"/>
                <a:cs typeface="Open Sans"/>
              </a:rPr>
              <a:t>Missing information → provider supplies details → request is checked again</a:t>
            </a:r>
          </a:p>
        </p:txBody>
      </p:sp>
      <p:sp>
        <p:nvSpPr>
          <p:cNvPr id="23" name="Oversight">
            <a:extLst xmlns:a="http://schemas.openxmlformats.org/drawingml/2006/main">
              <a:ext uri="{FF2B5EF4-FFF2-40B4-BE49-F238E27FC236}">
                <a16:creationId xmlns:a16="http://schemas.microsoft.com/office/drawing/2014/main" id="{D2DD08F1-169E-40E3-BFF8-2E377000D1CA}"/>
              </a:ext>
            </a:extLst>
          </p:cNvPr>
          <p:cNvSpPr>
            <a:spLocks xmlns:a="http://schemas.openxmlformats.org/drawingml/2006/main" noGrp="1"/>
          </p:cNvSpPr>
          <p:nvPr/>
        </p:nvSpPr>
        <p:spPr>
          <a:xfrm xmlns:a="http://schemas.openxmlformats.org/drawingml/2006/main">
            <a:off x="666750" y="6286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C6054"/>
                </a:solidFill>
                <a:latin typeface="Open Sans"/>
                <a:ea typeface="Open Sans"/>
                <a:cs typeface="Open Sans"/>
              </a:defRPr>
            </a:pPr>
            <a:r>
              <a:rPr sz="1500" b="0">
                <a:solidFill>
                  <a:srgbClr val="6C6054"/>
                </a:solidFill>
                <a:latin typeface="Open Sans"/>
                <a:ea typeface="Open Sans"/>
                <a:cs typeface="Open Sans"/>
              </a:rPr>
              <a:t>Nurses review exceptions and make clinical decisions. The demo does not automatically deny requests.</a:t>
            </a:r>
          </a:p>
        </p:txBody>
      </p:sp>
    </p:spTree>
    <p:extLst>
      <p:ext uri="{BB962C8B-B14F-4D97-AF65-F5344CB8AC3E}">
        <p14:creationId xmlns:p14="http://schemas.microsoft.com/office/powerpoint/2010/main" val="1172765301"/>
      </p:ext>
    </p:extLst>
  </p:cSld>
</p:sld>
</file>

<file path=ppt/slides/slide6.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B43163F-5A09-400C-B109-D1022BF869E2}"/>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Three AI Opportunities</a:t>
            </a:r>
          </a:p>
        </p:txBody>
      </p:sp>
      <p:sp>
        <p:nvSpPr>
          <p:cNvPr id="2" name="Purpose">
            <a:extLst xmlns:a="http://schemas.openxmlformats.org/drawingml/2006/main">
              <a:ext uri="{FF2B5EF4-FFF2-40B4-BE49-F238E27FC236}">
                <a16:creationId xmlns:a16="http://schemas.microsoft.com/office/drawing/2014/main" id="{3A7BDF42-3007-4202-9089-02B191D43EF8}"/>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Reduce administrative effort so nurses can focus on clinical judgment</a:t>
            </a:r>
          </a:p>
        </p:txBody>
      </p:sp>
      <p:sp>
        <p:nvSpPr>
          <p:cNvPr id="3" name="Label 70">
            <a:extLst xmlns:a="http://schemas.openxmlformats.org/drawingml/2006/main">
              <a:ext uri="{FF2B5EF4-FFF2-40B4-BE49-F238E27FC236}">
                <a16:creationId xmlns:a16="http://schemas.microsoft.com/office/drawing/2014/main" id="{8C5617ED-9778-4D15-B149-EFF29279EFD3}"/>
              </a:ext>
            </a:extLst>
          </p:cNvPr>
          <p:cNvSpPr>
            <a:spLocks xmlns:a="http://schemas.openxmlformats.org/drawingml/2006/main" noGrp="1"/>
          </p:cNvSpPr>
          <p:nvPr/>
        </p:nvSpPr>
        <p:spPr>
          <a:xfrm xmlns:a="http://schemas.openxmlformats.org/drawingml/2006/main">
            <a:off x="666750" y="2143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65F54"/>
                </a:solidFill>
                <a:latin typeface="Open Sans"/>
                <a:ea typeface="Open Sans"/>
                <a:cs typeface="Open Sans"/>
              </a:defRPr>
            </a:pPr>
            <a:r>
              <a:rPr sz="1350" b="1">
                <a:solidFill>
                  <a:srgbClr val="865F54"/>
                </a:solidFill>
                <a:latin typeface="Open Sans"/>
                <a:ea typeface="Open Sans"/>
                <a:cs typeface="Open Sans"/>
              </a:rPr>
              <a:t>1  INTAKE ASSISTANCE</a:t>
            </a:r>
          </a:p>
        </p:txBody>
      </p:sp>
      <p:sp>
        <p:nvSpPr>
          <p:cNvPr id="4" name="Title 70">
            <a:extLst xmlns:a="http://schemas.openxmlformats.org/drawingml/2006/main">
              <a:ext uri="{FF2B5EF4-FFF2-40B4-BE49-F238E27FC236}">
                <a16:creationId xmlns:a16="http://schemas.microsoft.com/office/drawing/2014/main" id="{FA5663D6-2BE1-4070-86FC-FA3A5BD197D2}"/>
              </a:ext>
            </a:extLst>
          </p:cNvPr>
          <p:cNvSpPr>
            <a:spLocks xmlns:a="http://schemas.openxmlformats.org/drawingml/2006/main" noGrp="1"/>
          </p:cNvSpPr>
          <p:nvPr/>
        </p:nvSpPr>
        <p:spPr>
          <a:xfrm xmlns:a="http://schemas.openxmlformats.org/drawingml/2006/main">
            <a:off x="666750" y="28289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43829"/>
                </a:solidFill>
                <a:latin typeface="Open Sans"/>
                <a:ea typeface="Open Sans"/>
                <a:cs typeface="Open Sans"/>
              </a:defRPr>
            </a:pPr>
            <a:r>
              <a:rPr sz="2325" b="1">
                <a:solidFill>
                  <a:srgbClr val="443829"/>
                </a:solidFill>
                <a:latin typeface="Open Sans"/>
                <a:ea typeface="Open Sans"/>
                <a:cs typeface="Open Sans"/>
              </a:rPr>
              <a:t>Catch missing</a:t>
            </a:r>
          </a:p>
          <a:p xmlns:a="http://schemas.openxmlformats.org/drawingml/2006/main">
            <a:pPr>
              <a:defRPr sz="2325" b="1">
                <a:solidFill>
                  <a:srgbClr val="443829"/>
                </a:solidFill>
                <a:latin typeface="Open Sans"/>
                <a:ea typeface="Open Sans"/>
                <a:cs typeface="Open Sans"/>
              </a:defRPr>
            </a:pPr>
            <a:r>
              <a:rPr sz="2325" b="1">
                <a:solidFill>
                  <a:srgbClr val="443829"/>
                </a:solidFill>
                <a:latin typeface="Open Sans"/>
                <a:ea typeface="Open Sans"/>
                <a:cs typeface="Open Sans"/>
              </a:rPr>
              <a:t>information early</a:t>
            </a:r>
          </a:p>
        </p:txBody>
      </p:sp>
      <p:sp>
        <p:nvSpPr>
          <p:cNvPr id="5" name="Action 70">
            <a:extLst xmlns:a="http://schemas.openxmlformats.org/drawingml/2006/main">
              <a:ext uri="{FF2B5EF4-FFF2-40B4-BE49-F238E27FC236}">
                <a16:creationId xmlns:a16="http://schemas.microsoft.com/office/drawing/2014/main" id="{7F4B49BD-1934-46E2-BD6C-531028308F8F}"/>
              </a:ext>
            </a:extLst>
          </p:cNvPr>
          <p:cNvSpPr>
            <a:spLocks xmlns:a="http://schemas.openxmlformats.org/drawingml/2006/main" noGrp="1"/>
          </p:cNvSpPr>
          <p:nvPr/>
        </p:nvSpPr>
        <p:spPr>
          <a:xfrm xmlns:a="http://schemas.openxmlformats.org/drawingml/2006/main">
            <a:off x="666750" y="40957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Extract request details.</a:t>
            </a:r>
          </a:p>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Check required documentation.</a:t>
            </a:r>
          </a:p>
        </p:txBody>
      </p:sp>
      <p:sp>
        <p:nvSpPr>
          <p:cNvPr id="6" name="Benefit 70">
            <a:extLst xmlns:a="http://schemas.openxmlformats.org/drawingml/2006/main">
              <a:ext uri="{FF2B5EF4-FFF2-40B4-BE49-F238E27FC236}">
                <a16:creationId xmlns:a16="http://schemas.microsoft.com/office/drawing/2014/main" id="{A0E60585-E78D-426F-B2E2-D72A0ECFAA90}"/>
              </a:ext>
            </a:extLst>
          </p:cNvPr>
          <p:cNvSpPr>
            <a:spLocks xmlns:a="http://schemas.openxmlformats.org/drawingml/2006/main" noGrp="1"/>
          </p:cNvSpPr>
          <p:nvPr/>
        </p:nvSpPr>
        <p:spPr>
          <a:xfrm xmlns:a="http://schemas.openxmlformats.org/drawingml/2006/main">
            <a:off x="666750" y="53911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65F54"/>
                </a:solidFill>
                <a:latin typeface="Open Sans"/>
                <a:ea typeface="Open Sans"/>
                <a:cs typeface="Open Sans"/>
              </a:defRPr>
            </a:pPr>
            <a:r>
              <a:rPr sz="1800" b="1">
                <a:solidFill>
                  <a:srgbClr val="865F54"/>
                </a:solidFill>
                <a:latin typeface="Open Sans"/>
                <a:ea typeface="Open Sans"/>
                <a:cs typeface="Open Sans"/>
              </a:rPr>
              <a:t>Less manual triage</a:t>
            </a:r>
          </a:p>
          <a:p xmlns:a="http://schemas.openxmlformats.org/drawingml/2006/main">
            <a:pPr>
              <a:defRPr sz="1800" b="1">
                <a:solidFill>
                  <a:srgbClr val="865F54"/>
                </a:solidFill>
                <a:latin typeface="Open Sans"/>
                <a:ea typeface="Open Sans"/>
                <a:cs typeface="Open Sans"/>
              </a:defRPr>
            </a:pPr>
            <a:r>
              <a:rPr sz="1800" b="1">
                <a:solidFill>
                  <a:srgbClr val="865F54"/>
                </a:solidFill>
                <a:latin typeface="Open Sans"/>
                <a:ea typeface="Open Sans"/>
                <a:cs typeface="Open Sans"/>
              </a:rPr>
              <a:t>and nurse-handled rework.</a:t>
            </a:r>
          </a:p>
        </p:txBody>
      </p:sp>
      <p:sp>
        <p:nvSpPr>
          <p:cNvPr id="7" name="Label 475">
            <a:extLst xmlns:a="http://schemas.openxmlformats.org/drawingml/2006/main">
              <a:ext uri="{FF2B5EF4-FFF2-40B4-BE49-F238E27FC236}">
                <a16:creationId xmlns:a16="http://schemas.microsoft.com/office/drawing/2014/main" id="{F2457A48-3A3B-4813-B7C2-3A88A4AA1A23}"/>
              </a:ext>
            </a:extLst>
          </p:cNvPr>
          <p:cNvSpPr>
            <a:spLocks xmlns:a="http://schemas.openxmlformats.org/drawingml/2006/main" noGrp="1"/>
          </p:cNvSpPr>
          <p:nvPr/>
        </p:nvSpPr>
        <p:spPr>
          <a:xfrm xmlns:a="http://schemas.openxmlformats.org/drawingml/2006/main">
            <a:off x="4524375" y="2143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65F54"/>
                </a:solidFill>
                <a:latin typeface="Open Sans"/>
                <a:ea typeface="Open Sans"/>
                <a:cs typeface="Open Sans"/>
              </a:defRPr>
            </a:pPr>
            <a:r>
              <a:rPr sz="1350" b="1">
                <a:solidFill>
                  <a:srgbClr val="865F54"/>
                </a:solidFill>
                <a:latin typeface="Open Sans"/>
                <a:ea typeface="Open Sans"/>
                <a:cs typeface="Open Sans"/>
              </a:rPr>
              <a:t>2  NURSE DECISION SUPPORT</a:t>
            </a:r>
          </a:p>
        </p:txBody>
      </p:sp>
      <p:sp>
        <p:nvSpPr>
          <p:cNvPr id="8" name="Title 475">
            <a:extLst xmlns:a="http://schemas.openxmlformats.org/drawingml/2006/main">
              <a:ext uri="{FF2B5EF4-FFF2-40B4-BE49-F238E27FC236}">
                <a16:creationId xmlns:a16="http://schemas.microsoft.com/office/drawing/2014/main" id="{57DD1ED5-EF36-447B-A7E5-53310ED15919}"/>
              </a:ext>
            </a:extLst>
          </p:cNvPr>
          <p:cNvSpPr>
            <a:spLocks xmlns:a="http://schemas.openxmlformats.org/drawingml/2006/main" noGrp="1"/>
          </p:cNvSpPr>
          <p:nvPr/>
        </p:nvSpPr>
        <p:spPr>
          <a:xfrm xmlns:a="http://schemas.openxmlformats.org/drawingml/2006/main">
            <a:off x="4524375" y="28289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43829"/>
                </a:solidFill>
                <a:latin typeface="Open Sans"/>
                <a:ea typeface="Open Sans"/>
                <a:cs typeface="Open Sans"/>
              </a:defRPr>
            </a:pPr>
            <a:r>
              <a:rPr sz="2325" b="1">
                <a:solidFill>
                  <a:srgbClr val="443829"/>
                </a:solidFill>
                <a:latin typeface="Open Sans"/>
                <a:ea typeface="Open Sans"/>
                <a:cs typeface="Open Sans"/>
              </a:rPr>
              <a:t>Prepare evidence</a:t>
            </a:r>
          </a:p>
          <a:p xmlns:a="http://schemas.openxmlformats.org/drawingml/2006/main">
            <a:pPr>
              <a:defRPr sz="2325" b="1">
                <a:solidFill>
                  <a:srgbClr val="443829"/>
                </a:solidFill>
                <a:latin typeface="Open Sans"/>
                <a:ea typeface="Open Sans"/>
                <a:cs typeface="Open Sans"/>
              </a:defRPr>
            </a:pPr>
            <a:r>
              <a:rPr sz="2325" b="1">
                <a:solidFill>
                  <a:srgbClr val="443829"/>
                </a:solidFill>
                <a:latin typeface="Open Sans"/>
                <a:ea typeface="Open Sans"/>
                <a:cs typeface="Open Sans"/>
              </a:rPr>
              <a:t>for review</a:t>
            </a:r>
          </a:p>
        </p:txBody>
      </p:sp>
      <p:sp>
        <p:nvSpPr>
          <p:cNvPr id="9" name="Action 475">
            <a:extLst xmlns:a="http://schemas.openxmlformats.org/drawingml/2006/main">
              <a:ext uri="{FF2B5EF4-FFF2-40B4-BE49-F238E27FC236}">
                <a16:creationId xmlns:a16="http://schemas.microsoft.com/office/drawing/2014/main" id="{54E92675-0937-4528-A99A-AC4DE350D0B0}"/>
              </a:ext>
            </a:extLst>
          </p:cNvPr>
          <p:cNvSpPr>
            <a:spLocks xmlns:a="http://schemas.openxmlformats.org/drawingml/2006/main" noGrp="1"/>
          </p:cNvSpPr>
          <p:nvPr/>
        </p:nvSpPr>
        <p:spPr>
          <a:xfrm xmlns:a="http://schemas.openxmlformats.org/drawingml/2006/main">
            <a:off x="4524375" y="40957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Compare with applicable policies.</a:t>
            </a:r>
          </a:p>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Summarize findings with citations.</a:t>
            </a:r>
          </a:p>
        </p:txBody>
      </p:sp>
      <p:sp>
        <p:nvSpPr>
          <p:cNvPr id="10" name="Benefit 475">
            <a:extLst xmlns:a="http://schemas.openxmlformats.org/drawingml/2006/main">
              <a:ext uri="{FF2B5EF4-FFF2-40B4-BE49-F238E27FC236}">
                <a16:creationId xmlns:a16="http://schemas.microsoft.com/office/drawing/2014/main" id="{79F6AF5B-7D8A-4FA9-ADD7-A43FC1A3FDA3}"/>
              </a:ext>
            </a:extLst>
          </p:cNvPr>
          <p:cNvSpPr>
            <a:spLocks xmlns:a="http://schemas.openxmlformats.org/drawingml/2006/main" noGrp="1"/>
          </p:cNvSpPr>
          <p:nvPr/>
        </p:nvSpPr>
        <p:spPr>
          <a:xfrm xmlns:a="http://schemas.openxmlformats.org/drawingml/2006/main">
            <a:off x="4524375" y="53911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65F54"/>
                </a:solidFill>
                <a:latin typeface="Open Sans"/>
                <a:ea typeface="Open Sans"/>
                <a:cs typeface="Open Sans"/>
              </a:defRPr>
            </a:pPr>
            <a:r>
              <a:rPr sz="1800" b="1">
                <a:solidFill>
                  <a:srgbClr val="865F54"/>
                </a:solidFill>
                <a:latin typeface="Open Sans"/>
                <a:ea typeface="Open Sans"/>
                <a:cs typeface="Open Sans"/>
              </a:rPr>
              <a:t>Less time searching</a:t>
            </a:r>
          </a:p>
          <a:p xmlns:a="http://schemas.openxmlformats.org/drawingml/2006/main">
            <a:pPr>
              <a:defRPr sz="1800" b="1">
                <a:solidFill>
                  <a:srgbClr val="865F54"/>
                </a:solidFill>
                <a:latin typeface="Open Sans"/>
                <a:ea typeface="Open Sans"/>
                <a:cs typeface="Open Sans"/>
              </a:defRPr>
            </a:pPr>
            <a:r>
              <a:rPr sz="1800" b="1">
                <a:solidFill>
                  <a:srgbClr val="865F54"/>
                </a:solidFill>
                <a:latin typeface="Open Sans"/>
                <a:ea typeface="Open Sans"/>
                <a:cs typeface="Open Sans"/>
              </a:rPr>
              <a:t>and reading documents.</a:t>
            </a:r>
          </a:p>
        </p:txBody>
      </p:sp>
      <p:sp>
        <p:nvSpPr>
          <p:cNvPr id="11" name="Label 880">
            <a:extLst xmlns:a="http://schemas.openxmlformats.org/drawingml/2006/main">
              <a:ext uri="{FF2B5EF4-FFF2-40B4-BE49-F238E27FC236}">
                <a16:creationId xmlns:a16="http://schemas.microsoft.com/office/drawing/2014/main" id="{B95E1EDD-6515-42B2-A54C-13EE13627213}"/>
              </a:ext>
            </a:extLst>
          </p:cNvPr>
          <p:cNvSpPr>
            <a:spLocks xmlns:a="http://schemas.openxmlformats.org/drawingml/2006/main" noGrp="1"/>
          </p:cNvSpPr>
          <p:nvPr/>
        </p:nvSpPr>
        <p:spPr>
          <a:xfrm xmlns:a="http://schemas.openxmlformats.org/drawingml/2006/main">
            <a:off x="8382000" y="21431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65F54"/>
                </a:solidFill>
                <a:latin typeface="Open Sans"/>
                <a:ea typeface="Open Sans"/>
                <a:cs typeface="Open Sans"/>
              </a:defRPr>
            </a:pPr>
            <a:r>
              <a:rPr sz="1350" b="1">
                <a:solidFill>
                  <a:srgbClr val="865F54"/>
                </a:solidFill>
                <a:latin typeface="Open Sans"/>
                <a:ea typeface="Open Sans"/>
                <a:cs typeface="Open Sans"/>
              </a:rPr>
              <a:t>3  PROVIDER COMMUNICATION</a:t>
            </a:r>
          </a:p>
        </p:txBody>
      </p:sp>
      <p:sp>
        <p:nvSpPr>
          <p:cNvPr id="12" name="Title 880">
            <a:extLst xmlns:a="http://schemas.openxmlformats.org/drawingml/2006/main">
              <a:ext uri="{FF2B5EF4-FFF2-40B4-BE49-F238E27FC236}">
                <a16:creationId xmlns:a16="http://schemas.microsoft.com/office/drawing/2014/main" id="{CD28273F-AB65-4855-87D9-2A63EBF76ABD}"/>
              </a:ext>
            </a:extLst>
          </p:cNvPr>
          <p:cNvSpPr>
            <a:spLocks xmlns:a="http://schemas.openxmlformats.org/drawingml/2006/main" noGrp="1"/>
          </p:cNvSpPr>
          <p:nvPr/>
        </p:nvSpPr>
        <p:spPr>
          <a:xfrm xmlns:a="http://schemas.openxmlformats.org/drawingml/2006/main">
            <a:off x="8382000" y="28289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443829"/>
                </a:solidFill>
                <a:latin typeface="Open Sans"/>
                <a:ea typeface="Open Sans"/>
                <a:cs typeface="Open Sans"/>
              </a:defRPr>
            </a:pPr>
            <a:r>
              <a:rPr sz="2325" b="1">
                <a:solidFill>
                  <a:srgbClr val="443829"/>
                </a:solidFill>
                <a:latin typeface="Open Sans"/>
                <a:ea typeface="Open Sans"/>
                <a:cs typeface="Open Sans"/>
              </a:rPr>
              <a:t>Make next steps</a:t>
            </a:r>
          </a:p>
          <a:p xmlns:a="http://schemas.openxmlformats.org/drawingml/2006/main">
            <a:pPr>
              <a:defRPr sz="2325" b="1">
                <a:solidFill>
                  <a:srgbClr val="443829"/>
                </a:solidFill>
                <a:latin typeface="Open Sans"/>
                <a:ea typeface="Open Sans"/>
                <a:cs typeface="Open Sans"/>
              </a:defRPr>
            </a:pPr>
            <a:r>
              <a:rPr sz="2325" b="1">
                <a:solidFill>
                  <a:srgbClr val="443829"/>
                </a:solidFill>
                <a:latin typeface="Open Sans"/>
                <a:ea typeface="Open Sans"/>
                <a:cs typeface="Open Sans"/>
              </a:rPr>
              <a:t>clear</a:t>
            </a:r>
          </a:p>
        </p:txBody>
      </p:sp>
      <p:sp>
        <p:nvSpPr>
          <p:cNvPr id="13" name="Action 880">
            <a:extLst xmlns:a="http://schemas.openxmlformats.org/drawingml/2006/main">
              <a:ext uri="{FF2B5EF4-FFF2-40B4-BE49-F238E27FC236}">
                <a16:creationId xmlns:a16="http://schemas.microsoft.com/office/drawing/2014/main" id="{2B4D9581-7892-4A71-915B-58D0A977DC0C}"/>
              </a:ext>
            </a:extLst>
          </p:cNvPr>
          <p:cNvSpPr>
            <a:spLocks xmlns:a="http://schemas.openxmlformats.org/drawingml/2006/main" noGrp="1"/>
          </p:cNvSpPr>
          <p:nvPr/>
        </p:nvSpPr>
        <p:spPr>
          <a:xfrm xmlns:a="http://schemas.openxmlformats.org/drawingml/2006/main">
            <a:off x="8382000" y="40957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Draft specific information requests</a:t>
            </a:r>
          </a:p>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and plain-language status updates.</a:t>
            </a:r>
          </a:p>
        </p:txBody>
      </p:sp>
      <p:sp>
        <p:nvSpPr>
          <p:cNvPr id="14" name="Benefit 880">
            <a:extLst xmlns:a="http://schemas.openxmlformats.org/drawingml/2006/main">
              <a:ext uri="{FF2B5EF4-FFF2-40B4-BE49-F238E27FC236}">
                <a16:creationId xmlns:a16="http://schemas.microsoft.com/office/drawing/2014/main" id="{165285E7-B2E0-4155-9D42-E62A752ADC51}"/>
              </a:ext>
            </a:extLst>
          </p:cNvPr>
          <p:cNvSpPr>
            <a:spLocks xmlns:a="http://schemas.openxmlformats.org/drawingml/2006/main" noGrp="1"/>
          </p:cNvSpPr>
          <p:nvPr/>
        </p:nvSpPr>
        <p:spPr>
          <a:xfrm xmlns:a="http://schemas.openxmlformats.org/drawingml/2006/main">
            <a:off x="8382000" y="53911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65F54"/>
                </a:solidFill>
                <a:latin typeface="Open Sans"/>
                <a:ea typeface="Open Sans"/>
                <a:cs typeface="Open Sans"/>
              </a:defRPr>
            </a:pPr>
            <a:r>
              <a:rPr sz="1800" b="1">
                <a:solidFill>
                  <a:srgbClr val="865F54"/>
                </a:solidFill>
                <a:latin typeface="Open Sans"/>
                <a:ea typeface="Open Sans"/>
                <a:cs typeface="Open Sans"/>
              </a:rPr>
              <a:t>Less manual correspondence</a:t>
            </a:r>
          </a:p>
          <a:p xmlns:a="http://schemas.openxmlformats.org/drawingml/2006/main">
            <a:pPr>
              <a:defRPr sz="1800" b="1">
                <a:solidFill>
                  <a:srgbClr val="865F54"/>
                </a:solidFill>
                <a:latin typeface="Open Sans"/>
                <a:ea typeface="Open Sans"/>
                <a:cs typeface="Open Sans"/>
              </a:defRPr>
            </a:pPr>
            <a:r>
              <a:rPr sz="1800" b="1">
                <a:solidFill>
                  <a:srgbClr val="865F54"/>
                </a:solidFill>
                <a:latin typeface="Open Sans"/>
                <a:ea typeface="Open Sans"/>
                <a:cs typeface="Open Sans"/>
              </a:rPr>
              <a:t>and fewer avoidable status calls.</a:t>
            </a:r>
          </a:p>
        </p:txBody>
      </p:sp>
      <p:sp>
        <p:nvSpPr>
          <p:cNvPr id="15" name="Oversight">
            <a:extLst xmlns:a="http://schemas.openxmlformats.org/drawingml/2006/main">
              <a:ext uri="{FF2B5EF4-FFF2-40B4-BE49-F238E27FC236}">
                <a16:creationId xmlns:a16="http://schemas.microsoft.com/office/drawing/2014/main" id="{AF143C52-03B4-4947-811A-96BB9E9E323C}"/>
              </a:ext>
            </a:extLst>
          </p:cNvPr>
          <p:cNvSpPr>
            <a:spLocks xmlns:a="http://schemas.openxmlformats.org/drawingml/2006/main" noGrp="1"/>
          </p:cNvSpPr>
          <p:nvPr/>
        </p:nvSpPr>
        <p:spPr>
          <a:xfrm xmlns:a="http://schemas.openxmlformats.org/drawingml/2006/main">
            <a:off x="666750" y="64484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C6054"/>
                </a:solidFill>
                <a:latin typeface="Open Sans"/>
                <a:ea typeface="Open Sans"/>
                <a:cs typeface="Open Sans"/>
              </a:defRPr>
            </a:pPr>
            <a:r>
              <a:rPr sz="1425" b="0">
                <a:solidFill>
                  <a:srgbClr val="6C6054"/>
                </a:solidFill>
                <a:latin typeface="Open Sans"/>
                <a:ea typeface="Open Sans"/>
                <a:cs typeface="Open Sans"/>
              </a:rPr>
              <a:t>Clinical decisions stay with qualified reviewers. Benefits must be measured in a pilot.</a:t>
            </a:r>
          </a:p>
        </p:txBody>
      </p:sp>
    </p:spTree>
    <p:extLst>
      <p:ext uri="{BB962C8B-B14F-4D97-AF65-F5344CB8AC3E}">
        <p14:creationId xmlns:p14="http://schemas.microsoft.com/office/powerpoint/2010/main" val="585744787"/>
      </p:ext>
    </p:extLst>
  </p:cSld>
</p:sld>
</file>

<file path=ppt/slides/slide7.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33" name="Title">
            <a:extLst xmlns:a="http://schemas.openxmlformats.org/drawingml/2006/main">
              <a:ext uri="{FF2B5EF4-FFF2-40B4-BE49-F238E27FC236}">
                <a16:creationId xmlns:a16="http://schemas.microsoft.com/office/drawing/2014/main" id="{7A10F5B3-F83B-4D58-8CF9-ED3D7F9B9BD8}"/>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Guardrails around the workflow</a:t>
            </a:r>
          </a:p>
        </p:txBody>
      </p:sp>
      <p:sp>
        <p:nvSpPr>
          <p:cNvPr id="2" name="Purpose">
            <a:extLst xmlns:a="http://schemas.openxmlformats.org/drawingml/2006/main">
              <a:ext uri="{FF2B5EF4-FFF2-40B4-BE49-F238E27FC236}">
                <a16:creationId xmlns:a16="http://schemas.microsoft.com/office/drawing/2014/main" id="{BE743B16-B0CE-4957-A697-C6C2E3292508}"/>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Human oversight, grounded evidence and controls across every step</a:t>
            </a:r>
          </a:p>
        </p:txBody>
      </p:sp>
      <p:sp>
        <p:nvSpPr>
          <p:cNvPr id="3" name="Marker 1">
            <a:extLst xmlns:a="http://schemas.openxmlformats.org/drawingml/2006/main">
              <a:ext uri="{FF2B5EF4-FFF2-40B4-BE49-F238E27FC236}">
                <a16:creationId xmlns:a16="http://schemas.microsoft.com/office/drawing/2014/main" id="{17E4CA59-DAEE-4BF8-96A2-C475316B2F16}"/>
              </a:ext>
            </a:extLst>
          </p:cNvPr>
          <p:cNvSpPr>
            <a:spLocks xmlns:a="http://schemas.openxmlformats.org/drawingml/2006/main" noGrp="1"/>
          </p:cNvSpPr>
          <p:nvPr/>
        </p:nvSpPr>
        <p:spPr>
          <a:xfrm xmlns:a="http://schemas.openxmlformats.org/drawingml/2006/main">
            <a:off x="1524000" y="2095500"/>
            <a:ext cx="666750" cy="666750"/>
          </a:xfrm>
          <a:prstGeom xmlns:a="http://schemas.openxmlformats.org/drawingml/2006/main" prst="ellipse">
            <a:avLst/>
          </a:prstGeom>
          <a:solidFill xmlns:a="http://schemas.openxmlformats.org/drawingml/2006/main">
            <a:srgbClr val="176D72"/>
          </a:solidFill>
          <a:ln xmlns:a="http://schemas.openxmlformats.org/drawingml/2006/main" w="0">
            <a:noFill/>
          </a:ln>
        </p:spPr>
      </p:sp>
      <p:sp>
        <p:nvSpPr>
          <p:cNvPr id="4" name="Number 1">
            <a:extLst xmlns:a="http://schemas.openxmlformats.org/drawingml/2006/main">
              <a:ext uri="{FF2B5EF4-FFF2-40B4-BE49-F238E27FC236}">
                <a16:creationId xmlns:a16="http://schemas.microsoft.com/office/drawing/2014/main" id="{714069D3-FBA1-4CEA-B170-AB3F0AFAAD2E}"/>
              </a:ext>
            </a:extLst>
          </p:cNvPr>
          <p:cNvSpPr>
            <a:spLocks xmlns:a="http://schemas.openxmlformats.org/drawingml/2006/main" noGrp="1"/>
          </p:cNvSpPr>
          <p:nvPr/>
        </p:nvSpPr>
        <p:spPr>
          <a:xfrm xmlns:a="http://schemas.openxmlformats.org/drawingml/2006/main">
            <a:off x="1733550" y="2190750"/>
            <a:ext cx="38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Open Sans"/>
                <a:ea typeface="Open Sans"/>
                <a:cs typeface="Open Sans"/>
              </a:defRPr>
            </a:pPr>
            <a:r>
              <a:rPr sz="2325" b="1">
                <a:solidFill>
                  <a:srgbClr val="FFFFFF"/>
                </a:solidFill>
                <a:latin typeface="Open Sans"/>
                <a:ea typeface="Open Sans"/>
                <a:cs typeface="Open Sans"/>
              </a:rPr>
              <a:t>1</a:t>
            </a:r>
          </a:p>
        </p:txBody>
      </p:sp>
      <p:sp>
        <p:nvSpPr>
          <p:cNvPr id="5" name="Heading 1">
            <a:extLst xmlns:a="http://schemas.openxmlformats.org/drawingml/2006/main">
              <a:ext uri="{FF2B5EF4-FFF2-40B4-BE49-F238E27FC236}">
                <a16:creationId xmlns:a16="http://schemas.microsoft.com/office/drawing/2014/main" id="{E827D2D7-A0D5-4A8C-93B2-10091D4CCD82}"/>
              </a:ext>
            </a:extLst>
          </p:cNvPr>
          <p:cNvSpPr>
            <a:spLocks xmlns:a="http://schemas.openxmlformats.org/drawingml/2006/main" noGrp="1"/>
          </p:cNvSpPr>
          <p:nvPr/>
        </p:nvSpPr>
        <p:spPr>
          <a:xfrm xmlns:a="http://schemas.openxmlformats.org/drawingml/2006/main">
            <a:off x="666750" y="3038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Grounded evidence</a:t>
            </a:r>
          </a:p>
        </p:txBody>
      </p:sp>
      <p:sp>
        <p:nvSpPr>
          <p:cNvPr id="6" name="Today label 1">
            <a:extLst xmlns:a="http://schemas.openxmlformats.org/drawingml/2006/main">
              <a:ext uri="{FF2B5EF4-FFF2-40B4-BE49-F238E27FC236}">
                <a16:creationId xmlns:a16="http://schemas.microsoft.com/office/drawing/2014/main" id="{E54DABA0-0E65-4217-B41F-532131AAF502}"/>
              </a:ext>
            </a:extLst>
          </p:cNvPr>
          <p:cNvSpPr>
            <a:spLocks xmlns:a="http://schemas.openxmlformats.org/drawingml/2006/main" noGrp="1"/>
          </p:cNvSpPr>
          <p:nvPr/>
        </p:nvSpPr>
        <p:spPr>
          <a:xfrm xmlns:a="http://schemas.openxmlformats.org/drawingml/2006/main">
            <a:off x="666750" y="4029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865F54"/>
                </a:solidFill>
                <a:latin typeface="Open Sans"/>
                <a:ea typeface="Open Sans"/>
                <a:cs typeface="Open Sans"/>
              </a:defRPr>
            </a:pPr>
            <a:r>
              <a:rPr sz="1200" b="1">
                <a:solidFill>
                  <a:srgbClr val="865F54"/>
                </a:solidFill>
                <a:latin typeface="Open Sans"/>
                <a:ea typeface="Open Sans"/>
                <a:cs typeface="Open Sans"/>
              </a:rPr>
              <a:t>DEMO</a:t>
            </a:r>
          </a:p>
        </p:txBody>
      </p:sp>
      <p:sp>
        <p:nvSpPr>
          <p:cNvPr id="7" name="Today 1">
            <a:extLst xmlns:a="http://schemas.openxmlformats.org/drawingml/2006/main">
              <a:ext uri="{FF2B5EF4-FFF2-40B4-BE49-F238E27FC236}">
                <a16:creationId xmlns:a16="http://schemas.microsoft.com/office/drawing/2014/main" id="{8ABC5DCD-3B5C-4722-B822-3AF606888171}"/>
              </a:ext>
            </a:extLst>
          </p:cNvPr>
          <p:cNvSpPr>
            <a:spLocks xmlns:a="http://schemas.openxmlformats.org/drawingml/2006/main" noGrp="1"/>
          </p:cNvSpPr>
          <p:nvPr/>
        </p:nvSpPr>
        <p:spPr>
          <a:xfrm xmlns:a="http://schemas.openxmlformats.org/drawingml/2006/main">
            <a:off x="666750" y="4371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Policy citations</a:t>
            </a:r>
          </a:p>
        </p:txBody>
      </p:sp>
      <p:sp>
        <p:nvSpPr>
          <p:cNvPr id="8" name="Next label 1">
            <a:extLst xmlns:a="http://schemas.openxmlformats.org/drawingml/2006/main">
              <a:ext uri="{FF2B5EF4-FFF2-40B4-BE49-F238E27FC236}">
                <a16:creationId xmlns:a16="http://schemas.microsoft.com/office/drawing/2014/main" id="{C28C2827-ECB4-426B-BC4F-95EE5E7789BA}"/>
              </a:ext>
            </a:extLst>
          </p:cNvPr>
          <p:cNvSpPr>
            <a:spLocks xmlns:a="http://schemas.openxmlformats.org/drawingml/2006/main" noGrp="1"/>
          </p:cNvSpPr>
          <p:nvPr/>
        </p:nvSpPr>
        <p:spPr>
          <a:xfrm xmlns:a="http://schemas.openxmlformats.org/drawingml/2006/main">
            <a:off x="666750" y="5172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C6054"/>
                </a:solidFill>
                <a:latin typeface="Open Sans"/>
                <a:ea typeface="Open Sans"/>
                <a:cs typeface="Open Sans"/>
              </a:defRPr>
            </a:pPr>
            <a:r>
              <a:rPr sz="1200" b="1">
                <a:solidFill>
                  <a:srgbClr val="6C6054"/>
                </a:solidFill>
                <a:latin typeface="Open Sans"/>
                <a:ea typeface="Open Sans"/>
                <a:cs typeface="Open Sans"/>
              </a:rPr>
              <a:t>PRODUCTION PLAN</a:t>
            </a:r>
          </a:p>
        </p:txBody>
      </p:sp>
      <p:sp>
        <p:nvSpPr>
          <p:cNvPr id="9" name="Next 1">
            <a:extLst xmlns:a="http://schemas.openxmlformats.org/drawingml/2006/main">
              <a:ext uri="{FF2B5EF4-FFF2-40B4-BE49-F238E27FC236}">
                <a16:creationId xmlns:a16="http://schemas.microsoft.com/office/drawing/2014/main" id="{DBABE2DF-9742-4958-9C20-06C9260C5E25}"/>
              </a:ext>
            </a:extLst>
          </p:cNvPr>
          <p:cNvSpPr>
            <a:spLocks xmlns:a="http://schemas.openxmlformats.org/drawingml/2006/main" noGrp="1"/>
          </p:cNvSpPr>
          <p:nvPr/>
        </p:nvSpPr>
        <p:spPr>
          <a:xfrm xmlns:a="http://schemas.openxmlformats.org/drawingml/2006/main">
            <a:off x="666750" y="5514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Approved policy versions</a:t>
            </a:r>
          </a:p>
        </p:txBody>
      </p:sp>
      <p:sp>
        <p:nvSpPr>
          <p:cNvPr id="10" name="Marker 2">
            <a:extLst xmlns:a="http://schemas.openxmlformats.org/drawingml/2006/main">
              <a:ext uri="{FF2B5EF4-FFF2-40B4-BE49-F238E27FC236}">
                <a16:creationId xmlns:a16="http://schemas.microsoft.com/office/drawing/2014/main" id="{86B6F66A-BF1D-4551-A67F-973A4309092C}"/>
              </a:ext>
            </a:extLst>
          </p:cNvPr>
          <p:cNvSpPr>
            <a:spLocks xmlns:a="http://schemas.openxmlformats.org/drawingml/2006/main" noGrp="1"/>
          </p:cNvSpPr>
          <p:nvPr/>
        </p:nvSpPr>
        <p:spPr>
          <a:xfrm xmlns:a="http://schemas.openxmlformats.org/drawingml/2006/main">
            <a:off x="4429125" y="2095500"/>
            <a:ext cx="666750" cy="666750"/>
          </a:xfrm>
          <a:prstGeom xmlns:a="http://schemas.openxmlformats.org/drawingml/2006/main" prst="ellipse">
            <a:avLst/>
          </a:prstGeom>
          <a:solidFill xmlns:a="http://schemas.openxmlformats.org/drawingml/2006/main">
            <a:srgbClr val="176D72"/>
          </a:solidFill>
          <a:ln xmlns:a="http://schemas.openxmlformats.org/drawingml/2006/main" w="0">
            <a:noFill/>
          </a:ln>
        </p:spPr>
      </p:sp>
      <p:sp>
        <p:nvSpPr>
          <p:cNvPr id="11" name="Number 2">
            <a:extLst xmlns:a="http://schemas.openxmlformats.org/drawingml/2006/main">
              <a:ext uri="{FF2B5EF4-FFF2-40B4-BE49-F238E27FC236}">
                <a16:creationId xmlns:a16="http://schemas.microsoft.com/office/drawing/2014/main" id="{652B6798-F1FF-4335-908A-82CDB6B90C72}"/>
              </a:ext>
            </a:extLst>
          </p:cNvPr>
          <p:cNvSpPr>
            <a:spLocks xmlns:a="http://schemas.openxmlformats.org/drawingml/2006/main" noGrp="1"/>
          </p:cNvSpPr>
          <p:nvPr/>
        </p:nvSpPr>
        <p:spPr>
          <a:xfrm xmlns:a="http://schemas.openxmlformats.org/drawingml/2006/main">
            <a:off x="4638675" y="2190750"/>
            <a:ext cx="38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Open Sans"/>
                <a:ea typeface="Open Sans"/>
                <a:cs typeface="Open Sans"/>
              </a:defRPr>
            </a:pPr>
            <a:r>
              <a:rPr sz="2325" b="1">
                <a:solidFill>
                  <a:srgbClr val="FFFFFF"/>
                </a:solidFill>
                <a:latin typeface="Open Sans"/>
                <a:ea typeface="Open Sans"/>
                <a:cs typeface="Open Sans"/>
              </a:rPr>
              <a:t>2</a:t>
            </a:r>
          </a:p>
        </p:txBody>
      </p:sp>
      <p:sp>
        <p:nvSpPr>
          <p:cNvPr id="12" name="Heading 2">
            <a:extLst xmlns:a="http://schemas.openxmlformats.org/drawingml/2006/main">
              <a:ext uri="{FF2B5EF4-FFF2-40B4-BE49-F238E27FC236}">
                <a16:creationId xmlns:a16="http://schemas.microsoft.com/office/drawing/2014/main" id="{1AF41BF6-77A5-4230-896E-474AB18222C7}"/>
              </a:ext>
            </a:extLst>
          </p:cNvPr>
          <p:cNvSpPr>
            <a:spLocks xmlns:a="http://schemas.openxmlformats.org/drawingml/2006/main" noGrp="1"/>
          </p:cNvSpPr>
          <p:nvPr/>
        </p:nvSpPr>
        <p:spPr>
          <a:xfrm xmlns:a="http://schemas.openxmlformats.org/drawingml/2006/main">
            <a:off x="3571875" y="3038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Human oversight</a:t>
            </a:r>
          </a:p>
        </p:txBody>
      </p:sp>
      <p:sp>
        <p:nvSpPr>
          <p:cNvPr id="13" name="Today label 2">
            <a:extLst xmlns:a="http://schemas.openxmlformats.org/drawingml/2006/main">
              <a:ext uri="{FF2B5EF4-FFF2-40B4-BE49-F238E27FC236}">
                <a16:creationId xmlns:a16="http://schemas.microsoft.com/office/drawing/2014/main" id="{7A0236A2-B477-4736-8334-68AF78A7F66E}"/>
              </a:ext>
            </a:extLst>
          </p:cNvPr>
          <p:cNvSpPr>
            <a:spLocks xmlns:a="http://schemas.openxmlformats.org/drawingml/2006/main" noGrp="1"/>
          </p:cNvSpPr>
          <p:nvPr/>
        </p:nvSpPr>
        <p:spPr>
          <a:xfrm xmlns:a="http://schemas.openxmlformats.org/drawingml/2006/main">
            <a:off x="3571875" y="4029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865F54"/>
                </a:solidFill>
                <a:latin typeface="Open Sans"/>
                <a:ea typeface="Open Sans"/>
                <a:cs typeface="Open Sans"/>
              </a:defRPr>
            </a:pPr>
            <a:r>
              <a:rPr sz="1200" b="1">
                <a:solidFill>
                  <a:srgbClr val="865F54"/>
                </a:solidFill>
                <a:latin typeface="Open Sans"/>
                <a:ea typeface="Open Sans"/>
                <a:cs typeface="Open Sans"/>
              </a:rPr>
              <a:t>DEMO</a:t>
            </a:r>
          </a:p>
        </p:txBody>
      </p:sp>
      <p:sp>
        <p:nvSpPr>
          <p:cNvPr id="14" name="Today 2">
            <a:extLst xmlns:a="http://schemas.openxmlformats.org/drawingml/2006/main">
              <a:ext uri="{FF2B5EF4-FFF2-40B4-BE49-F238E27FC236}">
                <a16:creationId xmlns:a16="http://schemas.microsoft.com/office/drawing/2014/main" id="{D3ABDAAD-0C43-42FE-A21F-B020059DFB63}"/>
              </a:ext>
            </a:extLst>
          </p:cNvPr>
          <p:cNvSpPr>
            <a:spLocks xmlns:a="http://schemas.openxmlformats.org/drawingml/2006/main" noGrp="1"/>
          </p:cNvSpPr>
          <p:nvPr/>
        </p:nvSpPr>
        <p:spPr>
          <a:xfrm xmlns:a="http://schemas.openxmlformats.org/drawingml/2006/main">
            <a:off x="3571875" y="4371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Nurse review paths</a:t>
            </a:r>
          </a:p>
        </p:txBody>
      </p:sp>
      <p:sp>
        <p:nvSpPr>
          <p:cNvPr id="15" name="Next label 2">
            <a:extLst xmlns:a="http://schemas.openxmlformats.org/drawingml/2006/main">
              <a:ext uri="{FF2B5EF4-FFF2-40B4-BE49-F238E27FC236}">
                <a16:creationId xmlns:a16="http://schemas.microsoft.com/office/drawing/2014/main" id="{AF5BF307-03AD-4F77-9091-CB398B8EFEB3}"/>
              </a:ext>
            </a:extLst>
          </p:cNvPr>
          <p:cNvSpPr>
            <a:spLocks xmlns:a="http://schemas.openxmlformats.org/drawingml/2006/main" noGrp="1"/>
          </p:cNvSpPr>
          <p:nvPr/>
        </p:nvSpPr>
        <p:spPr>
          <a:xfrm xmlns:a="http://schemas.openxmlformats.org/drawingml/2006/main">
            <a:off x="3571875" y="5172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C6054"/>
                </a:solidFill>
                <a:latin typeface="Open Sans"/>
                <a:ea typeface="Open Sans"/>
                <a:cs typeface="Open Sans"/>
              </a:defRPr>
            </a:pPr>
            <a:r>
              <a:rPr sz="1200" b="1">
                <a:solidFill>
                  <a:srgbClr val="6C6054"/>
                </a:solidFill>
                <a:latin typeface="Open Sans"/>
                <a:ea typeface="Open Sans"/>
                <a:cs typeface="Open Sans"/>
              </a:rPr>
              <a:t>PRODUCTION PLAN</a:t>
            </a:r>
          </a:p>
        </p:txBody>
      </p:sp>
      <p:sp>
        <p:nvSpPr>
          <p:cNvPr id="16" name="Next 2">
            <a:extLst xmlns:a="http://schemas.openxmlformats.org/drawingml/2006/main">
              <a:ext uri="{FF2B5EF4-FFF2-40B4-BE49-F238E27FC236}">
                <a16:creationId xmlns:a16="http://schemas.microsoft.com/office/drawing/2014/main" id="{0C9ABB69-1B74-4CC8-87C9-749CD8D87209}"/>
              </a:ext>
            </a:extLst>
          </p:cNvPr>
          <p:cNvSpPr>
            <a:spLocks xmlns:a="http://schemas.openxmlformats.org/drawingml/2006/main" noGrp="1"/>
          </p:cNvSpPr>
          <p:nvPr/>
        </p:nvSpPr>
        <p:spPr>
          <a:xfrm xmlns:a="http://schemas.openxmlformats.org/drawingml/2006/main">
            <a:off x="3571875" y="5514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Validated automation</a:t>
            </a:r>
          </a:p>
        </p:txBody>
      </p:sp>
      <p:sp>
        <p:nvSpPr>
          <p:cNvPr id="17" name="Marker 3">
            <a:extLst xmlns:a="http://schemas.openxmlformats.org/drawingml/2006/main">
              <a:ext uri="{FF2B5EF4-FFF2-40B4-BE49-F238E27FC236}">
                <a16:creationId xmlns:a16="http://schemas.microsoft.com/office/drawing/2014/main" id="{E2144296-07D6-4E83-9994-59FA9690FB7C}"/>
              </a:ext>
            </a:extLst>
          </p:cNvPr>
          <p:cNvSpPr>
            <a:spLocks xmlns:a="http://schemas.openxmlformats.org/drawingml/2006/main" noGrp="1"/>
          </p:cNvSpPr>
          <p:nvPr/>
        </p:nvSpPr>
        <p:spPr>
          <a:xfrm xmlns:a="http://schemas.openxmlformats.org/drawingml/2006/main">
            <a:off x="7334250" y="2095500"/>
            <a:ext cx="666750" cy="666750"/>
          </a:xfrm>
          <a:prstGeom xmlns:a="http://schemas.openxmlformats.org/drawingml/2006/main" prst="ellipse">
            <a:avLst/>
          </a:prstGeom>
          <a:solidFill xmlns:a="http://schemas.openxmlformats.org/drawingml/2006/main">
            <a:srgbClr val="176D72"/>
          </a:solidFill>
          <a:ln xmlns:a="http://schemas.openxmlformats.org/drawingml/2006/main" w="0">
            <a:noFill/>
          </a:ln>
        </p:spPr>
      </p:sp>
      <p:sp>
        <p:nvSpPr>
          <p:cNvPr id="18" name="Number 3">
            <a:extLst xmlns:a="http://schemas.openxmlformats.org/drawingml/2006/main">
              <a:ext uri="{FF2B5EF4-FFF2-40B4-BE49-F238E27FC236}">
                <a16:creationId xmlns:a16="http://schemas.microsoft.com/office/drawing/2014/main" id="{68434420-7A6F-4427-8021-92B95E832479}"/>
              </a:ext>
            </a:extLst>
          </p:cNvPr>
          <p:cNvSpPr>
            <a:spLocks xmlns:a="http://schemas.openxmlformats.org/drawingml/2006/main" noGrp="1"/>
          </p:cNvSpPr>
          <p:nvPr/>
        </p:nvSpPr>
        <p:spPr>
          <a:xfrm xmlns:a="http://schemas.openxmlformats.org/drawingml/2006/main">
            <a:off x="7543800" y="2190750"/>
            <a:ext cx="38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Open Sans"/>
                <a:ea typeface="Open Sans"/>
                <a:cs typeface="Open Sans"/>
              </a:defRPr>
            </a:pPr>
            <a:r>
              <a:rPr sz="2325" b="1">
                <a:solidFill>
                  <a:srgbClr val="FFFFFF"/>
                </a:solidFill>
                <a:latin typeface="Open Sans"/>
                <a:ea typeface="Open Sans"/>
                <a:cs typeface="Open Sans"/>
              </a:rPr>
              <a:t>3</a:t>
            </a:r>
          </a:p>
        </p:txBody>
      </p:sp>
      <p:sp>
        <p:nvSpPr>
          <p:cNvPr id="19" name="Heading 3">
            <a:extLst xmlns:a="http://schemas.openxmlformats.org/drawingml/2006/main">
              <a:ext uri="{FF2B5EF4-FFF2-40B4-BE49-F238E27FC236}">
                <a16:creationId xmlns:a16="http://schemas.microsoft.com/office/drawing/2014/main" id="{03D2B04B-C944-4395-93B3-74060039B1EE}"/>
              </a:ext>
            </a:extLst>
          </p:cNvPr>
          <p:cNvSpPr>
            <a:spLocks xmlns:a="http://schemas.openxmlformats.org/drawingml/2006/main" noGrp="1"/>
          </p:cNvSpPr>
          <p:nvPr/>
        </p:nvSpPr>
        <p:spPr>
          <a:xfrm xmlns:a="http://schemas.openxmlformats.org/drawingml/2006/main">
            <a:off x="6477000" y="3038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Data protection</a:t>
            </a:r>
          </a:p>
        </p:txBody>
      </p:sp>
      <p:sp>
        <p:nvSpPr>
          <p:cNvPr id="20" name="Today label 3">
            <a:extLst xmlns:a="http://schemas.openxmlformats.org/drawingml/2006/main">
              <a:ext uri="{FF2B5EF4-FFF2-40B4-BE49-F238E27FC236}">
                <a16:creationId xmlns:a16="http://schemas.microsoft.com/office/drawing/2014/main" id="{6056DE0B-C9FE-4C60-998E-CDF7051DD881}"/>
              </a:ext>
            </a:extLst>
          </p:cNvPr>
          <p:cNvSpPr>
            <a:spLocks xmlns:a="http://schemas.openxmlformats.org/drawingml/2006/main" noGrp="1"/>
          </p:cNvSpPr>
          <p:nvPr/>
        </p:nvSpPr>
        <p:spPr>
          <a:xfrm xmlns:a="http://schemas.openxmlformats.org/drawingml/2006/main">
            <a:off x="6477000" y="4029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865F54"/>
                </a:solidFill>
                <a:latin typeface="Open Sans"/>
                <a:ea typeface="Open Sans"/>
                <a:cs typeface="Open Sans"/>
              </a:defRPr>
            </a:pPr>
            <a:r>
              <a:rPr sz="1200" b="1">
                <a:solidFill>
                  <a:srgbClr val="865F54"/>
                </a:solidFill>
                <a:latin typeface="Open Sans"/>
                <a:ea typeface="Open Sans"/>
                <a:cs typeface="Open Sans"/>
              </a:rPr>
              <a:t>DEMO</a:t>
            </a:r>
          </a:p>
        </p:txBody>
      </p:sp>
      <p:sp>
        <p:nvSpPr>
          <p:cNvPr id="21" name="Today 3">
            <a:extLst xmlns:a="http://schemas.openxmlformats.org/drawingml/2006/main">
              <a:ext uri="{FF2B5EF4-FFF2-40B4-BE49-F238E27FC236}">
                <a16:creationId xmlns:a16="http://schemas.microsoft.com/office/drawing/2014/main" id="{C4B204CF-5CC1-47E9-83D6-A494F3B7A760}"/>
              </a:ext>
            </a:extLst>
          </p:cNvPr>
          <p:cNvSpPr>
            <a:spLocks xmlns:a="http://schemas.openxmlformats.org/drawingml/2006/main" noGrp="1"/>
          </p:cNvSpPr>
          <p:nvPr/>
        </p:nvSpPr>
        <p:spPr>
          <a:xfrm xmlns:a="http://schemas.openxmlformats.org/drawingml/2006/main">
            <a:off x="6477000" y="4371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Synthetic data</a:t>
            </a:r>
          </a:p>
        </p:txBody>
      </p:sp>
      <p:sp>
        <p:nvSpPr>
          <p:cNvPr id="22" name="Next label 3">
            <a:extLst xmlns:a="http://schemas.openxmlformats.org/drawingml/2006/main">
              <a:ext uri="{FF2B5EF4-FFF2-40B4-BE49-F238E27FC236}">
                <a16:creationId xmlns:a16="http://schemas.microsoft.com/office/drawing/2014/main" id="{7C963C70-41DB-472C-8020-A99464DB6FBF}"/>
              </a:ext>
            </a:extLst>
          </p:cNvPr>
          <p:cNvSpPr>
            <a:spLocks xmlns:a="http://schemas.openxmlformats.org/drawingml/2006/main" noGrp="1"/>
          </p:cNvSpPr>
          <p:nvPr/>
        </p:nvSpPr>
        <p:spPr>
          <a:xfrm xmlns:a="http://schemas.openxmlformats.org/drawingml/2006/main">
            <a:off x="6477000" y="5172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C6054"/>
                </a:solidFill>
                <a:latin typeface="Open Sans"/>
                <a:ea typeface="Open Sans"/>
                <a:cs typeface="Open Sans"/>
              </a:defRPr>
            </a:pPr>
            <a:r>
              <a:rPr sz="1200" b="1">
                <a:solidFill>
                  <a:srgbClr val="6C6054"/>
                </a:solidFill>
                <a:latin typeface="Open Sans"/>
                <a:ea typeface="Open Sans"/>
                <a:cs typeface="Open Sans"/>
              </a:rPr>
              <a:t>PRODUCTION PLAN</a:t>
            </a:r>
          </a:p>
        </p:txBody>
      </p:sp>
      <p:sp>
        <p:nvSpPr>
          <p:cNvPr id="23" name="Next 3">
            <a:extLst xmlns:a="http://schemas.openxmlformats.org/drawingml/2006/main">
              <a:ext uri="{FF2B5EF4-FFF2-40B4-BE49-F238E27FC236}">
                <a16:creationId xmlns:a16="http://schemas.microsoft.com/office/drawing/2014/main" id="{A5F2D24B-B4F2-4CAD-8730-0C6E8C34AA9F}"/>
              </a:ext>
            </a:extLst>
          </p:cNvPr>
          <p:cNvSpPr>
            <a:spLocks xmlns:a="http://schemas.openxmlformats.org/drawingml/2006/main" noGrp="1"/>
          </p:cNvSpPr>
          <p:nvPr/>
        </p:nvSpPr>
        <p:spPr>
          <a:xfrm xmlns:a="http://schemas.openxmlformats.org/drawingml/2006/main">
            <a:off x="6477000" y="5514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Access + encryption</a:t>
            </a:r>
          </a:p>
        </p:txBody>
      </p:sp>
      <p:sp>
        <p:nvSpPr>
          <p:cNvPr id="24" name="Marker 4">
            <a:extLst xmlns:a="http://schemas.openxmlformats.org/drawingml/2006/main">
              <a:ext uri="{FF2B5EF4-FFF2-40B4-BE49-F238E27FC236}">
                <a16:creationId xmlns:a16="http://schemas.microsoft.com/office/drawing/2014/main" id="{AC8A4A57-E016-4105-A6C6-5D7BF3F19287}"/>
              </a:ext>
            </a:extLst>
          </p:cNvPr>
          <p:cNvSpPr>
            <a:spLocks xmlns:a="http://schemas.openxmlformats.org/drawingml/2006/main" noGrp="1"/>
          </p:cNvSpPr>
          <p:nvPr/>
        </p:nvSpPr>
        <p:spPr>
          <a:xfrm xmlns:a="http://schemas.openxmlformats.org/drawingml/2006/main">
            <a:off x="10239375" y="2095500"/>
            <a:ext cx="666750" cy="666750"/>
          </a:xfrm>
          <a:prstGeom xmlns:a="http://schemas.openxmlformats.org/drawingml/2006/main" prst="ellipse">
            <a:avLst/>
          </a:prstGeom>
          <a:solidFill xmlns:a="http://schemas.openxmlformats.org/drawingml/2006/main">
            <a:srgbClr val="176D72"/>
          </a:solidFill>
          <a:ln xmlns:a="http://schemas.openxmlformats.org/drawingml/2006/main" w="0">
            <a:noFill/>
          </a:ln>
        </p:spPr>
      </p:sp>
      <p:sp>
        <p:nvSpPr>
          <p:cNvPr id="25" name="Number 4">
            <a:extLst xmlns:a="http://schemas.openxmlformats.org/drawingml/2006/main">
              <a:ext uri="{FF2B5EF4-FFF2-40B4-BE49-F238E27FC236}">
                <a16:creationId xmlns:a16="http://schemas.microsoft.com/office/drawing/2014/main" id="{FB100D58-EB28-499E-B7A5-CABA4726A862}"/>
              </a:ext>
            </a:extLst>
          </p:cNvPr>
          <p:cNvSpPr>
            <a:spLocks xmlns:a="http://schemas.openxmlformats.org/drawingml/2006/main" noGrp="1"/>
          </p:cNvSpPr>
          <p:nvPr/>
        </p:nvSpPr>
        <p:spPr>
          <a:xfrm xmlns:a="http://schemas.openxmlformats.org/drawingml/2006/main">
            <a:off x="10448925" y="2190750"/>
            <a:ext cx="38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Open Sans"/>
                <a:ea typeface="Open Sans"/>
                <a:cs typeface="Open Sans"/>
              </a:defRPr>
            </a:pPr>
            <a:r>
              <a:rPr sz="2325" b="1">
                <a:solidFill>
                  <a:srgbClr val="FFFFFF"/>
                </a:solidFill>
                <a:latin typeface="Open Sans"/>
                <a:ea typeface="Open Sans"/>
                <a:cs typeface="Open Sans"/>
              </a:rPr>
              <a:t>4</a:t>
            </a:r>
          </a:p>
        </p:txBody>
      </p:sp>
      <p:sp>
        <p:nvSpPr>
          <p:cNvPr id="26" name="Heading 4">
            <a:extLst xmlns:a="http://schemas.openxmlformats.org/drawingml/2006/main">
              <a:ext uri="{FF2B5EF4-FFF2-40B4-BE49-F238E27FC236}">
                <a16:creationId xmlns:a16="http://schemas.microsoft.com/office/drawing/2014/main" id="{D8AF27C0-6A19-4B4D-B72D-5CAECC43B4C7}"/>
              </a:ext>
            </a:extLst>
          </p:cNvPr>
          <p:cNvSpPr>
            <a:spLocks xmlns:a="http://schemas.openxmlformats.org/drawingml/2006/main" noGrp="1"/>
          </p:cNvSpPr>
          <p:nvPr/>
        </p:nvSpPr>
        <p:spPr>
          <a:xfrm xmlns:a="http://schemas.openxmlformats.org/drawingml/2006/main">
            <a:off x="9382125" y="3038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Quality checks</a:t>
            </a:r>
          </a:p>
        </p:txBody>
      </p:sp>
      <p:sp>
        <p:nvSpPr>
          <p:cNvPr id="27" name="Today label 4">
            <a:extLst xmlns:a="http://schemas.openxmlformats.org/drawingml/2006/main">
              <a:ext uri="{FF2B5EF4-FFF2-40B4-BE49-F238E27FC236}">
                <a16:creationId xmlns:a16="http://schemas.microsoft.com/office/drawing/2014/main" id="{38684C98-4FCB-4793-9369-53B890DBC82D}"/>
              </a:ext>
            </a:extLst>
          </p:cNvPr>
          <p:cNvSpPr>
            <a:spLocks xmlns:a="http://schemas.openxmlformats.org/drawingml/2006/main" noGrp="1"/>
          </p:cNvSpPr>
          <p:nvPr/>
        </p:nvSpPr>
        <p:spPr>
          <a:xfrm xmlns:a="http://schemas.openxmlformats.org/drawingml/2006/main">
            <a:off x="9382125" y="4029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865F54"/>
                </a:solidFill>
                <a:latin typeface="Open Sans"/>
                <a:ea typeface="Open Sans"/>
                <a:cs typeface="Open Sans"/>
              </a:defRPr>
            </a:pPr>
            <a:r>
              <a:rPr sz="1200" b="1">
                <a:solidFill>
                  <a:srgbClr val="865F54"/>
                </a:solidFill>
                <a:latin typeface="Open Sans"/>
                <a:ea typeface="Open Sans"/>
                <a:cs typeface="Open Sans"/>
              </a:rPr>
              <a:t>DEMO</a:t>
            </a:r>
          </a:p>
        </p:txBody>
      </p:sp>
      <p:sp>
        <p:nvSpPr>
          <p:cNvPr id="28" name="Today 4">
            <a:extLst xmlns:a="http://schemas.openxmlformats.org/drawingml/2006/main">
              <a:ext uri="{FF2B5EF4-FFF2-40B4-BE49-F238E27FC236}">
                <a16:creationId xmlns:a16="http://schemas.microsoft.com/office/drawing/2014/main" id="{FEEF9ABD-CC38-4963-A7A9-B0EB44D3C1E0}"/>
              </a:ext>
            </a:extLst>
          </p:cNvPr>
          <p:cNvSpPr>
            <a:spLocks xmlns:a="http://schemas.openxmlformats.org/drawingml/2006/main" noGrp="1"/>
          </p:cNvSpPr>
          <p:nvPr/>
        </p:nvSpPr>
        <p:spPr>
          <a:xfrm xmlns:a="http://schemas.openxmlformats.org/drawingml/2006/main">
            <a:off x="9382125" y="4371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Event logging</a:t>
            </a:r>
          </a:p>
        </p:txBody>
      </p:sp>
      <p:sp>
        <p:nvSpPr>
          <p:cNvPr id="29" name="Next label 4">
            <a:extLst xmlns:a="http://schemas.openxmlformats.org/drawingml/2006/main">
              <a:ext uri="{FF2B5EF4-FFF2-40B4-BE49-F238E27FC236}">
                <a16:creationId xmlns:a16="http://schemas.microsoft.com/office/drawing/2014/main" id="{A16C663E-50EE-455F-A0C6-8BC888FF9658}"/>
              </a:ext>
            </a:extLst>
          </p:cNvPr>
          <p:cNvSpPr>
            <a:spLocks xmlns:a="http://schemas.openxmlformats.org/drawingml/2006/main" noGrp="1"/>
          </p:cNvSpPr>
          <p:nvPr/>
        </p:nvSpPr>
        <p:spPr>
          <a:xfrm xmlns:a="http://schemas.openxmlformats.org/drawingml/2006/main">
            <a:off x="9382125" y="51720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C6054"/>
                </a:solidFill>
                <a:latin typeface="Open Sans"/>
                <a:ea typeface="Open Sans"/>
                <a:cs typeface="Open Sans"/>
              </a:defRPr>
            </a:pPr>
            <a:r>
              <a:rPr sz="1200" b="1">
                <a:solidFill>
                  <a:srgbClr val="6C6054"/>
                </a:solidFill>
                <a:latin typeface="Open Sans"/>
                <a:ea typeface="Open Sans"/>
                <a:cs typeface="Open Sans"/>
              </a:rPr>
              <a:t>PRODUCTION PLAN</a:t>
            </a:r>
          </a:p>
        </p:txBody>
      </p:sp>
      <p:sp>
        <p:nvSpPr>
          <p:cNvPr id="30" name="Next 4">
            <a:extLst xmlns:a="http://schemas.openxmlformats.org/drawingml/2006/main">
              <a:ext uri="{FF2B5EF4-FFF2-40B4-BE49-F238E27FC236}">
                <a16:creationId xmlns:a16="http://schemas.microsoft.com/office/drawing/2014/main" id="{089E68FD-8F9E-4E87-A578-0FA26A803B50}"/>
              </a:ext>
            </a:extLst>
          </p:cNvPr>
          <p:cNvSpPr>
            <a:spLocks xmlns:a="http://schemas.openxmlformats.org/drawingml/2006/main" noGrp="1"/>
          </p:cNvSpPr>
          <p:nvPr/>
        </p:nvSpPr>
        <p:spPr>
          <a:xfrm xmlns:a="http://schemas.openxmlformats.org/drawingml/2006/main">
            <a:off x="9382125" y="55149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Evaluation + monitoring</a:t>
            </a:r>
          </a:p>
        </p:txBody>
      </p:sp>
      <p:sp>
        <p:nvSpPr>
          <p:cNvPr id="31" name="Workflow line">
            <a:extLst xmlns:a="http://schemas.openxmlformats.org/drawingml/2006/main">
              <a:ext uri="{FF2B5EF4-FFF2-40B4-BE49-F238E27FC236}">
                <a16:creationId xmlns:a16="http://schemas.microsoft.com/office/drawing/2014/main" id="{CF54D381-73B5-4AAF-B656-8066F46A9A2D}"/>
              </a:ext>
            </a:extLst>
          </p:cNvPr>
          <p:cNvSpPr>
            <a:spLocks xmlns:a="http://schemas.openxmlformats.org/drawingml/2006/main" noGrp="1"/>
          </p:cNvSpPr>
          <p:nvPr/>
        </p:nvSpPr>
        <p:spPr>
          <a:xfrm xmlns:a="http://schemas.openxmlformats.org/drawingml/2006/main">
            <a:off x="1857375" y="1819275"/>
            <a:ext cx="8715375" cy="28575"/>
          </a:xfrm>
          <a:prstGeom xmlns:a="http://schemas.openxmlformats.org/drawingml/2006/main" prst="rect">
            <a:avLst/>
          </a:prstGeom>
          <a:solidFill xmlns:a="http://schemas.openxmlformats.org/drawingml/2006/main">
            <a:srgbClr val="176D72"/>
          </a:solidFill>
          <a:ln xmlns:a="http://schemas.openxmlformats.org/drawingml/2006/main" w="0">
            <a:noFill/>
          </a:ln>
        </p:spPr>
      </p:sp>
      <p:sp>
        <p:nvSpPr>
          <p:cNvPr id="32" name="Closing cue">
            <a:extLst xmlns:a="http://schemas.openxmlformats.org/drawingml/2006/main">
              <a:ext uri="{FF2B5EF4-FFF2-40B4-BE49-F238E27FC236}">
                <a16:creationId xmlns:a16="http://schemas.microsoft.com/office/drawing/2014/main" id="{D04E0C19-821A-4D67-98DF-7E6B5C8C9545}"/>
              </a:ext>
            </a:extLst>
          </p:cNvPr>
          <p:cNvSpPr>
            <a:spLocks xmlns:a="http://schemas.openxmlformats.org/drawingml/2006/main" noGrp="1"/>
          </p:cNvSpPr>
          <p:nvPr/>
        </p:nvSpPr>
        <p:spPr>
          <a:xfrm xmlns:a="http://schemas.openxmlformats.org/drawingml/2006/main">
            <a:off x="666750" y="64103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65F54"/>
                </a:solidFill>
                <a:latin typeface="Open Sans"/>
                <a:ea typeface="Open Sans"/>
                <a:cs typeface="Open Sans"/>
              </a:defRPr>
            </a:pPr>
            <a:r>
              <a:rPr sz="1650" b="1">
                <a:solidFill>
                  <a:srgbClr val="865F54"/>
                </a:solidFill>
                <a:latin typeface="Open Sans"/>
                <a:ea typeface="Open Sans"/>
                <a:cs typeface="Open Sans"/>
              </a:rPr>
              <a:t>Confidence ≠ accuracy                         NEXT: LIVE DEMO</a:t>
            </a:r>
          </a:p>
        </p:txBody>
      </p:sp>
    </p:spTree>
    <p:extLst>
      <p:ext uri="{BB962C8B-B14F-4D97-AF65-F5344CB8AC3E}">
        <p14:creationId xmlns:p14="http://schemas.microsoft.com/office/powerpoint/2010/main" val="883757674"/>
      </p:ext>
    </p:extLst>
  </p:cSld>
</p:sld>
</file>

<file path=ppt/slides/slide8.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C0DDC09-E4F6-4358-866A-7285CFDC054C}"/>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Communication Layer</a:t>
            </a:r>
          </a:p>
        </p:txBody>
      </p:sp>
      <p:sp>
        <p:nvSpPr>
          <p:cNvPr id="2" name="Purpose">
            <a:extLst xmlns:a="http://schemas.openxmlformats.org/drawingml/2006/main">
              <a:ext uri="{FF2B5EF4-FFF2-40B4-BE49-F238E27FC236}">
                <a16:creationId xmlns:a16="http://schemas.microsoft.com/office/drawing/2014/main" id="{1ACCE002-17B3-4D77-A6C9-F6416A6B8DA7}"/>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Gives providers request status, specific next steps, and decision letters</a:t>
            </a:r>
          </a:p>
        </p:txBody>
      </p:sp>
      <p:sp>
        <p:nvSpPr>
          <p:cNvPr id="3" name="Provider heading">
            <a:extLst xmlns:a="http://schemas.openxmlformats.org/drawingml/2006/main">
              <a:ext uri="{FF2B5EF4-FFF2-40B4-BE49-F238E27FC236}">
                <a16:creationId xmlns:a16="http://schemas.microsoft.com/office/drawing/2014/main" id="{684E33EA-35CF-4BDA-BBC9-0D563213900C}"/>
              </a:ext>
            </a:extLst>
          </p:cNvPr>
          <p:cNvSpPr>
            <a:spLocks xmlns:a="http://schemas.openxmlformats.org/drawingml/2006/main" noGrp="1"/>
          </p:cNvSpPr>
          <p:nvPr/>
        </p:nvSpPr>
        <p:spPr>
          <a:xfrm xmlns:a="http://schemas.openxmlformats.org/drawingml/2006/main">
            <a:off x="666750" y="1952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Provider portal</a:t>
            </a:r>
          </a:p>
        </p:txBody>
      </p:sp>
      <p:sp>
        <p:nvSpPr>
          <p:cNvPr id="4" name="Provider description">
            <a:extLst xmlns:a="http://schemas.openxmlformats.org/drawingml/2006/main">
              <a:ext uri="{FF2B5EF4-FFF2-40B4-BE49-F238E27FC236}">
                <a16:creationId xmlns:a16="http://schemas.microsoft.com/office/drawing/2014/main" id="{BF603D14-6963-4988-AEB6-87295EE007B0}"/>
              </a:ext>
            </a:extLst>
          </p:cNvPr>
          <p:cNvSpPr>
            <a:spLocks xmlns:a="http://schemas.openxmlformats.org/drawingml/2006/main" noGrp="1"/>
          </p:cNvSpPr>
          <p:nvPr/>
        </p:nvSpPr>
        <p:spPr>
          <a:xfrm xmlns:a="http://schemas.openxmlformats.org/drawingml/2006/main">
            <a:off x="666750" y="2514600"/>
            <a:ext cx="5000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Providers and their staff select a request to see its status and assigned pathway.</a:t>
            </a:r>
          </a:p>
        </p:txBody>
      </p:sp>
      <p:sp>
        <p:nvSpPr>
          <p:cNvPr id="5" name="Provider features">
            <a:extLst xmlns:a="http://schemas.openxmlformats.org/drawingml/2006/main">
              <a:ext uri="{FF2B5EF4-FFF2-40B4-BE49-F238E27FC236}">
                <a16:creationId xmlns:a16="http://schemas.microsoft.com/office/drawing/2014/main" id="{32BBCFC6-2D6A-4F9A-8956-2B2A5CF2D378}"/>
              </a:ext>
            </a:extLst>
          </p:cNvPr>
          <p:cNvSpPr>
            <a:spLocks xmlns:a="http://schemas.openxmlformats.org/drawingml/2006/main" noGrp="1"/>
          </p:cNvSpPr>
          <p:nvPr/>
        </p:nvSpPr>
        <p:spPr>
          <a:xfrm xmlns:a="http://schemas.openxmlformats.org/drawingml/2006/main">
            <a:off x="666750" y="3914775"/>
            <a:ext cx="50006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Missing-information letter</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Additional notes for re-validation</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Decision letter download</a:t>
            </a:r>
          </a:p>
        </p:txBody>
      </p:sp>
      <p:sp>
        <p:nvSpPr>
          <p:cNvPr id="6" name="Estimate">
            <a:extLst xmlns:a="http://schemas.openxmlformats.org/drawingml/2006/main">
              <a:ext uri="{FF2B5EF4-FFF2-40B4-BE49-F238E27FC236}">
                <a16:creationId xmlns:a16="http://schemas.microsoft.com/office/drawing/2014/main" id="{0B4E97BC-8C1B-438C-AB6E-BD79BA0DC6B9}"/>
              </a:ext>
            </a:extLst>
          </p:cNvPr>
          <p:cNvSpPr>
            <a:spLocks xmlns:a="http://schemas.openxmlformats.org/drawingml/2006/main" noGrp="1"/>
          </p:cNvSpPr>
          <p:nvPr/>
        </p:nvSpPr>
        <p:spPr>
          <a:xfrm xmlns:a="http://schemas.openxmlformats.org/drawingml/2006/main">
            <a:off x="666750" y="5610225"/>
            <a:ext cx="5000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C6054"/>
                </a:solidFill>
                <a:latin typeface="Open Sans"/>
                <a:ea typeface="Open Sans"/>
                <a:cs typeface="Open Sans"/>
              </a:defRPr>
            </a:pPr>
            <a:r>
              <a:rPr sz="1650" b="0">
                <a:solidFill>
                  <a:srgbClr val="6C6054"/>
                </a:solidFill>
                <a:latin typeface="Open Sans"/>
                <a:ea typeface="Open Sans"/>
                <a:cs typeface="Open Sans"/>
              </a:rPr>
              <a:t>Estimated decision time uses submission time plus the pathway target.</a:t>
            </a:r>
          </a:p>
        </p:txBody>
      </p:sp>
      <p:sp>
        <p:nvSpPr>
          <p:cNvPr id="7" name="Example heading">
            <a:extLst xmlns:a="http://schemas.openxmlformats.org/drawingml/2006/main">
              <a:ext uri="{FF2B5EF4-FFF2-40B4-BE49-F238E27FC236}">
                <a16:creationId xmlns:a16="http://schemas.microsoft.com/office/drawing/2014/main" id="{D845C674-9334-49AF-9B9E-B3A18FAA389C}"/>
              </a:ext>
            </a:extLst>
          </p:cNvPr>
          <p:cNvSpPr>
            <a:spLocks xmlns:a="http://schemas.openxmlformats.org/drawingml/2006/main" noGrp="1"/>
          </p:cNvSpPr>
          <p:nvPr/>
        </p:nvSpPr>
        <p:spPr>
          <a:xfrm xmlns:a="http://schemas.openxmlformats.org/drawingml/2006/main">
            <a:off x="6477000" y="19526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Example: incomplete MRI request</a:t>
            </a:r>
          </a:p>
        </p:txBody>
      </p:sp>
      <p:sp>
        <p:nvSpPr>
          <p:cNvPr id="8" name="Example step one">
            <a:extLst xmlns:a="http://schemas.openxmlformats.org/drawingml/2006/main">
              <a:ext uri="{FF2B5EF4-FFF2-40B4-BE49-F238E27FC236}">
                <a16:creationId xmlns:a16="http://schemas.microsoft.com/office/drawing/2014/main" id="{A12C0B92-A1F9-4BCB-B697-41D39CA89C78}"/>
              </a:ext>
            </a:extLst>
          </p:cNvPr>
          <p:cNvSpPr>
            <a:spLocks xmlns:a="http://schemas.openxmlformats.org/drawingml/2006/main" noGrp="1"/>
          </p:cNvSpPr>
          <p:nvPr/>
        </p:nvSpPr>
        <p:spPr>
          <a:xfrm xmlns:a="http://schemas.openxmlformats.org/drawingml/2006/main">
            <a:off x="6477000" y="28194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The letter identifies missing patient details and treatment documentation.</a:t>
            </a:r>
          </a:p>
        </p:txBody>
      </p:sp>
      <p:sp>
        <p:nvSpPr>
          <p:cNvPr id="9" name="Example step two">
            <a:extLst xmlns:a="http://schemas.openxmlformats.org/drawingml/2006/main">
              <a:ext uri="{FF2B5EF4-FFF2-40B4-BE49-F238E27FC236}">
                <a16:creationId xmlns:a16="http://schemas.microsoft.com/office/drawing/2014/main" id="{4DB3DC71-239F-475D-B243-9D5834E9FD40}"/>
              </a:ext>
            </a:extLst>
          </p:cNvPr>
          <p:cNvSpPr>
            <a:spLocks xmlns:a="http://schemas.openxmlformats.org/drawingml/2006/main" noGrp="1"/>
          </p:cNvSpPr>
          <p:nvPr/>
        </p:nvSpPr>
        <p:spPr>
          <a:xfrm xmlns:a="http://schemas.openxmlformats.org/drawingml/2006/main">
            <a:off x="6477000" y="39147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Provider enters the additional information. The same pipeline checks the updated request again.</a:t>
            </a:r>
          </a:p>
        </p:txBody>
      </p:sp>
      <p:sp>
        <p:nvSpPr>
          <p:cNvPr id="10" name="Example result">
            <a:extLst xmlns:a="http://schemas.openxmlformats.org/drawingml/2006/main">
              <a:ext uri="{FF2B5EF4-FFF2-40B4-BE49-F238E27FC236}">
                <a16:creationId xmlns:a16="http://schemas.microsoft.com/office/drawing/2014/main" id="{F85CD24C-5E5F-403D-848C-D44906BEC910}"/>
              </a:ext>
            </a:extLst>
          </p:cNvPr>
          <p:cNvSpPr>
            <a:spLocks xmlns:a="http://schemas.openxmlformats.org/drawingml/2006/main" noGrp="1"/>
          </p:cNvSpPr>
          <p:nvPr/>
        </p:nvSpPr>
        <p:spPr>
          <a:xfrm xmlns:a="http://schemas.openxmlformats.org/drawingml/2006/main">
            <a:off x="6477000" y="53054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The portal shows the updated status. Audit events record processing and decisions.</a:t>
            </a:r>
          </a:p>
        </p:txBody>
      </p:sp>
    </p:spTree>
    <p:extLst>
      <p:ext uri="{BB962C8B-B14F-4D97-AF65-F5344CB8AC3E}">
        <p14:creationId xmlns:p14="http://schemas.microsoft.com/office/powerpoint/2010/main" val="415185086"/>
      </p:ext>
    </p:extLst>
  </p:cSld>
</p:sld>
</file>

<file path=ppt/slides/slide9.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C64402CD-3D9A-4189-8C03-940653C2254B}"/>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Proposed Azure Implementation Roadmap</a:t>
            </a:r>
          </a:p>
        </p:txBody>
      </p:sp>
      <p:sp>
        <p:nvSpPr>
          <p:cNvPr id="2" name="Purpose">
            <a:extLst xmlns:a="http://schemas.openxmlformats.org/drawingml/2006/main">
              <a:ext uri="{FF2B5EF4-FFF2-40B4-BE49-F238E27FC236}">
                <a16:creationId xmlns:a16="http://schemas.microsoft.com/office/drawing/2014/main" id="{33E32AB1-145E-4A69-852F-07F9C420778E}"/>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Indicative nine-month plan; advance through validation gates, not promised performance gains</a:t>
            </a:r>
          </a:p>
        </p:txBody>
      </p:sp>
      <p:sp>
        <p:nvSpPr>
          <p:cNvPr id="3" name="1. Foundation">
            <a:extLst xmlns:a="http://schemas.openxmlformats.org/drawingml/2006/main">
              <a:ext uri="{FF2B5EF4-FFF2-40B4-BE49-F238E27FC236}">
                <a16:creationId xmlns:a16="http://schemas.microsoft.com/office/drawing/2014/main" id="{393AAD04-88D0-4EF8-BBB3-C8D4ED1D7BB4}"/>
              </a:ext>
            </a:extLst>
          </p:cNvPr>
          <p:cNvSpPr>
            <a:spLocks xmlns:a="http://schemas.openxmlformats.org/drawingml/2006/main" noGrp="1"/>
          </p:cNvSpPr>
          <p:nvPr/>
        </p:nvSpPr>
        <p:spPr>
          <a:xfrm xmlns:a="http://schemas.openxmlformats.org/drawingml/2006/main">
            <a:off x="666750"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1. Foundation</a:t>
            </a:r>
          </a:p>
        </p:txBody>
      </p:sp>
      <p:sp>
        <p:nvSpPr>
          <p:cNvPr id="4" name="Months 1–3 · Intake pilot">
            <a:extLst xmlns:a="http://schemas.openxmlformats.org/drawingml/2006/main">
              <a:ext uri="{FF2B5EF4-FFF2-40B4-BE49-F238E27FC236}">
                <a16:creationId xmlns:a16="http://schemas.microsoft.com/office/drawing/2014/main" id="{D46E5C48-B35C-46DF-AB34-4B6EC86EF90A}"/>
              </a:ext>
            </a:extLst>
          </p:cNvPr>
          <p:cNvSpPr>
            <a:spLocks xmlns:a="http://schemas.openxmlformats.org/drawingml/2006/main" noGrp="1"/>
          </p:cNvSpPr>
          <p:nvPr/>
        </p:nvSpPr>
        <p:spPr>
          <a:xfrm xmlns:a="http://schemas.openxmlformats.org/drawingml/2006/main">
            <a:off x="666750" y="23431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65F54"/>
                </a:solidFill>
                <a:latin typeface="Open Sans"/>
                <a:ea typeface="Open Sans"/>
                <a:cs typeface="Open Sans"/>
              </a:defRPr>
            </a:pPr>
            <a:r>
              <a:rPr sz="1500" b="1">
                <a:solidFill>
                  <a:srgbClr val="865F54"/>
                </a:solidFill>
                <a:latin typeface="Open Sans"/>
                <a:ea typeface="Open Sans"/>
                <a:cs typeface="Open Sans"/>
              </a:rPr>
              <a:t>Months 1–3 · Intake pilot</a:t>
            </a:r>
          </a:p>
        </p:txBody>
      </p:sp>
      <p:sp>
        <p:nvSpPr>
          <p:cNvPr id="5" name="Work 70">
            <a:extLst xmlns:a="http://schemas.openxmlformats.org/drawingml/2006/main">
              <a:ext uri="{FF2B5EF4-FFF2-40B4-BE49-F238E27FC236}">
                <a16:creationId xmlns:a16="http://schemas.microsoft.com/office/drawing/2014/main" id="{BF164EC6-23BF-4D1E-A263-03C240C0723B}"/>
              </a:ext>
            </a:extLst>
          </p:cNvPr>
          <p:cNvSpPr>
            <a:spLocks xmlns:a="http://schemas.openxmlformats.org/drawingml/2006/main" noGrp="1"/>
          </p:cNvSpPr>
          <p:nvPr/>
        </p:nvSpPr>
        <p:spPr>
          <a:xfrm xmlns:a="http://schemas.openxmlformats.org/drawingml/2006/main">
            <a:off x="666750" y="2828925"/>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Blob Storage: documents.</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Document Intelligence: PDF / image OCR.</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OpenAI: structured extraction.</a:t>
            </a:r>
          </a:p>
          <a:p xmlns:a="http://schemas.openxmlformats.org/drawingml/2006/main">
            <a:r>
              <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App Service + Azure SQL: provider portal, request status and audit data.</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Completeness rules and information-request letters.</a:t>
            </a:r>
          </a:p>
        </p:txBody>
      </p:sp>
      <p:sp>
        <p:nvSpPr>
          <p:cNvPr id="6" name="Gate 70">
            <a:extLst xmlns:a="http://schemas.openxmlformats.org/drawingml/2006/main">
              <a:ext uri="{FF2B5EF4-FFF2-40B4-BE49-F238E27FC236}">
                <a16:creationId xmlns:a16="http://schemas.microsoft.com/office/drawing/2014/main" id="{AABD2E63-3587-4ED8-BBC8-87E4971367FD}"/>
              </a:ext>
            </a:extLst>
          </p:cNvPr>
          <p:cNvSpPr>
            <a:spLocks xmlns:a="http://schemas.openxmlformats.org/drawingml/2006/main" noGrp="1"/>
          </p:cNvSpPr>
          <p:nvPr/>
        </p:nvSpPr>
        <p:spPr>
          <a:xfrm xmlns:a="http://schemas.openxmlformats.org/drawingml/2006/main">
            <a:off x="666750" y="54102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43829"/>
                </a:solidFill>
                <a:latin typeface="Open Sans"/>
                <a:ea typeface="Open Sans"/>
                <a:cs typeface="Open Sans"/>
              </a:defRPr>
            </a:pPr>
            <a:r>
              <a:rPr sz="1425" b="1">
                <a:solidFill>
                  <a:srgbClr val="443829"/>
                </a:solidFill>
                <a:latin typeface="Open Sans"/>
                <a:ea typeface="Open Sans"/>
                <a:cs typeface="Open Sans"/>
              </a:rPr>
              <a:t>Gate: validate field extraction and completeness against reviewed cases.</a:t>
            </a:r>
          </a:p>
        </p:txBody>
      </p:sp>
      <p:sp>
        <p:nvSpPr>
          <p:cNvPr id="7" name="2. Intelligence">
            <a:extLst xmlns:a="http://schemas.openxmlformats.org/drawingml/2006/main">
              <a:ext uri="{FF2B5EF4-FFF2-40B4-BE49-F238E27FC236}">
                <a16:creationId xmlns:a16="http://schemas.microsoft.com/office/drawing/2014/main" id="{CAD3A876-EC27-4340-987D-54FC53FBFCC3}"/>
              </a:ext>
            </a:extLst>
          </p:cNvPr>
          <p:cNvSpPr>
            <a:spLocks xmlns:a="http://schemas.openxmlformats.org/drawingml/2006/main" noGrp="1"/>
          </p:cNvSpPr>
          <p:nvPr/>
        </p:nvSpPr>
        <p:spPr>
          <a:xfrm xmlns:a="http://schemas.openxmlformats.org/drawingml/2006/main">
            <a:off x="4524375"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2. Intelligence</a:t>
            </a:r>
          </a:p>
        </p:txBody>
      </p:sp>
      <p:sp>
        <p:nvSpPr>
          <p:cNvPr id="8" name="Months 4–6 · Assisted review">
            <a:extLst xmlns:a="http://schemas.openxmlformats.org/drawingml/2006/main">
              <a:ext uri="{FF2B5EF4-FFF2-40B4-BE49-F238E27FC236}">
                <a16:creationId xmlns:a16="http://schemas.microsoft.com/office/drawing/2014/main" id="{4D9DF953-51F8-4191-9F21-012959370FBF}"/>
              </a:ext>
            </a:extLst>
          </p:cNvPr>
          <p:cNvSpPr>
            <a:spLocks xmlns:a="http://schemas.openxmlformats.org/drawingml/2006/main" noGrp="1"/>
          </p:cNvSpPr>
          <p:nvPr/>
        </p:nvSpPr>
        <p:spPr>
          <a:xfrm xmlns:a="http://schemas.openxmlformats.org/drawingml/2006/main">
            <a:off x="4524375" y="23431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65F54"/>
                </a:solidFill>
                <a:latin typeface="Open Sans"/>
                <a:ea typeface="Open Sans"/>
                <a:cs typeface="Open Sans"/>
              </a:defRPr>
            </a:pPr>
            <a:r>
              <a:rPr sz="1500" b="1">
                <a:solidFill>
                  <a:srgbClr val="865F54"/>
                </a:solidFill>
                <a:latin typeface="Open Sans"/>
                <a:ea typeface="Open Sans"/>
                <a:cs typeface="Open Sans"/>
              </a:rPr>
              <a:t>Months 4–6 · Assisted review</a:t>
            </a:r>
          </a:p>
        </p:txBody>
      </p:sp>
      <p:sp>
        <p:nvSpPr>
          <p:cNvPr id="9" name="Work 475">
            <a:extLst xmlns:a="http://schemas.openxmlformats.org/drawingml/2006/main">
              <a:ext uri="{FF2B5EF4-FFF2-40B4-BE49-F238E27FC236}">
                <a16:creationId xmlns:a16="http://schemas.microsoft.com/office/drawing/2014/main" id="{F8F6F79F-82B4-4CE1-B0DF-CD9E202C198B}"/>
              </a:ext>
            </a:extLst>
          </p:cNvPr>
          <p:cNvSpPr>
            <a:spLocks xmlns:a="http://schemas.openxmlformats.org/drawingml/2006/main" noGrp="1"/>
          </p:cNvSpPr>
          <p:nvPr/>
        </p:nvSpPr>
        <p:spPr>
          <a:xfrm xmlns:a="http://schemas.openxmlformats.org/drawingml/2006/main">
            <a:off x="4524375" y="2828925"/>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Classic hybrid RAG in Azure AI Search: BM25 + vector search, then semantic reranking.</a:t>
            </a:r>
          </a:p>
          <a:p xmlns:a="http://schemas.openxmlformats.org/drawingml/2006/main">
            <a:r>
              <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Versioned policy chunks + Azure OpenAI embeddings; filter by plan, procedure and effective date.</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OpenAI: cited policy analysis; nurse review and routing.</a:t>
            </a:r>
          </a:p>
        </p:txBody>
      </p:sp>
      <p:sp>
        <p:nvSpPr>
          <p:cNvPr id="10" name="Gate 475">
            <a:extLst xmlns:a="http://schemas.openxmlformats.org/drawingml/2006/main">
              <a:ext uri="{FF2B5EF4-FFF2-40B4-BE49-F238E27FC236}">
                <a16:creationId xmlns:a16="http://schemas.microsoft.com/office/drawing/2014/main" id="{E14BF14E-6585-49A6-B1EC-07C019E3F65E}"/>
              </a:ext>
            </a:extLst>
          </p:cNvPr>
          <p:cNvSpPr>
            <a:spLocks xmlns:a="http://schemas.openxmlformats.org/drawingml/2006/main" noGrp="1"/>
          </p:cNvSpPr>
          <p:nvPr/>
        </p:nvSpPr>
        <p:spPr>
          <a:xfrm xmlns:a="http://schemas.openxmlformats.org/drawingml/2006/main">
            <a:off x="4524375" y="54102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43829"/>
                </a:solidFill>
                <a:latin typeface="Open Sans"/>
                <a:ea typeface="Open Sans"/>
                <a:cs typeface="Open Sans"/>
              </a:defRPr>
            </a:pPr>
            <a:r>
              <a:rPr sz="1425" b="1">
                <a:solidFill>
                  <a:srgbClr val="443829"/>
                </a:solidFill>
                <a:latin typeface="Open Sans"/>
                <a:ea typeface="Open Sans"/>
                <a:cs typeface="Open Sans"/>
              </a:rPr>
              <a:t>Gate: test policy retrieval, citations and agreement with expert reviews.</a:t>
            </a:r>
          </a:p>
        </p:txBody>
      </p:sp>
      <p:sp>
        <p:nvSpPr>
          <p:cNvPr id="11" name="3. Controlled automation">
            <a:extLst xmlns:a="http://schemas.openxmlformats.org/drawingml/2006/main">
              <a:ext uri="{FF2B5EF4-FFF2-40B4-BE49-F238E27FC236}">
                <a16:creationId xmlns:a16="http://schemas.microsoft.com/office/drawing/2014/main" id="{46649CC9-54FF-4F62-8A08-1BD666E42627}"/>
              </a:ext>
            </a:extLst>
          </p:cNvPr>
          <p:cNvSpPr>
            <a:spLocks xmlns:a="http://schemas.openxmlformats.org/drawingml/2006/main" noGrp="1"/>
          </p:cNvSpPr>
          <p:nvPr/>
        </p:nvSpPr>
        <p:spPr>
          <a:xfrm xmlns:a="http://schemas.openxmlformats.org/drawingml/2006/main">
            <a:off x="8382000"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3. Controlled automation</a:t>
            </a:r>
          </a:p>
        </p:txBody>
      </p:sp>
      <p:sp>
        <p:nvSpPr>
          <p:cNvPr id="12" name="Months 7–9 · Expand pilot">
            <a:extLst xmlns:a="http://schemas.openxmlformats.org/drawingml/2006/main">
              <a:ext uri="{FF2B5EF4-FFF2-40B4-BE49-F238E27FC236}">
                <a16:creationId xmlns:a16="http://schemas.microsoft.com/office/drawing/2014/main" id="{38ECC3CE-404D-4322-B058-1B38F0087E87}"/>
              </a:ext>
            </a:extLst>
          </p:cNvPr>
          <p:cNvSpPr>
            <a:spLocks xmlns:a="http://schemas.openxmlformats.org/drawingml/2006/main" noGrp="1"/>
          </p:cNvSpPr>
          <p:nvPr/>
        </p:nvSpPr>
        <p:spPr>
          <a:xfrm xmlns:a="http://schemas.openxmlformats.org/drawingml/2006/main">
            <a:off x="8382000" y="23431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65F54"/>
                </a:solidFill>
                <a:latin typeface="Open Sans"/>
                <a:ea typeface="Open Sans"/>
                <a:cs typeface="Open Sans"/>
              </a:defRPr>
            </a:pPr>
            <a:r>
              <a:rPr sz="1500" b="1">
                <a:solidFill>
                  <a:srgbClr val="865F54"/>
                </a:solidFill>
                <a:latin typeface="Open Sans"/>
                <a:ea typeface="Open Sans"/>
                <a:cs typeface="Open Sans"/>
              </a:rPr>
              <a:t>Months 7–9 · Expand pilot</a:t>
            </a:r>
          </a:p>
        </p:txBody>
      </p:sp>
      <p:sp>
        <p:nvSpPr>
          <p:cNvPr id="13" name="Work 880">
            <a:extLst xmlns:a="http://schemas.openxmlformats.org/drawingml/2006/main">
              <a:ext uri="{FF2B5EF4-FFF2-40B4-BE49-F238E27FC236}">
                <a16:creationId xmlns:a16="http://schemas.microsoft.com/office/drawing/2014/main" id="{00D641C3-FB7B-4977-A70F-E1440E30C567}"/>
              </a:ext>
            </a:extLst>
          </p:cNvPr>
          <p:cNvSpPr>
            <a:spLocks xmlns:a="http://schemas.openxmlformats.org/drawingml/2006/main" noGrp="1"/>
          </p:cNvSpPr>
          <p:nvPr/>
        </p:nvSpPr>
        <p:spPr>
          <a:xfrm xmlns:a="http://schemas.openxmlformats.org/drawingml/2006/main">
            <a:off x="8382000" y="2828925"/>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Enable eligible auto-approval only after validation; retain nurse escalation and rollback.</a:t>
            </a:r>
          </a:p>
          <a:p xmlns:a="http://schemas.openxmlformats.org/drawingml/2006/main">
            <a:r>
              <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Functions + Service Bus: queued workflows and retries.</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Logic Apps: notification integration.</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Measure turnaround, nurse rework and auto-approval share.</a:t>
            </a:r>
          </a:p>
        </p:txBody>
      </p:sp>
      <p:sp>
        <p:nvSpPr>
          <p:cNvPr id="14" name="Gate 880">
            <a:extLst xmlns:a="http://schemas.openxmlformats.org/drawingml/2006/main">
              <a:ext uri="{FF2B5EF4-FFF2-40B4-BE49-F238E27FC236}">
                <a16:creationId xmlns:a16="http://schemas.microsoft.com/office/drawing/2014/main" id="{2C9BA7F5-7662-4086-9D91-57FE9B66D593}"/>
              </a:ext>
            </a:extLst>
          </p:cNvPr>
          <p:cNvSpPr>
            <a:spLocks xmlns:a="http://schemas.openxmlformats.org/drawingml/2006/main" noGrp="1"/>
          </p:cNvSpPr>
          <p:nvPr/>
        </p:nvSpPr>
        <p:spPr>
          <a:xfrm xmlns:a="http://schemas.openxmlformats.org/drawingml/2006/main">
            <a:off x="8382000" y="54102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43829"/>
                </a:solidFill>
                <a:latin typeface="Open Sans"/>
                <a:ea typeface="Open Sans"/>
                <a:cs typeface="Open Sans"/>
              </a:defRPr>
            </a:pPr>
            <a:r>
              <a:rPr sz="1425" b="1">
                <a:solidFill>
                  <a:srgbClr val="443829"/>
                </a:solidFill>
                <a:latin typeface="Open Sans"/>
                <a:ea typeface="Open Sans"/>
                <a:cs typeface="Open Sans"/>
              </a:rPr>
              <a:t>Gate: release only when clinical owners approve measured pilot results.</a:t>
            </a:r>
          </a:p>
        </p:txBody>
      </p:sp>
      <p:sp>
        <p:nvSpPr>
          <p:cNvPr id="15" name="Monitoring">
            <a:extLst xmlns:a="http://schemas.openxmlformats.org/drawingml/2006/main">
              <a:ext uri="{FF2B5EF4-FFF2-40B4-BE49-F238E27FC236}">
                <a16:creationId xmlns:a16="http://schemas.microsoft.com/office/drawing/2014/main" id="{948296D7-5C1D-452F-AFF3-8F50BC7F274C}"/>
              </a:ext>
            </a:extLst>
          </p:cNvPr>
          <p:cNvSpPr>
            <a:spLocks xmlns:a="http://schemas.openxmlformats.org/drawingml/2006/main" noGrp="1"/>
          </p:cNvSpPr>
          <p:nvPr/>
        </p:nvSpPr>
        <p:spPr>
          <a:xfrm xmlns:a="http://schemas.openxmlformats.org/drawingml/2006/main">
            <a:off x="666750" y="62484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C6054"/>
                </a:solidFill>
                <a:latin typeface="Open Sans"/>
                <a:ea typeface="Open Sans"/>
                <a:cs typeface="Open Sans"/>
              </a:defRPr>
            </a:pPr>
            <a:r>
              <a:rPr sz="1275" b="0">
                <a:solidFill>
                  <a:srgbClr val="6C6054"/>
                </a:solidFill>
                <a:latin typeface="Open Sans"/>
                <a:ea typeface="Open Sans"/>
                <a:cs typeface="Open Sans"/>
              </a:rPr>
              <a:t>From phase 1: Azure Monitor + Application Insights for failures, latency and alerts.</a:t>
            </a:r>
          </a:p>
          <a:p xmlns:a="http://schemas.openxmlformats.org/drawingml/2006/main">
            <a:pPr>
              <a:defRPr sz="1275" b="0">
                <a:solidFill>
                  <a:srgbClr val="6C6054"/>
                </a:solidFill>
                <a:latin typeface="Open Sans"/>
                <a:ea typeface="Open Sans"/>
                <a:cs typeface="Open Sans"/>
              </a:defRPr>
            </a:pPr>
            <a:r>
              <a:rPr sz="1275" b="0">
                <a:solidFill>
                  <a:srgbClr val="6C6054"/>
                </a:solidFill>
                <a:latin typeface="Open Sans"/>
                <a:ea typeface="Open Sans"/>
                <a:cs typeface="Open Sans"/>
              </a:rPr>
              <a:t>Microsoft Foundry evaluations / tracing for AI quality. Entra ID, managed identities and Key Vault for access.</a:t>
            </a:r>
          </a:p>
        </p:txBody>
      </p:sp>
    </p:spTree>
    <p:extLst>
      <p:ext uri="{BB962C8B-B14F-4D97-AF65-F5344CB8AC3E}">
        <p14:creationId xmlns:p14="http://schemas.microsoft.com/office/powerpoint/2010/main" val="1071404015"/>
      </p:ext>
    </p:extLst>
  </p:cSld>
</p:sld>
</file>

<file path=ppt/slides/slide10.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37DEF66D-CFE0-4D4F-87F8-47221A0C931B}"/>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What success could look like</a:t>
            </a:r>
          </a:p>
        </p:txBody>
      </p:sp>
      <p:sp>
        <p:nvSpPr>
          <p:cNvPr id="2" name="Purpose">
            <a:extLst xmlns:a="http://schemas.openxmlformats.org/drawingml/2006/main">
              <a:ext uri="{FF2B5EF4-FFF2-40B4-BE49-F238E27FC236}">
                <a16:creationId xmlns:a16="http://schemas.microsoft.com/office/drawing/2014/main" id="{C8DB07C6-3AE9-4751-903D-196D52114742}"/>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Illustrative baseline → proposed target · to be validated in a pilot</a:t>
            </a:r>
          </a:p>
        </p:txBody>
      </p:sp>
      <p:sp>
        <p:nvSpPr>
          <p:cNvPr id="3" name="Metric 0">
            <a:extLst xmlns:a="http://schemas.openxmlformats.org/drawingml/2006/main">
              <a:ext uri="{FF2B5EF4-FFF2-40B4-BE49-F238E27FC236}">
                <a16:creationId xmlns:a16="http://schemas.microsoft.com/office/drawing/2014/main" id="{E4A21741-BE9E-46BA-AD56-5A758766DD7F}"/>
              </a:ext>
            </a:extLst>
          </p:cNvPr>
          <p:cNvSpPr>
            <a:spLocks xmlns:a="http://schemas.openxmlformats.org/drawingml/2006/main" noGrp="1"/>
          </p:cNvSpPr>
          <p:nvPr/>
        </p:nvSpPr>
        <p:spPr>
          <a:xfrm xmlns:a="http://schemas.openxmlformats.org/drawingml/2006/main">
            <a:off x="666750" y="20478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43829"/>
                </a:solidFill>
                <a:latin typeface="Open Sans"/>
                <a:ea typeface="Open Sans"/>
                <a:cs typeface="Open Sans"/>
              </a:defRPr>
            </a:pPr>
            <a:r>
              <a:rPr sz="2175" b="1">
                <a:solidFill>
                  <a:srgbClr val="443829"/>
                </a:solidFill>
                <a:latin typeface="Open Sans"/>
                <a:ea typeface="Open Sans"/>
                <a:cs typeface="Open Sans"/>
              </a:rPr>
              <a:t>Turnaround time</a:t>
            </a:r>
          </a:p>
        </p:txBody>
      </p:sp>
      <p:sp>
        <p:nvSpPr>
          <p:cNvPr id="4" name="Unit 0">
            <a:extLst xmlns:a="http://schemas.openxmlformats.org/drawingml/2006/main">
              <a:ext uri="{FF2B5EF4-FFF2-40B4-BE49-F238E27FC236}">
                <a16:creationId xmlns:a16="http://schemas.microsoft.com/office/drawing/2014/main" id="{3458100E-414C-4953-A6D8-FD3D90AED547}"/>
              </a:ext>
            </a:extLst>
          </p:cNvPr>
          <p:cNvSpPr>
            <a:spLocks xmlns:a="http://schemas.openxmlformats.org/drawingml/2006/main" noGrp="1"/>
          </p:cNvSpPr>
          <p:nvPr/>
        </p:nvSpPr>
        <p:spPr>
          <a:xfrm xmlns:a="http://schemas.openxmlformats.org/drawingml/2006/main">
            <a:off x="666750" y="2552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C6054"/>
                </a:solidFill>
                <a:latin typeface="Open Sans"/>
                <a:ea typeface="Open Sans"/>
                <a:cs typeface="Open Sans"/>
              </a:defRPr>
            </a:pPr>
            <a:r>
              <a:rPr sz="1425" b="0">
                <a:solidFill>
                  <a:srgbClr val="6C6054"/>
                </a:solidFill>
                <a:latin typeface="Open Sans"/>
                <a:ea typeface="Open Sans"/>
                <a:cs typeface="Open Sans"/>
              </a:rPr>
              <a:t>days</a:t>
            </a:r>
          </a:p>
        </p:txBody>
      </p:sp>
      <p:graphicFrame>
        <p:nvGraphicFramePr>
          <p:cNvPr id="18" name="Chart"/>
          <p:cNvGraphicFramePr/>
          <p:nvPr/>
        </p:nvGraphicFramePr>
        <p:xfrm>
          <a:off xmlns:a="http://schemas.openxmlformats.org/drawingml/2006/main" x="666750" y="3095625"/>
          <a:ext xmlns:a="http://schemas.openxmlformats.org/drawingml/2006/main" cx="3333750" cy="2524125"/>
        </p:xfrm>
        <a:graphic xmlns:a="http://schemas.openxmlformats.org/drawingml/2006/main">
          <a:graphicData uri="http://schemas.openxmlformats.org/drawingml/2006/chart">
            <c:chart xmlns:r="http://schemas.openxmlformats.org/officeDocument/2006/relationships" xmlns:c="http://schemas.openxmlformats.org/drawingml/2006/chart" r:id="R991b01e084584ff1"/>
          </a:graphicData>
        </a:graphic>
      </p:graphicFrame>
      <p:sp>
        <p:nvSpPr>
          <p:cNvPr id="6" name="Metric 1">
            <a:extLst xmlns:a="http://schemas.openxmlformats.org/drawingml/2006/main">
              <a:ext uri="{FF2B5EF4-FFF2-40B4-BE49-F238E27FC236}">
                <a16:creationId xmlns:a16="http://schemas.microsoft.com/office/drawing/2014/main" id="{6289F40D-1E79-4259-846C-91FB5DE14E3B}"/>
              </a:ext>
            </a:extLst>
          </p:cNvPr>
          <p:cNvSpPr>
            <a:spLocks xmlns:a="http://schemas.openxmlformats.org/drawingml/2006/main" noGrp="1"/>
          </p:cNvSpPr>
          <p:nvPr/>
        </p:nvSpPr>
        <p:spPr>
          <a:xfrm xmlns:a="http://schemas.openxmlformats.org/drawingml/2006/main">
            <a:off x="4524375" y="20478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43829"/>
                </a:solidFill>
                <a:latin typeface="Open Sans"/>
                <a:ea typeface="Open Sans"/>
                <a:cs typeface="Open Sans"/>
              </a:defRPr>
            </a:pPr>
            <a:r>
              <a:rPr sz="2175" b="1">
                <a:solidFill>
                  <a:srgbClr val="443829"/>
                </a:solidFill>
                <a:latin typeface="Open Sans"/>
                <a:ea typeface="Open Sans"/>
                <a:cs typeface="Open Sans"/>
              </a:rPr>
              <a:t>Rework rate</a:t>
            </a:r>
          </a:p>
        </p:txBody>
      </p:sp>
      <p:sp>
        <p:nvSpPr>
          <p:cNvPr id="7" name="Unit 1">
            <a:extLst xmlns:a="http://schemas.openxmlformats.org/drawingml/2006/main">
              <a:ext uri="{FF2B5EF4-FFF2-40B4-BE49-F238E27FC236}">
                <a16:creationId xmlns:a16="http://schemas.microsoft.com/office/drawing/2014/main" id="{EC8903C5-E7BE-4568-B84E-10F83C8549A9}"/>
              </a:ext>
            </a:extLst>
          </p:cNvPr>
          <p:cNvSpPr>
            <a:spLocks xmlns:a="http://schemas.openxmlformats.org/drawingml/2006/main" noGrp="1"/>
          </p:cNvSpPr>
          <p:nvPr/>
        </p:nvSpPr>
        <p:spPr>
          <a:xfrm xmlns:a="http://schemas.openxmlformats.org/drawingml/2006/main">
            <a:off x="4524375" y="2552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C6054"/>
                </a:solidFill>
                <a:latin typeface="Open Sans"/>
                <a:ea typeface="Open Sans"/>
                <a:cs typeface="Open Sans"/>
              </a:defRPr>
            </a:pPr>
            <a:r>
              <a:rPr sz="1425" b="0">
                <a:solidFill>
                  <a:srgbClr val="6C6054"/>
                </a:solidFill>
                <a:latin typeface="Open Sans"/>
                <a:ea typeface="Open Sans"/>
                <a:cs typeface="Open Sans"/>
              </a:rPr>
              <a:t>% of requests</a:t>
            </a:r>
          </a:p>
        </p:txBody>
      </p:sp>
      <p:graphicFrame>
        <p:nvGraphicFramePr>
          <p:cNvPr id="21" name="Chart"/>
          <p:cNvGraphicFramePr/>
          <p:nvPr/>
        </p:nvGraphicFramePr>
        <p:xfrm>
          <a:off xmlns:a="http://schemas.openxmlformats.org/drawingml/2006/main" x="4524375" y="3095625"/>
          <a:ext xmlns:a="http://schemas.openxmlformats.org/drawingml/2006/main" cx="3333750" cy="2524125"/>
        </p:xfrm>
        <a:graphic xmlns:a="http://schemas.openxmlformats.org/drawingml/2006/main">
          <a:graphicData uri="http://schemas.openxmlformats.org/drawingml/2006/chart">
            <c:chart xmlns:r="http://schemas.openxmlformats.org/officeDocument/2006/relationships" xmlns:c="http://schemas.openxmlformats.org/drawingml/2006/chart" r:id="R8aa6a97473a443cd"/>
          </a:graphicData>
        </a:graphic>
      </p:graphicFrame>
      <p:sp>
        <p:nvSpPr>
          <p:cNvPr id="9" name="Metric 2">
            <a:extLst xmlns:a="http://schemas.openxmlformats.org/drawingml/2006/main">
              <a:ext uri="{FF2B5EF4-FFF2-40B4-BE49-F238E27FC236}">
                <a16:creationId xmlns:a16="http://schemas.microsoft.com/office/drawing/2014/main" id="{1FC9E92E-C8B9-4AE8-B1FE-8C0B41960572}"/>
              </a:ext>
            </a:extLst>
          </p:cNvPr>
          <p:cNvSpPr>
            <a:spLocks xmlns:a="http://schemas.openxmlformats.org/drawingml/2006/main" noGrp="1"/>
          </p:cNvSpPr>
          <p:nvPr/>
        </p:nvSpPr>
        <p:spPr>
          <a:xfrm xmlns:a="http://schemas.openxmlformats.org/drawingml/2006/main">
            <a:off x="8382000" y="20478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43829"/>
                </a:solidFill>
                <a:latin typeface="Open Sans"/>
                <a:ea typeface="Open Sans"/>
                <a:cs typeface="Open Sans"/>
              </a:defRPr>
            </a:pPr>
            <a:r>
              <a:rPr sz="2175" b="1">
                <a:solidFill>
                  <a:srgbClr val="443829"/>
                </a:solidFill>
                <a:latin typeface="Open Sans"/>
                <a:ea typeface="Open Sans"/>
                <a:cs typeface="Open Sans"/>
              </a:rPr>
              <a:t>Auto-approved</a:t>
            </a:r>
          </a:p>
        </p:txBody>
      </p:sp>
      <p:sp>
        <p:nvSpPr>
          <p:cNvPr id="10" name="Unit 2">
            <a:extLst xmlns:a="http://schemas.openxmlformats.org/drawingml/2006/main">
              <a:ext uri="{FF2B5EF4-FFF2-40B4-BE49-F238E27FC236}">
                <a16:creationId xmlns:a16="http://schemas.microsoft.com/office/drawing/2014/main" id="{A5C6EA6F-0645-4840-9E63-E0453F410F40}"/>
              </a:ext>
            </a:extLst>
          </p:cNvPr>
          <p:cNvSpPr>
            <a:spLocks xmlns:a="http://schemas.openxmlformats.org/drawingml/2006/main" noGrp="1"/>
          </p:cNvSpPr>
          <p:nvPr/>
        </p:nvSpPr>
        <p:spPr>
          <a:xfrm xmlns:a="http://schemas.openxmlformats.org/drawingml/2006/main">
            <a:off x="8382000" y="25527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C6054"/>
                </a:solidFill>
                <a:latin typeface="Open Sans"/>
                <a:ea typeface="Open Sans"/>
                <a:cs typeface="Open Sans"/>
              </a:defRPr>
            </a:pPr>
            <a:r>
              <a:rPr sz="1425" b="0">
                <a:solidFill>
                  <a:srgbClr val="6C6054"/>
                </a:solidFill>
                <a:latin typeface="Open Sans"/>
                <a:ea typeface="Open Sans"/>
                <a:cs typeface="Open Sans"/>
              </a:rPr>
              <a:t>% of requests</a:t>
            </a:r>
          </a:p>
        </p:txBody>
      </p:sp>
      <p:graphicFrame>
        <p:nvGraphicFramePr>
          <p:cNvPr id="24" name="Chart"/>
          <p:cNvGraphicFramePr/>
          <p:nvPr/>
        </p:nvGraphicFramePr>
        <p:xfrm>
          <a:off xmlns:a="http://schemas.openxmlformats.org/drawingml/2006/main" x="8382000" y="3095625"/>
          <a:ext xmlns:a="http://schemas.openxmlformats.org/drawingml/2006/main" cx="3333750" cy="2524125"/>
        </p:xfrm>
        <a:graphic xmlns:a="http://schemas.openxmlformats.org/drawingml/2006/main">
          <a:graphicData uri="http://schemas.openxmlformats.org/drawingml/2006/chart">
            <c:chart xmlns:r="http://schemas.openxmlformats.org/officeDocument/2006/relationships" xmlns:c="http://schemas.openxmlformats.org/drawingml/2006/chart" r:id="R94dacddfbb9540ab"/>
          </a:graphicData>
        </a:graphic>
      </p:graphicFrame>
      <p:sp>
        <p:nvSpPr>
          <p:cNvPr id="12" name="Pilot">
            <a:extLst xmlns:a="http://schemas.openxmlformats.org/drawingml/2006/main">
              <a:ext uri="{FF2B5EF4-FFF2-40B4-BE49-F238E27FC236}">
                <a16:creationId xmlns:a16="http://schemas.microsoft.com/office/drawing/2014/main" id="{C914B62D-48F7-4125-951E-DDE40B7AAA58}"/>
              </a:ext>
            </a:extLst>
          </p:cNvPr>
          <p:cNvSpPr>
            <a:spLocks xmlns:a="http://schemas.openxmlformats.org/drawingml/2006/main" noGrp="1"/>
          </p:cNvSpPr>
          <p:nvPr/>
        </p:nvSpPr>
        <p:spPr>
          <a:xfrm xmlns:a="http://schemas.openxmlformats.org/drawingml/2006/main">
            <a:off x="666750" y="59150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65F54"/>
                </a:solidFill>
                <a:latin typeface="Open Sans"/>
                <a:ea typeface="Open Sans"/>
                <a:cs typeface="Open Sans"/>
              </a:defRPr>
            </a:pPr>
            <a:r>
              <a:rPr sz="2175" b="1">
                <a:solidFill>
                  <a:srgbClr val="865F54"/>
                </a:solidFill>
                <a:latin typeface="Open Sans"/>
                <a:ea typeface="Open Sans"/>
                <a:cs typeface="Open Sans"/>
              </a:rPr>
              <a:t>Pilot → measure results → expand</a:t>
            </a:r>
          </a:p>
        </p:txBody>
      </p:sp>
      <p:sp>
        <p:nvSpPr>
          <p:cNvPr id="13" name="Assumptions">
            <a:extLst xmlns:a="http://schemas.openxmlformats.org/drawingml/2006/main">
              <a:ext uri="{FF2B5EF4-FFF2-40B4-BE49-F238E27FC236}">
                <a16:creationId xmlns:a16="http://schemas.microsoft.com/office/drawing/2014/main" id="{87886C0E-AF7F-48AD-BC3D-367BB085D42F}"/>
              </a:ext>
            </a:extLst>
          </p:cNvPr>
          <p:cNvSpPr>
            <a:spLocks xmlns:a="http://schemas.openxmlformats.org/drawingml/2006/main" noGrp="1"/>
          </p:cNvSpPr>
          <p:nvPr/>
        </p:nvSpPr>
        <p:spPr>
          <a:xfrm xmlns:a="http://schemas.openxmlformats.org/drawingml/2006/main">
            <a:off x="666750" y="63627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6054"/>
                </a:solidFill>
                <a:latin typeface="Open Sans"/>
                <a:ea typeface="Open Sans"/>
                <a:cs typeface="Open Sans"/>
              </a:defRPr>
            </a:pPr>
            <a:r>
              <a:rPr sz="1200" b="0">
                <a:solidFill>
                  <a:srgbClr val="6C6054"/>
                </a:solidFill>
                <a:latin typeface="Open Sans"/>
                <a:ea typeface="Open Sans"/>
                <a:cs typeface="Open Sans"/>
              </a:rPr>
              <a:t>Proposal assumptions, not measured outcomes. No phase-by-phase improvement or delivery guarantee is implied.</a:t>
            </a:r>
          </a:p>
        </p:txBody>
      </p:sp>
    </p:spTree>
    <p:extLst>
      <p:ext uri="{BB962C8B-B14F-4D97-AF65-F5344CB8AC3E}">
        <p14:creationId xmlns:p14="http://schemas.microsoft.com/office/powerpoint/2010/main" val="1829991471"/>
      </p:ext>
    </p:extLst>
  </p:cSld>
</p:sld>
</file>

<file path=ppt/slides/visualcharts/_rels/visualchart1.xml.rels><Relationships xmlns="http://schemas.openxmlformats.org/package/2006/relationships"><Relationship Id="rIdChartSnapshot1" Type="http://schemas.openxmlformats.org/officeDocument/2006/relationships/package" Target="../../embeddings/chart-data-snapshot-001.xlsx"/></Relationships>
</file>

<file path=ppt/slides/visualcharts/_rels/visualchart2.xml.rels><Relationships xmlns="http://schemas.openxmlformats.org/package/2006/relationships"><Relationship Id="rIdChartSnapshot1" Type="http://schemas.openxmlformats.org/officeDocument/2006/relationships/package" Target="../../embeddings/chart-data-snapshot-002.xlsx"/></Relationships>
</file>

<file path=ppt/slides/visualcharts/_rels/visualchart3.xml.rels><Relationships xmlns="http://schemas.openxmlformats.org/package/2006/relationships"><Relationship Id="rIdChartSnapshot1" Type="http://schemas.openxmlformats.org/officeDocument/2006/relationships/package" Target="../../embeddings/chart-data-snapshot-003.xlsx"/></Relationships>
</file>

<file path=ppt/slides/visualcharts/visual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Turnaround time</c:v>
          </c:tx>
          <c:spPr>
            <a:solidFill xmlns:a="http://schemas.openxmlformats.org/drawingml/2006/main">
              <a:srgbClr val="176D72"/>
            </a:solidFill>
          </c:spPr>
          <c:cat>
            <c:strRef>
              <c:f>'Chart Data'!$A$2:$A$3</c:f>
              <c:strCache>
                <c:ptCount val="2"/>
                <c:pt idx="0">
                  <c:v>Baseline</c:v>
                </c:pt>
                <c:pt idx="1">
                  <c:v>Target</c:v>
                </c:pt>
              </c:strCache>
            </c:strRef>
          </c:cat>
          <c:val>
            <c:numRef>
              <c:f>'Chart Data'!$B$2:$B$3</c:f>
              <c:numCache>
                <c:formatCode>0.0</c:formatCode>
                <c:ptCount val="2"/>
                <c:pt idx="0">
                  <c:v>4.2</c:v>
                </c:pt>
                <c:pt idx="1">
                  <c:v>2.5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443829"/>
                  </a:solidFill>
                  <a:latin typeface="Open Sans"/>
                  <a:ea typeface="Open Sans"/>
                  <a:cs typeface="Ope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43829"/>
                </a:solidFill>
                <a:latin typeface="Open Sans"/>
                <a:ea typeface="Open Sans"/>
                <a:cs typeface="Open Sans"/>
              </a:defRPr>
            </a:pPr>
          </a:p>
        </c:txPr>
        <c:crossAx val="48672768"/>
      </c:catAx>
      <c:valAx>
        <c:axId val="48672768"/>
        <c:scaling>
          <c:orientation val="minMax"/>
          <c:max val="6"/>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C6054"/>
                </a:solidFill>
                <a:latin typeface="Open Sans"/>
                <a:ea typeface="Open Sans"/>
                <a:cs typeface="Open Sans"/>
              </a:defRPr>
            </a:pPr>
          </a:p>
        </c:txPr>
        <c:crossAx val="48650112"/>
        <c:crossBetween val="between"/>
      </c:valAx>
    </c:plotArea>
    <c:plotVisOnly val="1"/>
  </c:chart>
  <c:externalData r:id="rIdChartSnapshot1">
    <c:autoUpdate val="0"/>
  </c:externalData>
</c:chartSpace>
</file>

<file path=ppt/slides/visualcharts/visual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Rework rate</c:v>
          </c:tx>
          <c:spPr>
            <a:solidFill xmlns:a="http://schemas.openxmlformats.org/drawingml/2006/main">
              <a:srgbClr val="176D72"/>
            </a:solidFill>
          </c:spPr>
          <c:cat>
            <c:strRef>
              <c:f>'Chart Data'!$A$2:$A$3</c:f>
              <c:strCache>
                <c:ptCount val="2"/>
                <c:pt idx="0">
                  <c:v>Baseline</c:v>
                </c:pt>
                <c:pt idx="1">
                  <c:v>Target</c:v>
                </c:pt>
              </c:strCache>
            </c:strRef>
          </c:cat>
          <c:val>
            <c:numRef>
              <c:f>'Chart Data'!$B$2:$B$3</c:f>
              <c:numCache>
                <c:formatCode>0"%"</c:formatCode>
                <c:ptCount val="2"/>
                <c:pt idx="0">
                  <c:v>22</c:v>
                </c:pt>
                <c:pt idx="1">
                  <c:v>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443829"/>
                  </a:solidFill>
                  <a:latin typeface="Open Sans"/>
                  <a:ea typeface="Open Sans"/>
                  <a:cs typeface="Ope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43829"/>
                </a:solidFill>
                <a:latin typeface="Open Sans"/>
                <a:ea typeface="Open Sans"/>
                <a:cs typeface="Open Sans"/>
              </a:defRPr>
            </a:pPr>
          </a:p>
        </c:txPr>
        <c:crossAx val="48672768"/>
      </c:catAx>
      <c:valAx>
        <c:axId val="48672768"/>
        <c:scaling>
          <c:orientation val="minMax"/>
          <c:max val="3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C6054"/>
                </a:solidFill>
                <a:latin typeface="Open Sans"/>
                <a:ea typeface="Open Sans"/>
                <a:cs typeface="Open Sans"/>
              </a:defRPr>
            </a:pPr>
          </a:p>
        </c:txPr>
        <c:crossAx val="48650112"/>
        <c:crossBetween val="between"/>
      </c:valAx>
    </c:plotArea>
    <c:plotVisOnly val="1"/>
  </c:chart>
  <c:externalData r:id="rIdChartSnapshot1">
    <c:autoUpdate val="0"/>
  </c:externalData>
</c:chartSpace>
</file>

<file path=ppt/slides/visualcharts/visual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Auto-approved</c:v>
          </c:tx>
          <c:spPr>
            <a:solidFill xmlns:a="http://schemas.openxmlformats.org/drawingml/2006/main">
              <a:srgbClr val="176D72"/>
            </a:solidFill>
          </c:spPr>
          <c:cat>
            <c:strRef>
              <c:f>'Chart Data'!$A$2:$A$3</c:f>
              <c:strCache>
                <c:ptCount val="2"/>
                <c:pt idx="0">
                  <c:v>Baseline</c:v>
                </c:pt>
                <c:pt idx="1">
                  <c:v>Target</c:v>
                </c:pt>
              </c:strCache>
            </c:strRef>
          </c:cat>
          <c:val>
            <c:numRef>
              <c:f>'Chart Data'!$B$2:$B$3</c:f>
              <c:numCache>
                <c:formatCode>0"%"</c:formatCode>
                <c:ptCount val="2"/>
                <c:pt idx="0">
                  <c:v>0</c:v>
                </c:pt>
                <c:pt idx="1">
                  <c:v>35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443829"/>
                  </a:solidFill>
                  <a:latin typeface="Open Sans"/>
                  <a:ea typeface="Open Sans"/>
                  <a:cs typeface="Open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43829"/>
                </a:solidFill>
                <a:latin typeface="Open Sans"/>
                <a:ea typeface="Open Sans"/>
                <a:cs typeface="Open Sans"/>
              </a:defRPr>
            </a:pPr>
          </a:p>
        </c:txPr>
        <c:crossAx val="48672768"/>
      </c:catAx>
      <c:valAx>
        <c:axId val="48672768"/>
        <c:scaling>
          <c:orientation val="minMax"/>
          <c:max val="45"/>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C6054"/>
                </a:solidFill>
                <a:latin typeface="Open Sans"/>
                <a:ea typeface="Open Sans"/>
                <a:cs typeface="Open Sans"/>
              </a:defRPr>
            </a:pPr>
          </a:p>
        </c:txPr>
        <c:crossAx val="48650112"/>
        <c:crossBetween val="between"/>
      </c:valAx>
    </c:plotArea>
    <c:plotVisOnly val="1"/>
  </c:chart>
  <c:externalData r:id="rIdChartSnapshot1">
    <c:autoUpdate val="0"/>
  </c:externalData>
</c:chartSpace>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LibreOffice/26.2.0.3$MacOSX_AARCH64 LibreOffice_project/afbbd0df0edb6d40b450b0337ac646b0913a760c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2026-09-23T16:11:00Z</dcterms:created>
  <dc:creator/>
  <dc:description/>
  <dc:language>en-US</dc:language>
  <cp:lastModifiedBy/>
  <dcterms:modified xsi:type="dcterms:W3CDTF">2026-09-23T12:25:16Z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